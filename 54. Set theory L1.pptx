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257" r:id="rId3"/>
    <p:sldId id="287" r:id="rId4"/>
    <p:sldId id="288" r:id="rId5"/>
    <p:sldId id="289" r:id="rId6"/>
    <p:sldId id="290"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4" r:id="rId38"/>
    <p:sldId id="325" r:id="rId39"/>
    <p:sldId id="323" r:id="rId40"/>
    <p:sldId id="326" r:id="rId41"/>
    <p:sldId id="327" r:id="rId42"/>
    <p:sldId id="328" r:id="rId43"/>
    <p:sldId id="329" r:id="rId44"/>
    <p:sldId id="286" r:id="rId45"/>
  </p:sldIdLst>
  <p:sldSz cx="12192000" cy="6858000"/>
  <p:notesSz cx="6858000" cy="9144000"/>
  <p:embeddedFontLst>
    <p:embeddedFont>
      <p:font typeface="Calibri" panose="020F0502020204030204" pitchFamily="34" charset="0"/>
      <p:regular r:id="rId47"/>
      <p:bold r:id="rId48"/>
      <p:italic r:id="rId49"/>
      <p:boldItalic r:id="rId50"/>
    </p:embeddedFont>
    <p:embeddedFont>
      <p:font typeface="Cambria" panose="02040503050406030204" pitchFamily="18" charset="0"/>
      <p:regular r:id="rId51"/>
      <p:bold r:id="rId52"/>
      <p:italic r:id="rId53"/>
      <p:boldItalic r:id="rId54"/>
    </p:embeddedFont>
    <p:embeddedFont>
      <p:font typeface="Century Gothic" panose="020B0502020202020204" pitchFamily="34" charset="0"/>
      <p:regular r:id="rId55"/>
      <p:bold r:id="rId56"/>
      <p:italic r:id="rId57"/>
      <p:boldItalic r:id="rId58"/>
    </p:embeddedFont>
    <p:embeddedFont>
      <p:font typeface="Georgia" panose="02040502050405020303" pitchFamily="18" charset="0"/>
      <p:regular r:id="rId59"/>
      <p:bold r:id="rId60"/>
      <p:italic r:id="rId61"/>
      <p:boldItalic r:id="rId62"/>
    </p:embeddedFont>
    <p:embeddedFont>
      <p:font typeface="Helvetica Neue" panose="02000503000000020004" pitchFamily="2" charset="0"/>
      <p:regular r:id="rId63"/>
      <p:bold r:id="rId64"/>
      <p:italic r:id="rId65"/>
      <p:boldItalic r:id="rId66"/>
    </p:embeddedFont>
    <p:embeddedFont>
      <p:font typeface="Lato" panose="020F0502020204030203" pitchFamily="34" charset="0"/>
      <p:regular r:id="rId67"/>
      <p:bold r:id="rId68"/>
      <p:italic r:id="rId69"/>
      <p:boldItalic r:id="rId70"/>
    </p:embeddedFont>
    <p:embeddedFont>
      <p:font typeface="Montserrat" pitchFamily="2" charset="77"/>
      <p:regular r:id="rId71"/>
      <p:bold r:id="rId72"/>
      <p:italic r:id="rId73"/>
      <p:boldItalic r:id="rId74"/>
    </p:embeddedFont>
    <p:embeddedFont>
      <p:font typeface="Open Sans" panose="020B0606030504020204" pitchFamily="34" charset="0"/>
      <p:regular r:id="rId75"/>
      <p:bold r:id="rId76"/>
      <p:italic r:id="rId77"/>
      <p:boldItalic r:id="rId78"/>
    </p:embeddedFont>
    <p:embeddedFont>
      <p:font typeface="Palatino Linotype" panose="02040502050505030304" pitchFamily="18" charset="0"/>
      <p:regular r:id="rId79"/>
      <p:bold r:id="rId80"/>
      <p:italic r:id="rId81"/>
      <p:boldItalic r:id="rId82"/>
    </p:embeddedFont>
    <p:embeddedFont>
      <p:font typeface="Roboto" panose="02000000000000000000" pitchFamily="2" charset="0"/>
      <p:regular r:id="rId83"/>
      <p:bold r:id="rId84"/>
      <p:italic r:id="rId85"/>
      <p:boldItalic r:id="rId86"/>
    </p:embeddedFont>
    <p:embeddedFont>
      <p:font typeface="Verdana" panose="020B0604030504040204" pitchFamily="34" charset="0"/>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1" roundtripDataSignature="AMtx7mgIS8WnBfhnVvHPOb6FaxTAaESc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77704" autoAdjust="0"/>
  </p:normalViewPr>
  <p:slideViewPr>
    <p:cSldViewPr snapToGrid="0">
      <p:cViewPr varScale="1">
        <p:scale>
          <a:sx n="100" d="100"/>
          <a:sy n="100" d="100"/>
        </p:scale>
        <p:origin x="1104"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84" Type="http://schemas.openxmlformats.org/officeDocument/2006/relationships/font" Target="fonts/font38.fntdata"/><Relationship Id="rId89" Type="http://schemas.openxmlformats.org/officeDocument/2006/relationships/font" Target="fonts/font4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font" Target="fonts/font7.fntdata"/><Relationship Id="rId58" Type="http://schemas.openxmlformats.org/officeDocument/2006/relationships/font" Target="fonts/font12.fntdata"/><Relationship Id="rId74" Type="http://schemas.openxmlformats.org/officeDocument/2006/relationships/font" Target="fonts/font28.fntdata"/><Relationship Id="rId79" Type="http://schemas.openxmlformats.org/officeDocument/2006/relationships/font" Target="fonts/font33.fntdata"/><Relationship Id="rId5" Type="http://schemas.openxmlformats.org/officeDocument/2006/relationships/slide" Target="slides/slide4.xml"/><Relationship Id="rId90" Type="http://schemas.openxmlformats.org/officeDocument/2006/relationships/font" Target="fonts/font44.fntdata"/><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font" Target="fonts/font2.fntdata"/><Relationship Id="rId64" Type="http://schemas.openxmlformats.org/officeDocument/2006/relationships/font" Target="fonts/font18.fntdata"/><Relationship Id="rId69" Type="http://schemas.openxmlformats.org/officeDocument/2006/relationships/font" Target="fonts/font23.fntdata"/><Relationship Id="rId8" Type="http://schemas.openxmlformats.org/officeDocument/2006/relationships/slide" Target="slides/slide7.xml"/><Relationship Id="rId51" Type="http://schemas.openxmlformats.org/officeDocument/2006/relationships/font" Target="fonts/font5.fntdata"/><Relationship Id="rId72" Type="http://schemas.openxmlformats.org/officeDocument/2006/relationships/font" Target="fonts/font26.fntdata"/><Relationship Id="rId80" Type="http://schemas.openxmlformats.org/officeDocument/2006/relationships/font" Target="fonts/font34.fntdata"/><Relationship Id="rId85" Type="http://schemas.openxmlformats.org/officeDocument/2006/relationships/font" Target="fonts/font39.fntdata"/><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font" Target="fonts/font29.fntdata"/><Relationship Id="rId83" Type="http://schemas.openxmlformats.org/officeDocument/2006/relationships/font" Target="fonts/font37.fntdata"/><Relationship Id="rId88" Type="http://schemas.openxmlformats.org/officeDocument/2006/relationships/font" Target="fonts/font42.fntdata"/><Relationship Id="rId9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font" Target="fonts/font27.fntdata"/><Relationship Id="rId78" Type="http://schemas.openxmlformats.org/officeDocument/2006/relationships/font" Target="fonts/font32.fntdata"/><Relationship Id="rId81" Type="http://schemas.openxmlformats.org/officeDocument/2006/relationships/font" Target="fonts/font35.fntdata"/><Relationship Id="rId86" Type="http://schemas.openxmlformats.org/officeDocument/2006/relationships/font" Target="fonts/font40.fntdata"/><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 Id="rId76" Type="http://schemas.openxmlformats.org/officeDocument/2006/relationships/font" Target="fonts/font30.fntdata"/><Relationship Id="rId7" Type="http://schemas.openxmlformats.org/officeDocument/2006/relationships/slide" Target="slides/slide6.xml"/><Relationship Id="rId71" Type="http://schemas.openxmlformats.org/officeDocument/2006/relationships/font" Target="fonts/font25.fntdata"/><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20.fntdata"/><Relationship Id="rId87" Type="http://schemas.openxmlformats.org/officeDocument/2006/relationships/font" Target="fonts/font41.fntdata"/><Relationship Id="rId61" Type="http://schemas.openxmlformats.org/officeDocument/2006/relationships/font" Target="fonts/font15.fntdata"/><Relationship Id="rId82" Type="http://schemas.openxmlformats.org/officeDocument/2006/relationships/font" Target="fonts/font36.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font" Target="fonts/font10.fntdata"/><Relationship Id="rId77" Type="http://schemas.openxmlformats.org/officeDocument/2006/relationships/font" Target="fonts/font3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98" name="Google Shape;9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8" name="Google Shape;10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290424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5" name="Google Shape;11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96810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2" name="Google Shape;12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604032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9" name="Google Shape;12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716601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36" name="Google Shape;13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261113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43" name="Google Shape;14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67490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1" name="Google Shape;15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893958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a:t>
            </a:r>
            <a:endParaRPr/>
          </a:p>
          <a:p>
            <a:pPr marL="0" lvl="0" indent="0" algn="l" rtl="0">
              <a:spcBef>
                <a:spcPts val="0"/>
              </a:spcBef>
              <a:spcAft>
                <a:spcPts val="0"/>
              </a:spcAft>
              <a:buNone/>
            </a:pPr>
            <a:r>
              <a:rPr lang="en-US"/>
              <a:t>Easy </a:t>
            </a:r>
            <a:endParaRPr/>
          </a:p>
          <a:p>
            <a:pPr marL="0" lvl="0" indent="0" algn="l" rtl="0">
              <a:spcBef>
                <a:spcPts val="0"/>
              </a:spcBef>
              <a:spcAft>
                <a:spcPts val="0"/>
              </a:spcAft>
              <a:buNone/>
            </a:pPr>
            <a:r>
              <a:rPr lang="en-US"/>
              <a:t>OptionA: x=2 is the only prime no. which is divisible by 2 =&gt; non empty set</a:t>
            </a:r>
            <a:endParaRPr/>
          </a:p>
          <a:p>
            <a:pPr marL="0" lvl="0" indent="0" algn="l" rtl="0">
              <a:spcBef>
                <a:spcPts val="0"/>
              </a:spcBef>
              <a:spcAft>
                <a:spcPts val="0"/>
              </a:spcAft>
              <a:buNone/>
            </a:pPr>
            <a:r>
              <a:rPr lang="en-US"/>
              <a:t>OptionB: x= +21, -21 =&gt; non empty set</a:t>
            </a:r>
            <a:endParaRPr/>
          </a:p>
          <a:p>
            <a:pPr marL="0" lvl="0" indent="0" algn="l" rtl="0">
              <a:spcBef>
                <a:spcPts val="0"/>
              </a:spcBef>
              <a:spcAft>
                <a:spcPts val="0"/>
              </a:spcAft>
              <a:buNone/>
            </a:pPr>
            <a:r>
              <a:rPr lang="en-US"/>
              <a:t>OptionC: For </a:t>
            </a:r>
            <a:r>
              <a:rPr lang="en-US" sz="1200"/>
              <a:t>63 &lt; x &lt; 66, no prime no exists , Hence empty set</a:t>
            </a:r>
            <a:endParaRPr/>
          </a:p>
        </p:txBody>
      </p:sp>
      <p:sp>
        <p:nvSpPr>
          <p:cNvPr id="160" name="Google Shape;16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627339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a:t>
            </a:r>
            <a:endParaRPr/>
          </a:p>
          <a:p>
            <a:pPr marL="0" lvl="0" indent="0" algn="l" rtl="0">
              <a:spcBef>
                <a:spcPts val="0"/>
              </a:spcBef>
              <a:spcAft>
                <a:spcPts val="0"/>
              </a:spcAft>
              <a:buNone/>
            </a:pPr>
            <a:r>
              <a:rPr lang="en-US"/>
              <a:t>Easy </a:t>
            </a:r>
            <a:endParaRPr/>
          </a:p>
          <a:p>
            <a:pPr marL="0" marR="0" lvl="0" indent="0" algn="l" rtl="0">
              <a:lnSpc>
                <a:spcPct val="100000"/>
              </a:lnSpc>
              <a:spcBef>
                <a:spcPts val="0"/>
              </a:spcBef>
              <a:spcAft>
                <a:spcPts val="0"/>
              </a:spcAft>
              <a:buClr>
                <a:schemeClr val="dk1"/>
              </a:buClr>
              <a:buSzPts val="1200"/>
              <a:buFont typeface="Calibri"/>
              <a:buNone/>
            </a:pPr>
            <a:r>
              <a:rPr lang="en-US"/>
              <a:t>Compulsory </a:t>
            </a:r>
            <a:endParaRPr/>
          </a:p>
          <a:p>
            <a:pPr marL="0" marR="0" lvl="0" indent="0" algn="l" rtl="0">
              <a:lnSpc>
                <a:spcPct val="100000"/>
              </a:lnSpc>
              <a:spcBef>
                <a:spcPts val="0"/>
              </a:spcBef>
              <a:spcAft>
                <a:spcPts val="0"/>
              </a:spcAft>
              <a:buClr>
                <a:schemeClr val="dk1"/>
              </a:buClr>
              <a:buSzPts val="1200"/>
              <a:buFont typeface="Calibri"/>
              <a:buNone/>
            </a:pPr>
            <a:r>
              <a:rPr lang="en-US" sz="1200"/>
              <a:t>Null or void set is subset of every set, Hence Option A is correct.</a:t>
            </a:r>
            <a:endParaRPr/>
          </a:p>
          <a:p>
            <a:pPr marL="0" marR="0" lvl="0" indent="0" algn="l" rtl="0">
              <a:lnSpc>
                <a:spcPct val="100000"/>
              </a:lnSpc>
              <a:spcBef>
                <a:spcPts val="0"/>
              </a:spcBef>
              <a:spcAft>
                <a:spcPts val="0"/>
              </a:spcAft>
              <a:buClr>
                <a:schemeClr val="dk1"/>
              </a:buClr>
              <a:buSzPts val="1200"/>
              <a:buFont typeface="Calibri"/>
              <a:buNone/>
            </a:pPr>
            <a:r>
              <a:rPr lang="en-US" sz="1200"/>
              <a:t>Every set is a subset of itself, Hence Option B is also correct.</a:t>
            </a:r>
            <a:endParaRPr/>
          </a:p>
          <a:p>
            <a:pPr marL="0" marR="0" lvl="0" indent="0" algn="l" rtl="0">
              <a:lnSpc>
                <a:spcPct val="100000"/>
              </a:lnSpc>
              <a:spcBef>
                <a:spcPts val="0"/>
              </a:spcBef>
              <a:spcAft>
                <a:spcPts val="0"/>
              </a:spcAft>
              <a:buClr>
                <a:schemeClr val="dk1"/>
              </a:buClr>
              <a:buSzPts val="1200"/>
              <a:buFont typeface="Calibri"/>
              <a:buNone/>
            </a:pPr>
            <a:r>
              <a:rPr lang="en-US" sz="1200"/>
              <a:t>If a set has n elements, then its powerset will have 2^n elements. Option C is also correct.</a:t>
            </a:r>
            <a:endParaRPr/>
          </a:p>
          <a:p>
            <a:pPr marL="0" marR="0" lvl="0" indent="0" algn="l" rtl="0">
              <a:lnSpc>
                <a:spcPct val="100000"/>
              </a:lnSpc>
              <a:spcBef>
                <a:spcPts val="0"/>
              </a:spcBef>
              <a:spcAft>
                <a:spcPts val="0"/>
              </a:spcAft>
              <a:buClr>
                <a:schemeClr val="dk1"/>
              </a:buClr>
              <a:buSzPts val="1200"/>
              <a:buFont typeface="Calibri"/>
              <a:buNone/>
            </a:pPr>
            <a:r>
              <a:rPr lang="en-US" sz="1200"/>
              <a:t>Hnece All options are correct</a:t>
            </a:r>
            <a:endParaRPr/>
          </a:p>
          <a:p>
            <a:pPr marL="0" marR="0" lvl="0" indent="0" algn="l" rtl="0">
              <a:lnSpc>
                <a:spcPct val="100000"/>
              </a:lnSpc>
              <a:spcBef>
                <a:spcPts val="0"/>
              </a:spcBef>
              <a:spcAft>
                <a:spcPts val="0"/>
              </a:spcAft>
              <a:buClr>
                <a:schemeClr val="dk1"/>
              </a:buClr>
              <a:buSzPts val="1200"/>
              <a:buFont typeface="Calibri"/>
              <a:buNone/>
            </a:pPr>
            <a:endParaRPr sz="1200"/>
          </a:p>
          <a:p>
            <a:pPr marL="0" marR="0" lvl="0" indent="0" algn="l" rtl="0">
              <a:lnSpc>
                <a:spcPct val="100000"/>
              </a:lnSpc>
              <a:spcBef>
                <a:spcPts val="0"/>
              </a:spcBef>
              <a:spcAft>
                <a:spcPts val="0"/>
              </a:spcAft>
              <a:buClr>
                <a:schemeClr val="dk1"/>
              </a:buClr>
              <a:buSzPts val="1200"/>
              <a:buFont typeface="Calibri"/>
              <a:buNone/>
            </a:pPr>
            <a:endParaRPr sz="1200"/>
          </a:p>
          <a:p>
            <a:pPr marL="0" marR="0" lvl="0" indent="0" algn="l" rtl="0">
              <a:lnSpc>
                <a:spcPct val="100000"/>
              </a:lnSpc>
              <a:spcBef>
                <a:spcPts val="0"/>
              </a:spcBef>
              <a:spcAft>
                <a:spcPts val="0"/>
              </a:spcAft>
              <a:buClr>
                <a:schemeClr val="dk1"/>
              </a:buClr>
              <a:buSzPts val="1200"/>
              <a:buFont typeface="Calibri"/>
              <a:buNone/>
            </a:pPr>
            <a:endParaRPr sz="1200"/>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167" name="Google Shape;16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876079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a:t>
            </a:r>
            <a:endParaRPr/>
          </a:p>
          <a:p>
            <a:pPr marL="0" lvl="0" indent="0" algn="l" rtl="0">
              <a:spcBef>
                <a:spcPts val="0"/>
              </a:spcBef>
              <a:spcAft>
                <a:spcPts val="0"/>
              </a:spcAft>
              <a:buNone/>
            </a:pPr>
            <a:r>
              <a:rPr lang="en-US"/>
              <a:t>Easy</a:t>
            </a:r>
            <a:endParaRPr/>
          </a:p>
          <a:p>
            <a:pPr marL="0" marR="0" lvl="0" indent="0" algn="l" rtl="0">
              <a:lnSpc>
                <a:spcPct val="100000"/>
              </a:lnSpc>
              <a:spcBef>
                <a:spcPts val="0"/>
              </a:spcBef>
              <a:spcAft>
                <a:spcPts val="0"/>
              </a:spcAft>
              <a:buClr>
                <a:schemeClr val="dk1"/>
              </a:buClr>
              <a:buSzPts val="1200"/>
              <a:buFont typeface="Calibri"/>
              <a:buNone/>
            </a:pPr>
            <a:r>
              <a:rPr lang="en-US"/>
              <a:t>Compulsory </a:t>
            </a:r>
            <a:endParaRPr/>
          </a:p>
          <a:p>
            <a:pPr marL="0" lvl="0" indent="0" algn="l" rtl="0">
              <a:spcBef>
                <a:spcPts val="0"/>
              </a:spcBef>
              <a:spcAft>
                <a:spcPts val="0"/>
              </a:spcAft>
              <a:buNone/>
            </a:pPr>
            <a:r>
              <a:rPr lang="en-US"/>
              <a:t>A-B = Remove the element of B from A = {1}</a:t>
            </a:r>
            <a:endParaRPr/>
          </a:p>
          <a:p>
            <a:pPr marL="0" lvl="0" indent="0" algn="l" rtl="0">
              <a:spcBef>
                <a:spcPts val="0"/>
              </a:spcBef>
              <a:spcAft>
                <a:spcPts val="0"/>
              </a:spcAft>
              <a:buNone/>
            </a:pPr>
            <a:r>
              <a:rPr lang="en-US" sz="1200"/>
              <a:t>B – C= R</a:t>
            </a:r>
            <a:r>
              <a:rPr lang="en-US"/>
              <a:t>emove the element of C from B = {4}</a:t>
            </a:r>
            <a:endParaRPr/>
          </a:p>
          <a:p>
            <a:pPr marL="0" lvl="0" indent="0" algn="l" rtl="0">
              <a:spcBef>
                <a:spcPts val="0"/>
              </a:spcBef>
              <a:spcAft>
                <a:spcPts val="0"/>
              </a:spcAft>
              <a:buNone/>
            </a:pPr>
            <a:r>
              <a:rPr lang="en-US"/>
              <a:t>Hence B option is correct</a:t>
            </a:r>
            <a:endParaRPr/>
          </a:p>
          <a:p>
            <a:pPr marL="0" lvl="0" indent="0" algn="l" rtl="0">
              <a:spcBef>
                <a:spcPts val="0"/>
              </a:spcBef>
              <a:spcAft>
                <a:spcPts val="0"/>
              </a:spcAft>
              <a:buNone/>
            </a:pPr>
            <a:endParaRPr/>
          </a:p>
        </p:txBody>
      </p:sp>
      <p:sp>
        <p:nvSpPr>
          <p:cNvPr id="174" name="Google Shape;17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045707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12</a:t>
            </a:r>
            <a:endParaRPr/>
          </a:p>
          <a:p>
            <a:pPr marL="0" lvl="0" indent="0" algn="l" rtl="0">
              <a:spcBef>
                <a:spcPts val="0"/>
              </a:spcBef>
              <a:spcAft>
                <a:spcPts val="0"/>
              </a:spcAft>
              <a:buNone/>
            </a:pPr>
            <a:r>
              <a:rPr lang="en-US"/>
              <a:t>Easy </a:t>
            </a:r>
            <a:endParaRPr/>
          </a:p>
          <a:p>
            <a:pPr marL="0" lvl="0" indent="0" algn="l" rtl="0">
              <a:spcBef>
                <a:spcPts val="0"/>
              </a:spcBef>
              <a:spcAft>
                <a:spcPts val="0"/>
              </a:spcAft>
              <a:buNone/>
            </a:pPr>
            <a:r>
              <a:rPr lang="en-US" b="0" i="0">
                <a:solidFill>
                  <a:srgbClr val="000000"/>
                </a:solidFill>
                <a:latin typeface="Georgia"/>
                <a:ea typeface="Georgia"/>
                <a:cs typeface="Georgia"/>
                <a:sym typeface="georgia"/>
              </a:rPr>
              <a:t>Number of teachers who teach math or physics </a:t>
            </a:r>
            <a:r>
              <a:rPr lang="en-US" b="0" i="0">
                <a:solidFill>
                  <a:srgbClr val="000000"/>
                </a:solidFill>
                <a:latin typeface="Times New Roman"/>
                <a:ea typeface="Times New Roman"/>
                <a:cs typeface="Times New Roman"/>
                <a:sym typeface="Times New Roman"/>
              </a:rPr>
              <a:t>=n(M∪P)=20</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Georgia"/>
                <a:ea typeface="Georgia"/>
                <a:cs typeface="Georgia"/>
                <a:sym typeface="georgia"/>
              </a:rPr>
              <a:t>Number of teachers who teach math = </a:t>
            </a:r>
            <a:r>
              <a:rPr lang="en-US" b="0" i="0">
                <a:solidFill>
                  <a:srgbClr val="000000"/>
                </a:solidFill>
                <a:latin typeface="Times New Roman"/>
                <a:ea typeface="Times New Roman"/>
                <a:cs typeface="Times New Roman"/>
                <a:sym typeface="Times New Roman"/>
              </a:rPr>
              <a:t>n(M)=12</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Georgia"/>
                <a:ea typeface="Georgia"/>
                <a:cs typeface="Georgia"/>
                <a:sym typeface="georgia"/>
              </a:rPr>
              <a:t>Number of teachers who teach math and physics </a:t>
            </a:r>
            <a:r>
              <a:rPr lang="en-US" b="0" i="0">
                <a:solidFill>
                  <a:srgbClr val="000000"/>
                </a:solidFill>
                <a:latin typeface="Times New Roman"/>
                <a:ea typeface="Times New Roman"/>
                <a:cs typeface="Times New Roman"/>
                <a:sym typeface="Times New Roman"/>
              </a:rPr>
              <a:t>=n(M∩P)=4</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Georgia"/>
                <a:ea typeface="Georgia"/>
                <a:cs typeface="Georgia"/>
                <a:sym typeface="georgia"/>
              </a:rPr>
              <a:t>Find : Number of teachers who teach physics </a:t>
            </a:r>
            <a:r>
              <a:rPr lang="en-US" b="0" i="0">
                <a:solidFill>
                  <a:srgbClr val="000000"/>
                </a:solidFill>
                <a:latin typeface="Times New Roman"/>
                <a:ea typeface="Times New Roman"/>
                <a:cs typeface="Times New Roman"/>
                <a:sym typeface="Times New Roman"/>
              </a:rPr>
              <a:t>=n(P)=?</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Georgia"/>
                <a:ea typeface="Georgia"/>
                <a:cs typeface="Georgia"/>
                <a:sym typeface="georgia"/>
              </a:rPr>
              <a:t>Solution :</a:t>
            </a:r>
            <a:endParaRPr/>
          </a:p>
          <a:p>
            <a:pPr marL="0" lvl="0" indent="0" algn="l" rtl="0">
              <a:spcBef>
                <a:spcPts val="0"/>
              </a:spcBef>
              <a:spcAft>
                <a:spcPts val="0"/>
              </a:spcAft>
              <a:buNone/>
            </a:pPr>
            <a:r>
              <a:rPr lang="en-US" b="0" i="0">
                <a:solidFill>
                  <a:srgbClr val="000000"/>
                </a:solidFill>
                <a:latin typeface="Times New Roman"/>
                <a:ea typeface="Times New Roman"/>
                <a:cs typeface="Times New Roman"/>
                <a:sym typeface="Times New Roman"/>
              </a:rPr>
              <a:t>n(M∪P)=n(m)+n(P)−n(M∩P)</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Times New Roman"/>
                <a:ea typeface="Times New Roman"/>
                <a:cs typeface="Times New Roman"/>
                <a:sym typeface="Times New Roman"/>
              </a:rPr>
              <a:t>20=12+n(P)−4</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Times New Roman"/>
                <a:ea typeface="Times New Roman"/>
                <a:cs typeface="Times New Roman"/>
                <a:sym typeface="Times New Roman"/>
              </a:rPr>
              <a:t>20−12+4=n(P)</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Times New Roman"/>
                <a:ea typeface="Times New Roman"/>
                <a:cs typeface="Times New Roman"/>
                <a:sym typeface="Times New Roman"/>
              </a:rPr>
              <a:t>n(P)=12</a:t>
            </a:r>
            <a:endParaRPr b="0" i="0">
              <a:solidFill>
                <a:srgbClr val="000000"/>
              </a:solidFill>
              <a:latin typeface="Georgia"/>
              <a:ea typeface="Georgia"/>
              <a:cs typeface="Georgia"/>
              <a:sym typeface="georgia"/>
            </a:endParaRPr>
          </a:p>
          <a:p>
            <a:pPr marL="0" lvl="0" indent="0" algn="l" rtl="0">
              <a:spcBef>
                <a:spcPts val="0"/>
              </a:spcBef>
              <a:spcAft>
                <a:spcPts val="0"/>
              </a:spcAft>
              <a:buNone/>
            </a:pPr>
            <a:endParaRPr/>
          </a:p>
        </p:txBody>
      </p:sp>
      <p:sp>
        <p:nvSpPr>
          <p:cNvPr id="181" name="Google Shape;18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075400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a:t>
            </a:r>
            <a:endParaRPr/>
          </a:p>
          <a:p>
            <a:pPr marL="0" lvl="0" indent="0" algn="l" rtl="0">
              <a:spcBef>
                <a:spcPts val="0"/>
              </a:spcBef>
              <a:spcAft>
                <a:spcPts val="0"/>
              </a:spcAft>
              <a:buNone/>
            </a:pPr>
            <a:r>
              <a:rPr lang="en-US"/>
              <a:t>Easy</a:t>
            </a:r>
            <a:endParaRPr/>
          </a:p>
          <a:p>
            <a:pPr marL="0" marR="0" lvl="0" indent="0" algn="l" rtl="0">
              <a:lnSpc>
                <a:spcPct val="100000"/>
              </a:lnSpc>
              <a:spcBef>
                <a:spcPts val="0"/>
              </a:spcBef>
              <a:spcAft>
                <a:spcPts val="0"/>
              </a:spcAft>
              <a:buClr>
                <a:schemeClr val="dk1"/>
              </a:buClr>
              <a:buSzPts val="1200"/>
              <a:buFont typeface="Calibri"/>
              <a:buNone/>
            </a:pPr>
            <a:r>
              <a:rPr lang="en-US"/>
              <a:t>In Option A: </a:t>
            </a:r>
            <a:r>
              <a:rPr lang="en-US" sz="1200" b="0" i="0" u="none" strike="noStrike" cap="none">
                <a:solidFill>
                  <a:srgbClr val="333333"/>
                </a:solidFill>
                <a:latin typeface="Helvetica Neue"/>
                <a:ea typeface="Helvetica Neue"/>
                <a:cs typeface="Helvetica Neue"/>
                <a:sym typeface="Helvetica Neue"/>
              </a:rPr>
              <a:t>Elephants and Tigers comes under Animals</a:t>
            </a:r>
            <a:endParaRPr/>
          </a:p>
          <a:p>
            <a:pPr marL="0" marR="0" lvl="0" indent="0" algn="l" rtl="0">
              <a:lnSpc>
                <a:spcPct val="100000"/>
              </a:lnSpc>
              <a:spcBef>
                <a:spcPts val="0"/>
              </a:spcBef>
              <a:spcAft>
                <a:spcPts val="0"/>
              </a:spcAft>
              <a:buClr>
                <a:srgbClr val="333333"/>
              </a:buClr>
              <a:buSzPts val="1200"/>
              <a:buFont typeface="Helvetica Neue"/>
              <a:buNone/>
            </a:pPr>
            <a:r>
              <a:rPr lang="en-US" sz="1200" b="0" i="0" u="none" strike="noStrike" cap="none">
                <a:solidFill>
                  <a:srgbClr val="333333"/>
                </a:solidFill>
                <a:latin typeface="Helvetica Neue"/>
                <a:ea typeface="Helvetica Neue"/>
                <a:cs typeface="Helvetica Neue"/>
                <a:sym typeface="Helvetica Neue"/>
              </a:rPr>
              <a:t>In Option B: Administrators may be either Doctors or Authors.</a:t>
            </a:r>
            <a:endParaRPr/>
          </a:p>
          <a:p>
            <a:pPr marL="0" marR="0" lvl="0" indent="0" algn="l" rtl="0">
              <a:lnSpc>
                <a:spcPct val="100000"/>
              </a:lnSpc>
              <a:spcBef>
                <a:spcPts val="0"/>
              </a:spcBef>
              <a:spcAft>
                <a:spcPts val="0"/>
              </a:spcAft>
              <a:buClr>
                <a:srgbClr val="333333"/>
              </a:buClr>
              <a:buSzPts val="1200"/>
              <a:buFont typeface="Helvetica Neue"/>
              <a:buNone/>
            </a:pPr>
            <a:r>
              <a:rPr lang="en-US" sz="1200" b="0" i="0" u="none" strike="noStrike" cap="none">
                <a:solidFill>
                  <a:srgbClr val="333333"/>
                </a:solidFill>
                <a:latin typeface="Helvetica Neue"/>
                <a:ea typeface="Helvetica Neue"/>
                <a:cs typeface="Helvetica Neue"/>
                <a:sym typeface="Helvetica Neue"/>
              </a:rPr>
              <a:t>In Option C: Platinum, Copper and Gold are disjoint</a:t>
            </a:r>
            <a:endParaRPr/>
          </a:p>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a:solidFill>
                  <a:schemeClr val="dk1"/>
                </a:solidFill>
              </a:rPr>
              <a:t>Hence Option C</a:t>
            </a:r>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endParaRPr>
          </a:p>
          <a:p>
            <a:pPr marL="0" lvl="0" indent="0" algn="l" rtl="0">
              <a:spcBef>
                <a:spcPts val="0"/>
              </a:spcBef>
              <a:spcAft>
                <a:spcPts val="0"/>
              </a:spcAft>
              <a:buNone/>
            </a:pPr>
            <a:endParaRPr/>
          </a:p>
        </p:txBody>
      </p:sp>
      <p:sp>
        <p:nvSpPr>
          <p:cNvPr id="188" name="Google Shape;18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388035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B</a:t>
            </a:r>
            <a:endParaRPr dirty="0"/>
          </a:p>
          <a:p>
            <a:pPr marL="0" lvl="0" indent="0" algn="l" rtl="0">
              <a:spcBef>
                <a:spcPts val="0"/>
              </a:spcBef>
              <a:spcAft>
                <a:spcPts val="0"/>
              </a:spcAft>
              <a:buNone/>
            </a:pPr>
            <a:r>
              <a:rPr lang="en-US" dirty="0"/>
              <a:t>Easy</a:t>
            </a:r>
            <a:endParaRPr dirty="0"/>
          </a:p>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dirty="0">
                <a:solidFill>
                  <a:schemeClr val="dk1"/>
                </a:solidFill>
              </a:rPr>
              <a:t>Hence Option B</a:t>
            </a:r>
            <a:endParaRPr sz="1200" b="0" i="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endParaRPr>
          </a:p>
          <a:p>
            <a:pPr marL="0" lvl="0" indent="0" algn="l" rtl="0">
              <a:spcBef>
                <a:spcPts val="0"/>
              </a:spcBef>
              <a:spcAft>
                <a:spcPts val="0"/>
              </a:spcAft>
              <a:buNone/>
            </a:pPr>
            <a:endParaRPr dirty="0"/>
          </a:p>
        </p:txBody>
      </p:sp>
      <p:sp>
        <p:nvSpPr>
          <p:cNvPr id="198" name="Google Shape;198;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39173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a:t>
            </a:r>
            <a:endParaRPr/>
          </a:p>
          <a:p>
            <a:pPr marL="0" lvl="0" indent="0" algn="l" rtl="0">
              <a:spcBef>
                <a:spcPts val="0"/>
              </a:spcBef>
              <a:spcAft>
                <a:spcPts val="0"/>
              </a:spcAft>
              <a:buNone/>
            </a:pPr>
            <a:r>
              <a:rPr lang="en-US"/>
              <a:t>Easy </a:t>
            </a:r>
            <a:endParaRPr/>
          </a:p>
          <a:p>
            <a:pPr marL="0" lvl="0" indent="0" algn="l" rtl="0">
              <a:spcBef>
                <a:spcPts val="0"/>
              </a:spcBef>
              <a:spcAft>
                <a:spcPts val="0"/>
              </a:spcAft>
              <a:buNone/>
            </a:pPr>
            <a:r>
              <a:rPr lang="en-US" b="0" i="0">
                <a:solidFill>
                  <a:srgbClr val="000000"/>
                </a:solidFill>
                <a:latin typeface="Georgia"/>
                <a:ea typeface="Georgia"/>
                <a:cs typeface="Georgia"/>
                <a:sym typeface="georgia"/>
              </a:rPr>
              <a:t>Let A = Set of people who like cold drink And, B = Set of people who like hot drink</a:t>
            </a:r>
            <a:endParaRPr/>
          </a:p>
          <a:p>
            <a:pPr marL="0" lvl="0" indent="0" algn="l" rtl="0">
              <a:spcBef>
                <a:spcPts val="0"/>
              </a:spcBef>
              <a:spcAft>
                <a:spcPts val="0"/>
              </a:spcAft>
              <a:buNone/>
            </a:pPr>
            <a:r>
              <a:rPr lang="en-US" b="0" i="0">
                <a:solidFill>
                  <a:srgbClr val="000000"/>
                </a:solidFill>
                <a:latin typeface="Georgia"/>
                <a:ea typeface="Georgia"/>
                <a:cs typeface="Georgia"/>
                <a:sym typeface="georgia"/>
              </a:rPr>
              <a:t>Given,</a:t>
            </a:r>
            <a:endParaRPr/>
          </a:p>
          <a:p>
            <a:pPr marL="0" lvl="0" indent="0" algn="l" rtl="0">
              <a:spcBef>
                <a:spcPts val="0"/>
              </a:spcBef>
              <a:spcAft>
                <a:spcPts val="0"/>
              </a:spcAft>
              <a:buNone/>
            </a:pPr>
            <a:r>
              <a:rPr lang="en-US" b="0" i="0">
                <a:solidFill>
                  <a:srgbClr val="000000"/>
                </a:solidFill>
                <a:latin typeface="Times New Roman"/>
                <a:ea typeface="Times New Roman"/>
                <a:cs typeface="Times New Roman"/>
                <a:sym typeface="Times New Roman"/>
              </a:rPr>
              <a:t>n(A∪B)=60</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Times New Roman"/>
                <a:ea typeface="Times New Roman"/>
                <a:cs typeface="Times New Roman"/>
                <a:sym typeface="Times New Roman"/>
              </a:rPr>
              <a:t>n(A)=27</a:t>
            </a:r>
            <a:r>
              <a:rPr lang="en-US" b="0" i="0">
                <a:solidFill>
                  <a:srgbClr val="000000"/>
                </a:solidFill>
                <a:latin typeface="Georgia"/>
                <a:ea typeface="Georgia"/>
                <a:cs typeface="Georgia"/>
                <a:sym typeface="georgia"/>
              </a:rPr>
              <a:t> and </a:t>
            </a:r>
            <a:r>
              <a:rPr lang="en-US" b="0" i="0">
                <a:solidFill>
                  <a:srgbClr val="000000"/>
                </a:solidFill>
                <a:latin typeface="Times New Roman"/>
                <a:ea typeface="Times New Roman"/>
                <a:cs typeface="Times New Roman"/>
                <a:sym typeface="Times New Roman"/>
              </a:rPr>
              <a:t>n(B)=42</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Times New Roman"/>
                <a:ea typeface="Times New Roman"/>
                <a:cs typeface="Times New Roman"/>
                <a:sym typeface="Times New Roman"/>
              </a:rPr>
              <a:t>n(A∩B)=n(A)+n(B)−n(A∪B)</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Times New Roman"/>
                <a:ea typeface="Times New Roman"/>
                <a:cs typeface="Times New Roman"/>
                <a:sym typeface="Times New Roman"/>
              </a:rPr>
              <a:t>n(A∩B)=27+42−60=9</a:t>
            </a:r>
            <a:endParaRPr b="0" i="0">
              <a:solidFill>
                <a:srgbClr val="000000"/>
              </a:solidFill>
              <a:latin typeface="Georgia"/>
              <a:ea typeface="Georgia"/>
              <a:cs typeface="Georgia"/>
              <a:sym typeface="georgia"/>
            </a:endParaRPr>
          </a:p>
          <a:p>
            <a:pPr marL="0" lvl="0" indent="0" algn="l" rtl="0">
              <a:spcBef>
                <a:spcPts val="0"/>
              </a:spcBef>
              <a:spcAft>
                <a:spcPts val="0"/>
              </a:spcAft>
              <a:buNone/>
            </a:pPr>
            <a:r>
              <a:rPr lang="en-US" b="0" i="0">
                <a:solidFill>
                  <a:srgbClr val="000000"/>
                </a:solidFill>
                <a:latin typeface="Georgia"/>
                <a:ea typeface="Georgia"/>
                <a:cs typeface="Georgia"/>
                <a:sym typeface="georgia"/>
              </a:rPr>
              <a:t>Therefore, 9 people like both cold drink and hot drink</a:t>
            </a:r>
            <a:endParaRPr/>
          </a:p>
          <a:p>
            <a:pPr marL="0" lvl="0" indent="0" algn="l" rtl="0">
              <a:spcBef>
                <a:spcPts val="0"/>
              </a:spcBef>
              <a:spcAft>
                <a:spcPts val="0"/>
              </a:spcAft>
              <a:buNone/>
            </a:pPr>
            <a:endParaRPr/>
          </a:p>
        </p:txBody>
      </p:sp>
      <p:sp>
        <p:nvSpPr>
          <p:cNvPr id="208" name="Google Shape;208;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11397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r>
              <a:rPr lang="en-US" b="0" i="0">
                <a:solidFill>
                  <a:srgbClr val="333333"/>
                </a:solidFill>
                <a:latin typeface="Arial"/>
                <a:ea typeface="Arial"/>
                <a:cs typeface="Arial"/>
                <a:sym typeface="Arial"/>
              </a:rPr>
              <a:t>(A ∪ B) = A + B - (A ∩ B) ⇒ (A ∪ B) = 50 + 60 - 20 = 90%</a:t>
            </a:r>
            <a:br>
              <a:rPr lang="en-US"/>
            </a:br>
            <a:r>
              <a:rPr lang="en-US" b="0" i="0">
                <a:solidFill>
                  <a:srgbClr val="333333"/>
                </a:solidFill>
                <a:latin typeface="Arial"/>
                <a:ea typeface="Arial"/>
                <a:cs typeface="Arial"/>
                <a:sym typeface="Arial"/>
              </a:rPr>
              <a:t>That is 90% of the students have enrolled for at least one of the two subjects Math or Economics. Therefore, the remaining 10% did not enroll for either of the two subjects.</a:t>
            </a:r>
            <a:endParaRPr/>
          </a:p>
        </p:txBody>
      </p:sp>
      <p:sp>
        <p:nvSpPr>
          <p:cNvPr id="215" name="Google Shape;21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407204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A</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r>
              <a:rPr lang="en-US" b="0" i="0">
                <a:solidFill>
                  <a:srgbClr val="332E2B"/>
                </a:solidFill>
                <a:latin typeface="Open Sans"/>
                <a:ea typeface="Open Sans"/>
                <a:cs typeface="Open Sans"/>
                <a:sym typeface="Open Sans"/>
              </a:rPr>
              <a:t>n (only maths) </a:t>
            </a:r>
            <a:r>
              <a:rPr lang="en-US" b="0" i="0" u="none" strike="noStrike">
                <a:solidFill>
                  <a:srgbClr val="332E2B"/>
                </a:solidFill>
                <a:latin typeface="Arial"/>
                <a:ea typeface="Arial"/>
                <a:cs typeface="Arial"/>
                <a:sym typeface="Arial"/>
              </a:rPr>
              <a:t>=n(A)−n(A∩B)</a:t>
            </a:r>
            <a:br>
              <a:rPr lang="en-US"/>
            </a:br>
            <a:r>
              <a:rPr lang="en-US" b="0" i="0">
                <a:solidFill>
                  <a:srgbClr val="332E2B"/>
                </a:solidFill>
                <a:latin typeface="Open Sans"/>
                <a:ea typeface="Open Sans"/>
                <a:cs typeface="Open Sans"/>
                <a:sym typeface="Open Sans"/>
              </a:rPr>
              <a:t>By substituting the values, we get,</a:t>
            </a:r>
            <a:br>
              <a:rPr lang="en-US"/>
            </a:br>
            <a:r>
              <a:rPr lang="en-US" b="0" i="0">
                <a:solidFill>
                  <a:srgbClr val="332E2B"/>
                </a:solidFill>
                <a:latin typeface="Open Sans"/>
                <a:ea typeface="Open Sans"/>
                <a:cs typeface="Open Sans"/>
                <a:sym typeface="Open Sans"/>
              </a:rPr>
              <a:t>n (only maths) = 40 - 24 = 16.</a:t>
            </a:r>
            <a:br>
              <a:rPr lang="en-US"/>
            </a:br>
            <a:r>
              <a:rPr lang="en-US" b="0" i="0">
                <a:solidFill>
                  <a:srgbClr val="332E2B"/>
                </a:solidFill>
                <a:latin typeface="Open Sans"/>
                <a:ea typeface="Open Sans"/>
                <a:cs typeface="Open Sans"/>
                <a:sym typeface="Open Sans"/>
              </a:rPr>
              <a:t>Hence, we can say there are 16 students who like only maths.</a:t>
            </a:r>
            <a:endParaRPr/>
          </a:p>
        </p:txBody>
      </p:sp>
      <p:sp>
        <p:nvSpPr>
          <p:cNvPr id="222" name="Google Shape;222;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3169569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r>
              <a:rPr lang="en-US"/>
              <a:t>The total number of people = 100 + 220 + 130 = 450</a:t>
            </a:r>
            <a:endParaRPr/>
          </a:p>
        </p:txBody>
      </p:sp>
      <p:sp>
        <p:nvSpPr>
          <p:cNvPr id="264" name="Google Shape;264;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218070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r>
              <a:rPr lang="en-US"/>
              <a:t>25+20-30 =15</a:t>
            </a:r>
            <a:endParaRPr/>
          </a:p>
        </p:txBody>
      </p:sp>
      <p:sp>
        <p:nvSpPr>
          <p:cNvPr id="323" name="Google Shape;323;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5885712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C</a:t>
            </a:r>
            <a:endParaRPr dirty="0"/>
          </a:p>
          <a:p>
            <a:pPr marL="0" lvl="0" indent="0" algn="l" rtl="0">
              <a:spcBef>
                <a:spcPts val="0"/>
              </a:spcBef>
              <a:spcAft>
                <a:spcPts val="0"/>
              </a:spcAft>
              <a:buNone/>
            </a:pPr>
            <a:r>
              <a:rPr lang="en-US" dirty="0"/>
              <a:t>Easy</a:t>
            </a:r>
            <a:endParaRPr dirty="0"/>
          </a:p>
          <a:p>
            <a:pPr marL="0" lvl="0" indent="0" algn="l" rtl="0">
              <a:spcBef>
                <a:spcPts val="0"/>
              </a:spcBef>
              <a:spcAft>
                <a:spcPts val="0"/>
              </a:spcAft>
              <a:buNone/>
            </a:pPr>
            <a:r>
              <a:rPr lang="en-US" dirty="0"/>
              <a:t>The required answer would be 20000 - 5000 - 4000 - 8000 = 3000.</a:t>
            </a:r>
            <a:endParaRPr dirty="0"/>
          </a:p>
        </p:txBody>
      </p:sp>
      <p:sp>
        <p:nvSpPr>
          <p:cNvPr id="271" name="Google Shape;271;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419678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A</a:t>
            </a:r>
            <a:endParaRPr dirty="0"/>
          </a:p>
          <a:p>
            <a:pPr marL="0" lvl="0" indent="0" algn="l" rtl="0">
              <a:spcBef>
                <a:spcPts val="0"/>
              </a:spcBef>
              <a:spcAft>
                <a:spcPts val="0"/>
              </a:spcAft>
              <a:buNone/>
            </a:pPr>
            <a:r>
              <a:rPr lang="en-US" dirty="0"/>
              <a:t>Moderate</a:t>
            </a:r>
            <a:endParaRPr dirty="0"/>
          </a:p>
          <a:p>
            <a:pPr marL="0" lvl="0" indent="0" algn="l" rtl="0">
              <a:spcBef>
                <a:spcPts val="0"/>
              </a:spcBef>
              <a:spcAft>
                <a:spcPts val="0"/>
              </a:spcAft>
              <a:buNone/>
            </a:pPr>
            <a:r>
              <a:rPr lang="en-US" b="0" i="0" dirty="0">
                <a:solidFill>
                  <a:srgbClr val="333333"/>
                </a:solidFill>
                <a:latin typeface="Verdana"/>
                <a:ea typeface="Verdana"/>
                <a:cs typeface="Verdana"/>
                <a:sym typeface="Verdana"/>
              </a:rPr>
              <a:t>(A U B) = A + B - (A n B) =&gt; (A U B) = 40 + 70 - 15 = 95%</a:t>
            </a:r>
            <a:br>
              <a:rPr lang="en-US" dirty="0"/>
            </a:br>
            <a:r>
              <a:rPr lang="en-US" b="0" i="0" dirty="0">
                <a:solidFill>
                  <a:srgbClr val="333333"/>
                </a:solidFill>
                <a:latin typeface="Verdana"/>
                <a:ea typeface="Verdana"/>
                <a:cs typeface="Verdana"/>
                <a:sym typeface="Verdana"/>
              </a:rPr>
              <a:t>That is 95% of the students have enrolled for at least one of the two subjects Math or Economics.</a:t>
            </a:r>
            <a:br>
              <a:rPr lang="en-US" dirty="0"/>
            </a:br>
            <a:r>
              <a:rPr lang="en-US" b="0" i="0" dirty="0">
                <a:solidFill>
                  <a:srgbClr val="333333"/>
                </a:solidFill>
                <a:latin typeface="Verdana"/>
                <a:ea typeface="Verdana"/>
                <a:cs typeface="Verdana"/>
                <a:sym typeface="Verdana"/>
              </a:rPr>
              <a:t>Therefore, the balance (100 - 95)% = 5% of the students have not enrolled for either of the two subjects.</a:t>
            </a:r>
            <a:endParaRPr dirty="0"/>
          </a:p>
        </p:txBody>
      </p:sp>
      <p:sp>
        <p:nvSpPr>
          <p:cNvPr id="236" name="Google Shape;23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793476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B</a:t>
            </a:r>
            <a:endParaRPr dirty="0"/>
          </a:p>
          <a:p>
            <a:pPr marL="0" lvl="0" indent="0" algn="l" rtl="0">
              <a:spcBef>
                <a:spcPts val="0"/>
              </a:spcBef>
              <a:spcAft>
                <a:spcPts val="0"/>
              </a:spcAft>
              <a:buNone/>
            </a:pPr>
            <a:r>
              <a:rPr lang="en-US" dirty="0"/>
              <a:t>Moderate</a:t>
            </a: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students enrolled for both Math=40-15=25%</a:t>
            </a:r>
          </a:p>
          <a:p>
            <a:pPr marL="0" lvl="0" indent="0" algn="l" rtl="0">
              <a:spcBef>
                <a:spcPts val="0"/>
              </a:spcBef>
              <a:spcAft>
                <a:spcPts val="0"/>
              </a:spcAft>
              <a:buNone/>
            </a:pPr>
            <a:r>
              <a:rPr lang="en-US" sz="1200" dirty="0">
                <a:solidFill>
                  <a:schemeClr val="dk1"/>
                </a:solidFill>
                <a:latin typeface="Calibri"/>
                <a:ea typeface="Calibri"/>
                <a:cs typeface="Calibri"/>
                <a:sym typeface="Calibri"/>
              </a:rPr>
              <a:t>students enrolled for both Math=70-15=55%</a:t>
            </a:r>
            <a:br>
              <a:rPr lang="en-US" dirty="0"/>
            </a:br>
            <a:r>
              <a:rPr lang="en-US" b="0" i="0" dirty="0">
                <a:solidFill>
                  <a:srgbClr val="333333"/>
                </a:solidFill>
                <a:latin typeface="Verdana"/>
                <a:ea typeface="Verdana"/>
                <a:cs typeface="Verdana"/>
                <a:sym typeface="Verdana"/>
              </a:rPr>
              <a:t>Therefore, 25+55=80% students </a:t>
            </a:r>
            <a:r>
              <a:rPr lang="en-US" sz="1200" dirty="0">
                <a:solidFill>
                  <a:schemeClr val="dk1"/>
                </a:solidFill>
                <a:latin typeface="Calibri"/>
                <a:ea typeface="Calibri"/>
                <a:cs typeface="Calibri"/>
                <a:sym typeface="Calibri"/>
              </a:rPr>
              <a:t>enroll for only Math and only Economics.</a:t>
            </a:r>
            <a:endParaRPr dirty="0"/>
          </a:p>
        </p:txBody>
      </p:sp>
      <p:sp>
        <p:nvSpPr>
          <p:cNvPr id="236" name="Google Shape;23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360648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r>
              <a:rPr lang="en-US"/>
              <a:t>Since there are 14 players who are in triathlon and pentathlon, and there are 8 who take part in all three games, there will be 6 who take part in only triathlon and pentathlon. </a:t>
            </a:r>
            <a:endParaRPr/>
          </a:p>
          <a:p>
            <a:pPr marL="0" lvl="0" indent="0" algn="l" rtl="0">
              <a:spcBef>
                <a:spcPts val="0"/>
              </a:spcBef>
              <a:spcAft>
                <a:spcPts val="0"/>
              </a:spcAft>
              <a:buNone/>
            </a:pPr>
            <a:r>
              <a:rPr lang="en-US"/>
              <a:t>Similarly, we can find the value for Only triathlon and marathon, Only Pentathlon and Marathon,</a:t>
            </a:r>
            <a:endParaRPr/>
          </a:p>
          <a:p>
            <a:pPr marL="0" lvl="0" indent="0" algn="l" rtl="0">
              <a:spcBef>
                <a:spcPts val="0"/>
              </a:spcBef>
              <a:spcAft>
                <a:spcPts val="0"/>
              </a:spcAft>
              <a:buNone/>
            </a:pPr>
            <a:r>
              <a:rPr lang="en-US"/>
              <a:t>The answers would be: 3 + 6 + 8 + 4 + 5 + 7 + 10 = 43</a:t>
            </a:r>
            <a:endParaRPr/>
          </a:p>
        </p:txBody>
      </p:sp>
      <p:sp>
        <p:nvSpPr>
          <p:cNvPr id="285" name="Google Shape;285;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3061567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r>
              <a:rPr lang="en-US"/>
              <a:t>Use the Venn diagram to solve the above problem </a:t>
            </a:r>
            <a:endParaRPr/>
          </a:p>
        </p:txBody>
      </p:sp>
      <p:sp>
        <p:nvSpPr>
          <p:cNvPr id="299" name="Google Shape;299;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31835729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r>
              <a:rPr lang="en-US"/>
              <a:t>Use the Venn diagram to solve the above problem </a:t>
            </a:r>
            <a:endParaRPr/>
          </a:p>
        </p:txBody>
      </p:sp>
      <p:sp>
        <p:nvSpPr>
          <p:cNvPr id="307" name="Google Shape;307;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3834711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r>
              <a:rPr lang="en-US"/>
              <a:t>Use the Venn diagram to solve the above problem </a:t>
            </a:r>
            <a:endParaRPr/>
          </a:p>
        </p:txBody>
      </p:sp>
      <p:sp>
        <p:nvSpPr>
          <p:cNvPr id="315" name="Google Shape;31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39373063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r>
              <a:rPr lang="en-US"/>
              <a:t>By using the information given in the question, No. of participants who did not participate in any sports is 240 (880-participants participated in atleast one sports)</a:t>
            </a:r>
            <a:endParaRPr/>
          </a:p>
          <a:p>
            <a:pPr marL="0" lvl="0" indent="0" algn="l" rtl="0">
              <a:spcBef>
                <a:spcPts val="0"/>
              </a:spcBef>
              <a:spcAft>
                <a:spcPts val="0"/>
              </a:spcAft>
              <a:buNone/>
            </a:pPr>
            <a:r>
              <a:rPr lang="en-US"/>
              <a:t>Hence Required % = 240/880 = 27.27%</a:t>
            </a:r>
            <a:endParaRPr/>
          </a:p>
        </p:txBody>
      </p:sp>
      <p:sp>
        <p:nvSpPr>
          <p:cNvPr id="331" name="Google Shape;331;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34139449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r>
              <a:rPr lang="en-US"/>
              <a:t>The least percentage of people with all 4 gadgets would happen if all the employees who are not having any one of the four objects is mutually exclusive. </a:t>
            </a:r>
            <a:endParaRPr/>
          </a:p>
          <a:p>
            <a:pPr marL="0" lvl="0" indent="0" algn="l" rtl="0">
              <a:spcBef>
                <a:spcPts val="0"/>
              </a:spcBef>
              <a:spcAft>
                <a:spcPts val="0"/>
              </a:spcAft>
              <a:buNone/>
            </a:pPr>
            <a:r>
              <a:rPr lang="en-US"/>
              <a:t>Thus, 100 - 30 - 25 - 20 - 15 = 10</a:t>
            </a:r>
            <a:endParaRPr/>
          </a:p>
        </p:txBody>
      </p:sp>
      <p:sp>
        <p:nvSpPr>
          <p:cNvPr id="339" name="Google Shape;339;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2887126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A</a:t>
            </a:r>
            <a:endParaRPr dirty="0"/>
          </a:p>
          <a:p>
            <a:pPr marL="0" lvl="0" indent="0" algn="l" rtl="0">
              <a:spcBef>
                <a:spcPts val="0"/>
              </a:spcBef>
              <a:spcAft>
                <a:spcPts val="0"/>
              </a:spcAft>
              <a:buNone/>
            </a:pPr>
            <a:r>
              <a:rPr lang="en-US" dirty="0"/>
              <a:t>Moderate</a:t>
            </a:r>
            <a:endParaRPr dirty="0"/>
          </a:p>
          <a:p>
            <a:pPr marL="0" lvl="0" indent="0" algn="l" rtl="0">
              <a:spcBef>
                <a:spcPts val="0"/>
              </a:spcBef>
              <a:spcAft>
                <a:spcPts val="0"/>
              </a:spcAft>
              <a:buNone/>
            </a:pPr>
            <a:r>
              <a:rPr lang="en-US" dirty="0"/>
              <a:t>Required ratio is 18:8 = 9:4</a:t>
            </a:r>
            <a:endParaRPr dirty="0"/>
          </a:p>
        </p:txBody>
      </p:sp>
      <p:sp>
        <p:nvSpPr>
          <p:cNvPr id="347" name="Google Shape;34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40377129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b="0" dirty="0"/>
              <a:t>Option B</a:t>
            </a:r>
            <a:endParaRPr dirty="0"/>
          </a:p>
          <a:p>
            <a:pPr marL="0" lvl="0" indent="0" algn="l" rtl="0">
              <a:spcBef>
                <a:spcPts val="0"/>
              </a:spcBef>
              <a:spcAft>
                <a:spcPts val="0"/>
              </a:spcAft>
              <a:buNone/>
            </a:pPr>
            <a:r>
              <a:rPr lang="en-US" b="0" dirty="0"/>
              <a:t>Expert</a:t>
            </a:r>
            <a:endParaRPr dirty="0"/>
          </a:p>
          <a:p>
            <a:pPr marL="0" lvl="0" indent="0" algn="l" rtl="0">
              <a:spcBef>
                <a:spcPts val="0"/>
              </a:spcBef>
              <a:spcAft>
                <a:spcPts val="0"/>
              </a:spcAft>
              <a:buNone/>
            </a:pPr>
            <a:r>
              <a:rPr lang="en-US" b="0" i="0" dirty="0">
                <a:solidFill>
                  <a:srgbClr val="333333"/>
                </a:solidFill>
                <a:latin typeface="Roboto"/>
                <a:ea typeface="Roboto"/>
                <a:cs typeface="Roboto"/>
                <a:sym typeface="Roboto"/>
              </a:rPr>
              <a:t>Let total no of students who took English be x</a:t>
            </a:r>
            <a:br>
              <a:rPr lang="en-US" dirty="0"/>
            </a:br>
            <a:r>
              <a:rPr lang="en-US" b="0" i="0" dirty="0">
                <a:solidFill>
                  <a:srgbClr val="333333"/>
                </a:solidFill>
                <a:latin typeface="Roboto"/>
                <a:ea typeface="Roboto"/>
                <a:cs typeface="Roboto"/>
                <a:sym typeface="Roboto"/>
              </a:rPr>
              <a:t>Then students who took math, science will also be x</a:t>
            </a:r>
            <a:endParaRPr dirty="0"/>
          </a:p>
          <a:p>
            <a:pPr marL="0" lvl="0" indent="0" algn="l" rtl="0">
              <a:spcBef>
                <a:spcPts val="0"/>
              </a:spcBef>
              <a:spcAft>
                <a:spcPts val="0"/>
              </a:spcAft>
              <a:buNone/>
            </a:pPr>
            <a:r>
              <a:rPr lang="en-US" b="0" i="0" dirty="0">
                <a:solidFill>
                  <a:srgbClr val="333333"/>
                </a:solidFill>
                <a:latin typeface="Roboto"/>
                <a:ea typeface="Roboto"/>
                <a:cs typeface="Roboto"/>
                <a:sym typeface="Roboto"/>
              </a:rPr>
              <a:t>the total no of students who took English as a subject = 124</a:t>
            </a:r>
            <a:endParaRPr b="0" dirty="0"/>
          </a:p>
          <a:p>
            <a:pPr marL="0" lvl="0" indent="0" algn="l" rtl="0">
              <a:spcBef>
                <a:spcPts val="0"/>
              </a:spcBef>
              <a:spcAft>
                <a:spcPts val="0"/>
              </a:spcAft>
              <a:buNone/>
            </a:pPr>
            <a:r>
              <a:rPr lang="en-US" b="0" i="0" dirty="0">
                <a:solidFill>
                  <a:srgbClr val="333333"/>
                </a:solidFill>
                <a:latin typeface="Roboto"/>
                <a:ea typeface="Roboto"/>
                <a:cs typeface="Roboto"/>
                <a:sym typeface="Roboto"/>
              </a:rPr>
              <a:t>The students who has taken only one subject = E U M U S - E ∩ M - E ∩ S - S ∩ M - E ∩ M ∩ S</a:t>
            </a:r>
            <a:br>
              <a:rPr lang="en-US" b="0" i="0" dirty="0">
                <a:solidFill>
                  <a:srgbClr val="333333"/>
                </a:solidFill>
                <a:latin typeface="Roboto"/>
                <a:ea typeface="Roboto"/>
                <a:cs typeface="Roboto"/>
                <a:sym typeface="Roboto"/>
              </a:rPr>
            </a:br>
            <a:r>
              <a:rPr lang="en-US" b="0" i="0" dirty="0">
                <a:solidFill>
                  <a:srgbClr val="333333"/>
                </a:solidFill>
                <a:latin typeface="Roboto"/>
                <a:ea typeface="Roboto"/>
                <a:cs typeface="Roboto"/>
                <a:sym typeface="Roboto"/>
              </a:rPr>
              <a:t>= 302 - 16 - 14 - 14 - 12 = 246</a:t>
            </a:r>
            <a:br>
              <a:rPr lang="en-US" b="0" i="0" dirty="0">
                <a:solidFill>
                  <a:srgbClr val="333333"/>
                </a:solidFill>
                <a:latin typeface="Roboto"/>
                <a:ea typeface="Roboto"/>
                <a:cs typeface="Roboto"/>
                <a:sym typeface="Roboto"/>
              </a:rPr>
            </a:br>
            <a:r>
              <a:rPr lang="en-US" b="0" i="0" dirty="0">
                <a:solidFill>
                  <a:srgbClr val="333333"/>
                </a:solidFill>
                <a:latin typeface="Roboto"/>
                <a:ea typeface="Roboto"/>
                <a:cs typeface="Roboto"/>
                <a:sym typeface="Roboto"/>
              </a:rPr>
              <a:t>The students who took English and Math but not science = only E + Only M + E ∩ M</a:t>
            </a:r>
            <a:br>
              <a:rPr lang="en-US" b="0" i="0" dirty="0">
                <a:solidFill>
                  <a:srgbClr val="333333"/>
                </a:solidFill>
                <a:latin typeface="Roboto"/>
                <a:ea typeface="Roboto"/>
                <a:cs typeface="Roboto"/>
                <a:sym typeface="Roboto"/>
              </a:rPr>
            </a:br>
            <a:r>
              <a:rPr lang="en-US" b="0" i="0" dirty="0">
                <a:solidFill>
                  <a:srgbClr val="333333"/>
                </a:solidFill>
                <a:latin typeface="Roboto"/>
                <a:ea typeface="Roboto"/>
                <a:cs typeface="Roboto"/>
                <a:sym typeface="Roboto"/>
              </a:rPr>
              <a:t>= 80 + 82 + 16 = 178</a:t>
            </a:r>
            <a:br>
              <a:rPr lang="en-US" b="0" i="0" dirty="0">
                <a:solidFill>
                  <a:srgbClr val="333333"/>
                </a:solidFill>
                <a:latin typeface="Roboto"/>
                <a:ea typeface="Roboto"/>
                <a:cs typeface="Roboto"/>
                <a:sym typeface="Roboto"/>
              </a:rPr>
            </a:br>
            <a:r>
              <a:rPr lang="en-US" b="0" i="0" dirty="0">
                <a:solidFill>
                  <a:srgbClr val="333333"/>
                </a:solidFill>
                <a:latin typeface="Roboto"/>
                <a:ea typeface="Roboto"/>
                <a:cs typeface="Roboto"/>
                <a:sym typeface="Roboto"/>
              </a:rPr>
              <a:t>Percent of students who took English and Math but not science = </a:t>
            </a:r>
            <a:r>
              <a:rPr lang="en-US" b="0" i="0" u="none" strike="noStrike" dirty="0">
                <a:solidFill>
                  <a:srgbClr val="333333"/>
                </a:solidFill>
                <a:latin typeface="Arial"/>
                <a:ea typeface="Arial"/>
                <a:cs typeface="Arial"/>
                <a:sym typeface="Arial"/>
              </a:rPr>
              <a:t>178/302</a:t>
            </a:r>
            <a:r>
              <a:rPr lang="en-US" b="0" i="0" dirty="0">
                <a:solidFill>
                  <a:srgbClr val="333333"/>
                </a:solidFill>
                <a:latin typeface="Roboto"/>
                <a:ea typeface="Roboto"/>
                <a:cs typeface="Roboto"/>
                <a:sym typeface="Roboto"/>
              </a:rPr>
              <a:t> * 100 = approx. 59 %</a:t>
            </a:r>
            <a:endParaRPr dirty="0"/>
          </a:p>
          <a:p>
            <a:pPr marL="0" lvl="0" indent="0" algn="l" rtl="0">
              <a:spcBef>
                <a:spcPts val="0"/>
              </a:spcBef>
              <a:spcAft>
                <a:spcPts val="0"/>
              </a:spcAft>
              <a:buNone/>
            </a:pPr>
            <a:r>
              <a:rPr lang="en-US" b="0" i="0" dirty="0">
                <a:solidFill>
                  <a:srgbClr val="333333"/>
                </a:solidFill>
                <a:latin typeface="Montserrat"/>
                <a:ea typeface="Montserrat"/>
                <a:cs typeface="Montserrat"/>
                <a:sym typeface="Montserrat"/>
              </a:rPr>
              <a:t>Hence, the answer is "124".</a:t>
            </a:r>
            <a:endParaRPr dirty="0"/>
          </a:p>
          <a:p>
            <a:pPr marL="0" lvl="0" indent="0" algn="l" rtl="0">
              <a:spcBef>
                <a:spcPts val="0"/>
              </a:spcBef>
              <a:spcAft>
                <a:spcPts val="0"/>
              </a:spcAft>
              <a:buNone/>
            </a:pPr>
            <a:endParaRPr dirty="0"/>
          </a:p>
        </p:txBody>
      </p:sp>
      <p:sp>
        <p:nvSpPr>
          <p:cNvPr id="257" name="Google Shape;257;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8368134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A</a:t>
            </a:r>
            <a:endParaRPr dirty="0"/>
          </a:p>
          <a:p>
            <a:pPr marL="0" lvl="0" indent="0" algn="l" rtl="0">
              <a:spcBef>
                <a:spcPts val="0"/>
              </a:spcBef>
              <a:spcAft>
                <a:spcPts val="0"/>
              </a:spcAft>
              <a:buNone/>
            </a:pPr>
            <a:r>
              <a:rPr lang="en-US" dirty="0"/>
              <a:t>Expert</a:t>
            </a:r>
            <a:endParaRPr dirty="0"/>
          </a:p>
          <a:p>
            <a:pPr marL="0" lvl="0" indent="0" algn="l" rtl="0">
              <a:spcBef>
                <a:spcPts val="0"/>
              </a:spcBef>
              <a:spcAft>
                <a:spcPts val="0"/>
              </a:spcAft>
              <a:buNone/>
            </a:pPr>
            <a:r>
              <a:rPr lang="en-US" dirty="0"/>
              <a:t>Let P denote Physics, C denote Chemistry and M denote </a:t>
            </a:r>
            <a:r>
              <a:rPr lang="en-US" dirty="0" err="1"/>
              <a:t>Maths</a:t>
            </a:r>
            <a:r>
              <a:rPr lang="en-US" dirty="0"/>
              <a:t>. </a:t>
            </a:r>
            <a:endParaRPr dirty="0"/>
          </a:p>
          <a:p>
            <a:pPr marL="0" lvl="0" indent="0" algn="l" rtl="0">
              <a:spcBef>
                <a:spcPts val="0"/>
              </a:spcBef>
              <a:spcAft>
                <a:spcPts val="0"/>
              </a:spcAft>
              <a:buNone/>
            </a:pPr>
            <a:r>
              <a:rPr lang="en-US" dirty="0"/>
              <a:t>% of students who passed in P and C only is given by % of students who passed in P and C - % of students who passed all three = 20% - 8% = 12% </a:t>
            </a:r>
            <a:endParaRPr dirty="0"/>
          </a:p>
          <a:p>
            <a:pPr marL="0" lvl="0" indent="0" algn="l" rtl="0">
              <a:spcBef>
                <a:spcPts val="0"/>
              </a:spcBef>
              <a:spcAft>
                <a:spcPts val="0"/>
              </a:spcAft>
              <a:buNone/>
            </a:pPr>
            <a:r>
              <a:rPr lang="en-US" dirty="0"/>
              <a:t>% of students who passed in P and M only is given by % of students who passed in P and M - % of students who passed all three = 14% - 8% = 6% </a:t>
            </a:r>
            <a:endParaRPr dirty="0"/>
          </a:p>
          <a:p>
            <a:pPr marL="0" lvl="0" indent="0" algn="l" rtl="0">
              <a:spcBef>
                <a:spcPts val="0"/>
              </a:spcBef>
              <a:spcAft>
                <a:spcPts val="0"/>
              </a:spcAft>
              <a:buNone/>
            </a:pPr>
            <a:r>
              <a:rPr lang="en-US" dirty="0"/>
              <a:t>% of students who passed in M and C only is: % of students who passed in C and M - % of students who passed all three = 21% - 8% = 13% </a:t>
            </a:r>
            <a:endParaRPr dirty="0"/>
          </a:p>
          <a:p>
            <a:pPr marL="0" lvl="0" indent="0" algn="l" rtl="0">
              <a:spcBef>
                <a:spcPts val="0"/>
              </a:spcBef>
              <a:spcAft>
                <a:spcPts val="0"/>
              </a:spcAft>
              <a:buNone/>
            </a:pPr>
            <a:r>
              <a:rPr lang="en-US" dirty="0"/>
              <a:t>So, % of students who passed in P only is given by: Total no. passing in P - No. Passing in P &amp; C only - No. Passing P &amp; M only - No. Passing in all </a:t>
            </a:r>
            <a:r>
              <a:rPr lang="en-US" dirty="0" err="1"/>
              <a:t>threeÃ</a:t>
            </a:r>
            <a:r>
              <a:rPr lang="en-US" dirty="0"/>
              <a:t>† 52% - 12% - 6% - 8%- = 26% </a:t>
            </a:r>
            <a:endParaRPr dirty="0"/>
          </a:p>
          <a:p>
            <a:pPr marL="0" lvl="0" indent="0" algn="l" rtl="0">
              <a:spcBef>
                <a:spcPts val="0"/>
              </a:spcBef>
              <a:spcAft>
                <a:spcPts val="0"/>
              </a:spcAft>
              <a:buNone/>
            </a:pPr>
            <a:r>
              <a:rPr lang="en-US" dirty="0"/>
              <a:t>% of students who passed in M only is: Total no. passing in M - No. Passing in M &amp; C only - No. Passing P &amp; M only - No. Passing in all three 43% - 13% - 6% - 8%- = 16% </a:t>
            </a:r>
            <a:endParaRPr dirty="0"/>
          </a:p>
          <a:p>
            <a:pPr marL="0" lvl="0" indent="0" algn="l" rtl="0">
              <a:spcBef>
                <a:spcPts val="0"/>
              </a:spcBef>
              <a:spcAft>
                <a:spcPts val="0"/>
              </a:spcAft>
              <a:buNone/>
            </a:pPr>
            <a:r>
              <a:rPr lang="en-US" dirty="0"/>
              <a:t>% of students who passed in Chemistry only is Total no. passing in C - No. Passing in P &amp; C only - No. Passing C &amp; M only - No. Passing in all three 52% - 12% - 13% - 8%- = 19% </a:t>
            </a:r>
            <a:endParaRPr dirty="0"/>
          </a:p>
          <a:p>
            <a:pPr marL="0" lvl="0" indent="0" algn="l" rtl="0">
              <a:spcBef>
                <a:spcPts val="0"/>
              </a:spcBef>
              <a:spcAft>
                <a:spcPts val="0"/>
              </a:spcAft>
              <a:buNone/>
            </a:pPr>
            <a:r>
              <a:rPr lang="en-US" dirty="0"/>
              <a:t>Ratio of Only Math to Only Chemistry = 16:19.</a:t>
            </a:r>
            <a:endParaRPr dirty="0"/>
          </a:p>
        </p:txBody>
      </p:sp>
      <p:sp>
        <p:nvSpPr>
          <p:cNvPr id="250" name="Google Shape;25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31173761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A</a:t>
            </a:r>
            <a:endParaRPr dirty="0"/>
          </a:p>
          <a:p>
            <a:pPr marL="0" lvl="0" indent="0" algn="l" rtl="0">
              <a:spcBef>
                <a:spcPts val="0"/>
              </a:spcBef>
              <a:spcAft>
                <a:spcPts val="0"/>
              </a:spcAft>
              <a:buNone/>
            </a:pPr>
            <a:r>
              <a:rPr lang="en-US" dirty="0"/>
              <a:t>Expert</a:t>
            </a:r>
            <a:endParaRPr dirty="0"/>
          </a:p>
          <a:p>
            <a:pPr marL="0" lvl="0" indent="0" algn="l" rtl="0">
              <a:spcBef>
                <a:spcPts val="0"/>
              </a:spcBef>
              <a:spcAft>
                <a:spcPts val="0"/>
              </a:spcAft>
              <a:buNone/>
            </a:pPr>
            <a:r>
              <a:rPr lang="en-US" dirty="0"/>
              <a:t>Let P denote Physics, C denote Chemistry and M denote </a:t>
            </a:r>
            <a:r>
              <a:rPr lang="en-US" dirty="0" err="1"/>
              <a:t>Maths</a:t>
            </a:r>
            <a:r>
              <a:rPr lang="en-US" dirty="0"/>
              <a:t>. </a:t>
            </a:r>
            <a:endParaRPr dirty="0"/>
          </a:p>
          <a:p>
            <a:pPr marL="0" lvl="0" indent="0" algn="l" rtl="0">
              <a:spcBef>
                <a:spcPts val="0"/>
              </a:spcBef>
              <a:spcAft>
                <a:spcPts val="0"/>
              </a:spcAft>
              <a:buNone/>
            </a:pPr>
            <a:r>
              <a:rPr lang="en-US" dirty="0"/>
              <a:t>% of students who passed in P and C only is given by % of students who passed in P and C - % of students who passed all three = 20% - 8% = 12% </a:t>
            </a:r>
            <a:endParaRPr dirty="0"/>
          </a:p>
          <a:p>
            <a:pPr marL="0" lvl="0" indent="0" algn="l" rtl="0">
              <a:spcBef>
                <a:spcPts val="0"/>
              </a:spcBef>
              <a:spcAft>
                <a:spcPts val="0"/>
              </a:spcAft>
              <a:buNone/>
            </a:pPr>
            <a:r>
              <a:rPr lang="en-US" dirty="0"/>
              <a:t>% of students who passed in P and M only is given by % of students who passed in P and M - % of students who passed all three = 14% - 8% = 6% </a:t>
            </a:r>
            <a:endParaRPr dirty="0"/>
          </a:p>
          <a:p>
            <a:pPr marL="0" lvl="0" indent="0" algn="l" rtl="0">
              <a:spcBef>
                <a:spcPts val="0"/>
              </a:spcBef>
              <a:spcAft>
                <a:spcPts val="0"/>
              </a:spcAft>
              <a:buNone/>
            </a:pPr>
            <a:r>
              <a:rPr lang="en-US" dirty="0"/>
              <a:t>% of students who passed in M and C only is: % of students who passed in C and M - % of students who passed all three = 21% - 8% = 13% </a:t>
            </a:r>
            <a:endParaRPr dirty="0"/>
          </a:p>
          <a:p>
            <a:pPr marL="0" lvl="0" indent="0" algn="l" rtl="0">
              <a:spcBef>
                <a:spcPts val="0"/>
              </a:spcBef>
              <a:spcAft>
                <a:spcPts val="0"/>
              </a:spcAft>
              <a:buNone/>
            </a:pPr>
            <a:r>
              <a:rPr lang="en-US" dirty="0"/>
              <a:t>So, % of students who passed in P only is given by: Total no. passing in P - No. Passing in P &amp; C only - No. Passing P &amp; M only - No. Passing in all three Ã† 52% - 12% - 6% - 8%- = 26% </a:t>
            </a:r>
            <a:endParaRPr dirty="0"/>
          </a:p>
          <a:p>
            <a:pPr marL="0" lvl="0" indent="0" algn="l" rtl="0">
              <a:spcBef>
                <a:spcPts val="0"/>
              </a:spcBef>
              <a:spcAft>
                <a:spcPts val="0"/>
              </a:spcAft>
              <a:buNone/>
            </a:pPr>
            <a:r>
              <a:rPr lang="en-US" dirty="0"/>
              <a:t>% of students who passed in M only is: Total no. passing in M - No. Passing in M &amp; C only - No. Passing P &amp; M only - No. Passing in all </a:t>
            </a:r>
            <a:r>
              <a:rPr lang="en-US" dirty="0" err="1"/>
              <a:t>threeÃ</a:t>
            </a:r>
            <a:r>
              <a:rPr lang="en-US" dirty="0"/>
              <a:t>† 43% - 13% - 6% - 8%- = 16% </a:t>
            </a:r>
            <a:endParaRPr dirty="0"/>
          </a:p>
          <a:p>
            <a:pPr marL="0" lvl="0" indent="0" algn="l" rtl="0">
              <a:spcBef>
                <a:spcPts val="0"/>
              </a:spcBef>
              <a:spcAft>
                <a:spcPts val="0"/>
              </a:spcAft>
              <a:buNone/>
            </a:pPr>
            <a:r>
              <a:rPr lang="en-US" dirty="0"/>
              <a:t>% of students who passed in Chemistry only is Total no. passing in C - No. Passing in P &amp; C only - No. Passing C &amp; M only - No. Passing in all three 52% - 12% - 13% - 8%- = 19% Only Math =16% = 32 people.</a:t>
            </a:r>
            <a:endParaRPr dirty="0"/>
          </a:p>
        </p:txBody>
      </p:sp>
      <p:sp>
        <p:nvSpPr>
          <p:cNvPr id="229" name="Google Shape;229;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1094031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A</a:t>
            </a:r>
            <a:endParaRPr dirty="0"/>
          </a:p>
          <a:p>
            <a:pPr marL="0" lvl="0" indent="0" algn="l" rtl="0">
              <a:spcBef>
                <a:spcPts val="0"/>
              </a:spcBef>
              <a:spcAft>
                <a:spcPts val="0"/>
              </a:spcAft>
              <a:buNone/>
            </a:pPr>
            <a:r>
              <a:rPr lang="en-US" dirty="0"/>
              <a:t>Expert</a:t>
            </a:r>
            <a:endParaRPr dirty="0"/>
          </a:p>
          <a:p>
            <a:pPr marL="0" lvl="0" indent="0" algn="l" rtl="0">
              <a:spcBef>
                <a:spcPts val="0"/>
              </a:spcBef>
              <a:spcAft>
                <a:spcPts val="0"/>
              </a:spcAft>
              <a:buNone/>
            </a:pPr>
            <a:r>
              <a:rPr lang="en-US" dirty="0"/>
              <a:t>Let P denote Physics, C denote Chemistry and M denote </a:t>
            </a:r>
            <a:r>
              <a:rPr lang="en-US" dirty="0" err="1"/>
              <a:t>Maths</a:t>
            </a:r>
            <a:r>
              <a:rPr lang="en-US" dirty="0"/>
              <a:t>. </a:t>
            </a:r>
            <a:endParaRPr dirty="0"/>
          </a:p>
          <a:p>
            <a:pPr marL="0" lvl="0" indent="0" algn="l" rtl="0">
              <a:spcBef>
                <a:spcPts val="0"/>
              </a:spcBef>
              <a:spcAft>
                <a:spcPts val="0"/>
              </a:spcAft>
              <a:buNone/>
            </a:pPr>
            <a:r>
              <a:rPr lang="en-US" dirty="0"/>
              <a:t>% of students who passed in P and C only is given by % of students who passed in P and C - % of students who passed all three = 20% - 8% = 12% </a:t>
            </a:r>
            <a:endParaRPr dirty="0"/>
          </a:p>
          <a:p>
            <a:pPr marL="0" lvl="0" indent="0" algn="l" rtl="0">
              <a:spcBef>
                <a:spcPts val="0"/>
              </a:spcBef>
              <a:spcAft>
                <a:spcPts val="0"/>
              </a:spcAft>
              <a:buNone/>
            </a:pPr>
            <a:r>
              <a:rPr lang="en-US" dirty="0"/>
              <a:t>% of students who passed in P and M only is given by % of students who passed in P and M - % of students who passed all three = 14% - 8% = 6% </a:t>
            </a:r>
            <a:endParaRPr dirty="0"/>
          </a:p>
          <a:p>
            <a:pPr marL="0" lvl="0" indent="0" algn="l" rtl="0">
              <a:spcBef>
                <a:spcPts val="0"/>
              </a:spcBef>
              <a:spcAft>
                <a:spcPts val="0"/>
              </a:spcAft>
              <a:buNone/>
            </a:pPr>
            <a:r>
              <a:rPr lang="en-US" dirty="0"/>
              <a:t>% of students who passed in M and C only is: % of students who passed in C and M - % of students who passed all three = 21% - 8% = 13% So, </a:t>
            </a:r>
            <a:endParaRPr dirty="0"/>
          </a:p>
          <a:p>
            <a:pPr marL="0" lvl="0" indent="0" algn="l" rtl="0">
              <a:spcBef>
                <a:spcPts val="0"/>
              </a:spcBef>
              <a:spcAft>
                <a:spcPts val="0"/>
              </a:spcAft>
              <a:buNone/>
            </a:pPr>
            <a:r>
              <a:rPr lang="en-US" dirty="0"/>
              <a:t>% of students who passed in P only is given by: Total no. passing in P - No. Passing in P &amp; C only - No. Passing P &amp; M only - No. Passing in all </a:t>
            </a:r>
            <a:r>
              <a:rPr lang="en-US" dirty="0" err="1"/>
              <a:t>threeÃ</a:t>
            </a:r>
            <a:r>
              <a:rPr lang="en-US" dirty="0"/>
              <a:t>† 52% - 12% - 6% - 8%- = 26% </a:t>
            </a:r>
            <a:endParaRPr dirty="0"/>
          </a:p>
          <a:p>
            <a:pPr marL="0" lvl="0" indent="0" algn="l" rtl="0">
              <a:spcBef>
                <a:spcPts val="0"/>
              </a:spcBef>
              <a:spcAft>
                <a:spcPts val="0"/>
              </a:spcAft>
              <a:buNone/>
            </a:pPr>
            <a:r>
              <a:rPr lang="en-US" dirty="0"/>
              <a:t>% of students who passed in M only is: Total no. passing in M - No. Passing in M &amp; C only - No. Passing P &amp; M only - No. Passing in all three 43% - 13% - 6% - 8%- = 16% </a:t>
            </a:r>
            <a:endParaRPr dirty="0"/>
          </a:p>
          <a:p>
            <a:pPr marL="0" lvl="0" indent="0" algn="l" rtl="0">
              <a:spcBef>
                <a:spcPts val="0"/>
              </a:spcBef>
              <a:spcAft>
                <a:spcPts val="0"/>
              </a:spcAft>
              <a:buNone/>
            </a:pPr>
            <a:r>
              <a:rPr lang="en-US" dirty="0"/>
              <a:t>% of students who passed in Chemistry only is Total no. passing in C - No. Passing in P &amp; C only - No. Passing C &amp; M only - No. Passing in all three 52% - 12% - 13% - 8%- = 19% </a:t>
            </a:r>
            <a:endParaRPr dirty="0"/>
          </a:p>
          <a:p>
            <a:pPr marL="0" lvl="0" indent="0" algn="l" rtl="0">
              <a:spcBef>
                <a:spcPts val="0"/>
              </a:spcBef>
              <a:spcAft>
                <a:spcPts val="0"/>
              </a:spcAft>
              <a:buNone/>
            </a:pPr>
            <a:r>
              <a:rPr lang="en-US" dirty="0"/>
              <a:t>26:84 is the required ratio</a:t>
            </a:r>
            <a:endParaRPr dirty="0"/>
          </a:p>
        </p:txBody>
      </p:sp>
      <p:sp>
        <p:nvSpPr>
          <p:cNvPr id="292" name="Google Shape;29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1633871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1110" dirty="0"/>
              <a:t>Option C</a:t>
            </a:r>
            <a:endParaRPr dirty="0"/>
          </a:p>
          <a:p>
            <a:pPr marL="0" lvl="0" indent="0" algn="l" rtl="0">
              <a:lnSpc>
                <a:spcPct val="90000"/>
              </a:lnSpc>
              <a:spcBef>
                <a:spcPts val="0"/>
              </a:spcBef>
              <a:spcAft>
                <a:spcPts val="0"/>
              </a:spcAft>
              <a:buNone/>
            </a:pPr>
            <a:r>
              <a:rPr lang="en-US" sz="1110" dirty="0"/>
              <a:t>Expert</a:t>
            </a:r>
            <a:endParaRPr dirty="0"/>
          </a:p>
          <a:p>
            <a:pPr marL="0" lvl="0" indent="0" algn="l" rtl="0">
              <a:lnSpc>
                <a:spcPct val="90000"/>
              </a:lnSpc>
              <a:spcBef>
                <a:spcPts val="0"/>
              </a:spcBef>
              <a:spcAft>
                <a:spcPts val="0"/>
              </a:spcAft>
              <a:buNone/>
            </a:pPr>
            <a:r>
              <a:rPr lang="en-US" sz="1110" b="0" i="0" dirty="0">
                <a:solidFill>
                  <a:srgbClr val="333333"/>
                </a:solidFill>
                <a:latin typeface="Roboto"/>
                <a:ea typeface="Roboto"/>
                <a:cs typeface="Roboto"/>
                <a:sym typeface="Roboto"/>
              </a:rPr>
              <a:t>Let the total no of students doing CA be n(A), those doing actuarial be n(B) and those doing MBA be n(C).</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Now, ‘CA’ is a set of all even numbered students, thus n(A) = </a:t>
            </a:r>
            <a:r>
              <a:rPr lang="en-US" sz="1110" b="0" i="0" u="none" strike="noStrike" dirty="0">
                <a:solidFill>
                  <a:srgbClr val="333333"/>
                </a:solidFill>
                <a:latin typeface="Arial"/>
                <a:ea typeface="Arial"/>
                <a:cs typeface="Arial"/>
                <a:sym typeface="Arial"/>
              </a:rPr>
              <a:t>150/2</a:t>
            </a:r>
            <a:r>
              <a:rPr lang="en-US" sz="1110" b="0" i="0" dirty="0">
                <a:solidFill>
                  <a:srgbClr val="333333"/>
                </a:solidFill>
                <a:latin typeface="Roboto"/>
                <a:ea typeface="Roboto"/>
                <a:cs typeface="Roboto"/>
                <a:sym typeface="Roboto"/>
              </a:rPr>
              <a:t> = 75</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‘Actuarial’ is a set of all the students whose number are divisible by 5, thus n(B) = </a:t>
            </a:r>
            <a:r>
              <a:rPr lang="en-US" sz="1110" b="0" i="0" u="none" strike="noStrike" dirty="0">
                <a:solidFill>
                  <a:srgbClr val="333333"/>
                </a:solidFill>
                <a:latin typeface="Arial"/>
                <a:ea typeface="Arial"/>
                <a:cs typeface="Arial"/>
                <a:sym typeface="Arial"/>
              </a:rPr>
              <a:t>150/5</a:t>
            </a:r>
            <a:r>
              <a:rPr lang="en-US" sz="1110" b="0" i="0" dirty="0">
                <a:solidFill>
                  <a:srgbClr val="333333"/>
                </a:solidFill>
                <a:latin typeface="Roboto"/>
                <a:ea typeface="Roboto"/>
                <a:cs typeface="Roboto"/>
                <a:sym typeface="Roboto"/>
              </a:rPr>
              <a:t> = 30</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‘MBA’ is a set of all the students whose number are divisible by 7, thus n(C) = </a:t>
            </a:r>
            <a:r>
              <a:rPr lang="en-US" sz="1110" b="0" i="0" u="none" strike="noStrike" dirty="0">
                <a:solidFill>
                  <a:srgbClr val="333333"/>
                </a:solidFill>
                <a:latin typeface="Arial"/>
                <a:ea typeface="Arial"/>
                <a:cs typeface="Arial"/>
                <a:sym typeface="Arial"/>
              </a:rPr>
              <a:t>150/7</a:t>
            </a:r>
            <a:r>
              <a:rPr lang="en-US" sz="1110" b="0" i="0" dirty="0">
                <a:solidFill>
                  <a:srgbClr val="333333"/>
                </a:solidFill>
                <a:latin typeface="Roboto"/>
                <a:ea typeface="Roboto"/>
                <a:cs typeface="Roboto"/>
                <a:sym typeface="Roboto"/>
              </a:rPr>
              <a:t> = 21</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The 10</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20</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30</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numbered students would be doing both CA and Actuarial</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 n(A∩B) = </a:t>
            </a:r>
            <a:r>
              <a:rPr lang="en-US" sz="1110" b="0" i="0" u="none" strike="noStrike" dirty="0">
                <a:solidFill>
                  <a:srgbClr val="333333"/>
                </a:solidFill>
                <a:latin typeface="Arial"/>
                <a:ea typeface="Arial"/>
                <a:cs typeface="Arial"/>
                <a:sym typeface="Arial"/>
              </a:rPr>
              <a:t>150/10</a:t>
            </a:r>
            <a:r>
              <a:rPr lang="en-US" sz="1110" b="0" i="0" dirty="0">
                <a:solidFill>
                  <a:srgbClr val="333333"/>
                </a:solidFill>
                <a:latin typeface="Roboto"/>
                <a:ea typeface="Roboto"/>
                <a:cs typeface="Roboto"/>
                <a:sym typeface="Roboto"/>
              </a:rPr>
              <a:t>= 15</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The 14</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28</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42</a:t>
            </a:r>
            <a:r>
              <a:rPr lang="en-US" sz="1110" b="0" i="0" baseline="30000" dirty="0">
                <a:solidFill>
                  <a:srgbClr val="333333"/>
                </a:solidFill>
                <a:latin typeface="Roboto"/>
                <a:ea typeface="Roboto"/>
                <a:cs typeface="Roboto"/>
                <a:sym typeface="Roboto"/>
              </a:rPr>
              <a:t>nd</a:t>
            </a:r>
            <a:r>
              <a:rPr lang="en-US" sz="1110" b="0" i="0" dirty="0">
                <a:solidFill>
                  <a:srgbClr val="333333"/>
                </a:solidFill>
                <a:latin typeface="Roboto"/>
                <a:ea typeface="Roboto"/>
                <a:cs typeface="Roboto"/>
                <a:sym typeface="Roboto"/>
              </a:rPr>
              <a:t>…… numbered students would be doing both CA and MBA</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 n(A∩C) = </a:t>
            </a:r>
            <a:r>
              <a:rPr lang="en-US" sz="1110" b="0" i="0" u="none" strike="noStrike" dirty="0">
                <a:solidFill>
                  <a:srgbClr val="333333"/>
                </a:solidFill>
                <a:latin typeface="Arial"/>
                <a:ea typeface="Arial"/>
                <a:cs typeface="Arial"/>
                <a:sym typeface="Arial"/>
              </a:rPr>
              <a:t>150/14</a:t>
            </a:r>
            <a:r>
              <a:rPr lang="en-US" sz="1110" b="0" i="0" dirty="0">
                <a:solidFill>
                  <a:srgbClr val="333333"/>
                </a:solidFill>
                <a:latin typeface="Roboto"/>
                <a:ea typeface="Roboto"/>
                <a:cs typeface="Roboto"/>
                <a:sym typeface="Roboto"/>
              </a:rPr>
              <a:t> = 10</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The 35</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70</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 numbered students would be doing both Actuarial and MBA</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 n(B∩C) = </a:t>
            </a:r>
            <a:r>
              <a:rPr lang="en-US" sz="1110" b="0" i="0" u="none" strike="noStrike" dirty="0">
                <a:solidFill>
                  <a:srgbClr val="333333"/>
                </a:solidFill>
                <a:latin typeface="Arial"/>
                <a:ea typeface="Arial"/>
                <a:cs typeface="Arial"/>
                <a:sym typeface="Arial"/>
              </a:rPr>
              <a:t>150/35</a:t>
            </a:r>
            <a:r>
              <a:rPr lang="en-US" sz="1110" b="0" i="0" dirty="0">
                <a:solidFill>
                  <a:srgbClr val="333333"/>
                </a:solidFill>
                <a:latin typeface="Roboto"/>
                <a:ea typeface="Roboto"/>
                <a:cs typeface="Roboto"/>
                <a:sym typeface="Roboto"/>
              </a:rPr>
              <a:t> = 4</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And the 70</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and 140</a:t>
            </a:r>
            <a:r>
              <a:rPr lang="en-US" sz="1110" b="0" i="0" baseline="30000" dirty="0">
                <a:solidFill>
                  <a:srgbClr val="333333"/>
                </a:solidFill>
                <a:latin typeface="Roboto"/>
                <a:ea typeface="Roboto"/>
                <a:cs typeface="Roboto"/>
                <a:sym typeface="Roboto"/>
              </a:rPr>
              <a:t>th</a:t>
            </a:r>
            <a:r>
              <a:rPr lang="en-US" sz="1110" b="0" i="0" dirty="0">
                <a:solidFill>
                  <a:srgbClr val="333333"/>
                </a:solidFill>
                <a:latin typeface="Roboto"/>
                <a:ea typeface="Roboto"/>
                <a:cs typeface="Roboto"/>
                <a:sym typeface="Roboto"/>
              </a:rPr>
              <a:t> students must be doing all the three.</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∴n(A∩B∩C) = 2</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Now, n(A∪B∪C) = n(A)+n(B)+n(C) – n(A∩B) – n(A∩C) - n(B∩C) + n(A∩B∩C)</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 99</a:t>
            </a:r>
            <a:br>
              <a:rPr lang="en-US" sz="1110" b="0" i="0" dirty="0">
                <a:solidFill>
                  <a:srgbClr val="333333"/>
                </a:solidFill>
                <a:latin typeface="Roboto"/>
                <a:ea typeface="Roboto"/>
                <a:cs typeface="Roboto"/>
                <a:sym typeface="Roboto"/>
              </a:rPr>
            </a:br>
            <a:r>
              <a:rPr lang="en-US" sz="1110" b="0" i="0" dirty="0">
                <a:solidFill>
                  <a:srgbClr val="333333"/>
                </a:solidFill>
                <a:latin typeface="Roboto"/>
                <a:ea typeface="Roboto"/>
                <a:cs typeface="Roboto"/>
                <a:sym typeface="Roboto"/>
              </a:rPr>
              <a:t>∴ Number of students doing nothing = 150 – 99 = 51</a:t>
            </a:r>
            <a:endParaRPr dirty="0"/>
          </a:p>
        </p:txBody>
      </p:sp>
      <p:sp>
        <p:nvSpPr>
          <p:cNvPr id="243" name="Google Shape;24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4891330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B</a:t>
            </a:r>
            <a:endParaRPr dirty="0"/>
          </a:p>
          <a:p>
            <a:pPr marL="0" lvl="0" indent="0" algn="l" rtl="0">
              <a:spcBef>
                <a:spcPts val="0"/>
              </a:spcBef>
              <a:spcAft>
                <a:spcPts val="0"/>
              </a:spcAft>
              <a:buNone/>
            </a:pPr>
            <a:r>
              <a:rPr lang="en-US" dirty="0"/>
              <a:t>Expert</a:t>
            </a:r>
          </a:p>
          <a:p>
            <a:pPr marL="0" lvl="0" indent="0" algn="l" rtl="0">
              <a:spcBef>
                <a:spcPts val="0"/>
              </a:spcBef>
              <a:spcAft>
                <a:spcPts val="0"/>
              </a:spcAft>
              <a:buNone/>
            </a:pPr>
            <a:r>
              <a:rPr lang="en-US" dirty="0"/>
              <a:t>By the </a:t>
            </a:r>
            <a:r>
              <a:rPr lang="en-US" dirty="0" err="1"/>
              <a:t>venn</a:t>
            </a:r>
            <a:r>
              <a:rPr lang="en-US" dirty="0"/>
              <a:t> diagram </a:t>
            </a:r>
          </a:p>
          <a:p>
            <a:pPr marL="0" lvl="0" indent="0" algn="l" rtl="0">
              <a:spcBef>
                <a:spcPts val="0"/>
              </a:spcBef>
              <a:spcAft>
                <a:spcPts val="0"/>
              </a:spcAft>
              <a:buNone/>
            </a:pPr>
            <a:r>
              <a:rPr lang="en-US" sz="2400" b="0" i="0" u="none" strike="noStrike" cap="none" dirty="0">
                <a:solidFill>
                  <a:schemeClr val="dk1"/>
                </a:solidFill>
                <a:latin typeface="Calibri"/>
                <a:ea typeface="Calibri"/>
                <a:cs typeface="Calibri"/>
                <a:sym typeface="Arial"/>
              </a:rPr>
              <a:t>Students cleared all the three sections=6</a:t>
            </a:r>
          </a:p>
        </p:txBody>
      </p:sp>
      <p:sp>
        <p:nvSpPr>
          <p:cNvPr id="355" name="Google Shape;355;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23410361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B</a:t>
            </a:r>
            <a:endParaRPr dirty="0"/>
          </a:p>
          <a:p>
            <a:pPr marL="0" lvl="0" indent="0" algn="l" rtl="0">
              <a:spcBef>
                <a:spcPts val="0"/>
              </a:spcBef>
              <a:spcAft>
                <a:spcPts val="0"/>
              </a:spcAft>
              <a:buNone/>
            </a:pPr>
            <a:r>
              <a:rPr lang="en-US" dirty="0"/>
              <a:t>Expert</a:t>
            </a:r>
          </a:p>
          <a:p>
            <a:pPr marL="0" lvl="0" indent="0" algn="l" rtl="0">
              <a:spcBef>
                <a:spcPts val="0"/>
              </a:spcBef>
              <a:spcAft>
                <a:spcPts val="0"/>
              </a:spcAft>
              <a:buNone/>
            </a:pPr>
            <a:r>
              <a:rPr lang="en-US" dirty="0"/>
              <a:t>By the </a:t>
            </a:r>
            <a:r>
              <a:rPr lang="en-US" dirty="0" err="1"/>
              <a:t>venn</a:t>
            </a:r>
            <a:r>
              <a:rPr lang="en-US" dirty="0"/>
              <a:t> diagram </a:t>
            </a:r>
          </a:p>
          <a:p>
            <a:pPr marL="0" lvl="0" indent="0" algn="l" rtl="0">
              <a:spcBef>
                <a:spcPts val="0"/>
              </a:spcBef>
              <a:spcAft>
                <a:spcPts val="0"/>
              </a:spcAft>
              <a:buNone/>
            </a:pPr>
            <a:r>
              <a:rPr lang="en-US" sz="2400" b="0" i="0" u="none" strike="noStrike" cap="none" dirty="0">
                <a:solidFill>
                  <a:schemeClr val="dk1"/>
                </a:solidFill>
                <a:latin typeface="Calibri"/>
                <a:ea typeface="Calibri"/>
                <a:cs typeface="Calibri"/>
                <a:sym typeface="Arial"/>
              </a:rPr>
              <a:t>Students cleared all the three sections=6</a:t>
            </a:r>
          </a:p>
        </p:txBody>
      </p:sp>
      <p:sp>
        <p:nvSpPr>
          <p:cNvPr id="355" name="Google Shape;355;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1013857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B</a:t>
            </a:r>
            <a:endParaRPr dirty="0"/>
          </a:p>
          <a:p>
            <a:pPr marL="0" lvl="0" indent="0" algn="l" rtl="0">
              <a:spcBef>
                <a:spcPts val="0"/>
              </a:spcBef>
              <a:spcAft>
                <a:spcPts val="0"/>
              </a:spcAft>
              <a:buNone/>
            </a:pPr>
            <a:r>
              <a:rPr lang="en-US" dirty="0"/>
              <a:t>Expert</a:t>
            </a:r>
          </a:p>
          <a:p>
            <a:pPr marL="0" lvl="0" indent="0" algn="l" rtl="0">
              <a:spcBef>
                <a:spcPts val="0"/>
              </a:spcBef>
              <a:spcAft>
                <a:spcPts val="0"/>
              </a:spcAft>
              <a:buNone/>
            </a:pPr>
            <a:r>
              <a:rPr lang="en-US" dirty="0"/>
              <a:t>By the </a:t>
            </a:r>
            <a:r>
              <a:rPr lang="en-US" dirty="0" err="1"/>
              <a:t>venn</a:t>
            </a:r>
            <a:r>
              <a:rPr lang="en-US" dirty="0"/>
              <a:t> diagram </a:t>
            </a:r>
          </a:p>
          <a:p>
            <a:pPr marL="0" lvl="0" indent="0" algn="l" rtl="0">
              <a:spcBef>
                <a:spcPts val="0"/>
              </a:spcBef>
              <a:spcAft>
                <a:spcPts val="0"/>
              </a:spcAft>
              <a:buNone/>
            </a:pPr>
            <a:r>
              <a:rPr lang="en-US" sz="2400" b="0" i="0" u="none" strike="noStrike" cap="none" dirty="0">
                <a:solidFill>
                  <a:schemeClr val="dk1"/>
                </a:solidFill>
                <a:latin typeface="Calibri"/>
                <a:ea typeface="Calibri"/>
                <a:cs typeface="Calibri"/>
                <a:sym typeface="Arial"/>
              </a:rPr>
              <a:t>Students cleared all the three sections=6</a:t>
            </a:r>
          </a:p>
        </p:txBody>
      </p:sp>
      <p:sp>
        <p:nvSpPr>
          <p:cNvPr id="355" name="Google Shape;355;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11034066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Option B</a:t>
            </a:r>
            <a:endParaRPr dirty="0"/>
          </a:p>
          <a:p>
            <a:pPr marL="0" lvl="0" indent="0" algn="l" rtl="0">
              <a:spcBef>
                <a:spcPts val="0"/>
              </a:spcBef>
              <a:spcAft>
                <a:spcPts val="0"/>
              </a:spcAft>
              <a:buNone/>
            </a:pPr>
            <a:r>
              <a:rPr lang="en-US" dirty="0"/>
              <a:t>Expert</a:t>
            </a:r>
            <a:endParaRPr dirty="0"/>
          </a:p>
          <a:p>
            <a:pPr marL="0" lvl="0" indent="0" algn="l" rtl="0">
              <a:spcBef>
                <a:spcPts val="0"/>
              </a:spcBef>
              <a:spcAft>
                <a:spcPts val="0"/>
              </a:spcAft>
              <a:buNone/>
            </a:pPr>
            <a:r>
              <a:rPr lang="en-US" b="0" i="0" dirty="0">
                <a:solidFill>
                  <a:srgbClr val="000000"/>
                </a:solidFill>
                <a:latin typeface="Lato"/>
                <a:ea typeface="Lato"/>
                <a:cs typeface="Lato"/>
                <a:sym typeface="Lato"/>
              </a:rPr>
              <a:t>The question asks for the number of students in the set F′∩C′, where F and C are the sets of students who took French and Creative Writing, respectively.</a:t>
            </a:r>
            <a:endParaRPr dirty="0"/>
          </a:p>
          <a:p>
            <a:pPr marL="0" lvl="0" indent="0" algn="l" rtl="0">
              <a:spcBef>
                <a:spcPts val="0"/>
              </a:spcBef>
              <a:spcAft>
                <a:spcPts val="0"/>
              </a:spcAft>
              <a:buNone/>
            </a:pPr>
            <a:r>
              <a:rPr lang="en-US" b="0" i="0" dirty="0">
                <a:solidFill>
                  <a:srgbClr val="000000"/>
                </a:solidFill>
                <a:latin typeface="Lato"/>
                <a:ea typeface="Lato"/>
                <a:cs typeface="Lato"/>
                <a:sym typeface="Lato"/>
              </a:rPr>
              <a:t>Option B is the correct option</a:t>
            </a:r>
            <a:endParaRPr dirty="0"/>
          </a:p>
        </p:txBody>
      </p:sp>
      <p:sp>
        <p:nvSpPr>
          <p:cNvPr id="379" name="Google Shape;379;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40233787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 B</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704933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- 4</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70025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- 1</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24823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33"/>
          <p:cNvSpPr txBox="1">
            <a:spLocks noGrp="1"/>
          </p:cNvSpPr>
          <p:nvPr>
            <p:ph type="title"/>
          </p:nvPr>
        </p:nvSpPr>
        <p:spPr>
          <a:xfrm>
            <a:off x="609600" y="0"/>
            <a:ext cx="10972800" cy="1600200"/>
          </a:xfrm>
          <a:prstGeom prst="rect">
            <a:avLst/>
          </a:prstGeom>
          <a:noFill/>
          <a:ln>
            <a:noFill/>
          </a:ln>
        </p:spPr>
        <p:txBody>
          <a:bodyPr spcFirstLastPara="1" wrap="square" lIns="91425" tIns="45700" rIns="91425" bIns="45700" anchor="b" anchorCtr="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3"/>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3"/>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3"/>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34"/>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4"/>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4"/>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36"/>
          <p:cNvSpPr txBox="1">
            <a:spLocks noGrp="1"/>
          </p:cNvSpPr>
          <p:nvPr>
            <p:ph type="title"/>
          </p:nvPr>
        </p:nvSpPr>
        <p:spPr>
          <a:xfrm>
            <a:off x="609600" y="0"/>
            <a:ext cx="10972800" cy="1600200"/>
          </a:xfrm>
          <a:prstGeom prst="rect">
            <a:avLst/>
          </a:prstGeom>
          <a:noFill/>
          <a:ln>
            <a:noFill/>
          </a:ln>
        </p:spPr>
        <p:txBody>
          <a:bodyPr spcFirstLastPara="1" wrap="square" lIns="91425" tIns="45700" rIns="91425" bIns="45700" anchor="b" anchorCtr="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6"/>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rgbClr val="7F7F7F"/>
              </a:buClr>
              <a:buSzPts val="1800"/>
              <a:buChar char="•"/>
              <a:defRPr/>
            </a:lvl1pPr>
            <a:lvl2pPr marL="914400" lvl="1" indent="-342900" algn="l">
              <a:spcBef>
                <a:spcPts val="360"/>
              </a:spcBef>
              <a:spcAft>
                <a:spcPts val="0"/>
              </a:spcAft>
              <a:buClr>
                <a:srgbClr val="7F7F7F"/>
              </a:buClr>
              <a:buSzPts val="1800"/>
              <a:buChar char="o"/>
              <a:defRPr/>
            </a:lvl2pPr>
            <a:lvl3pPr marL="1371600" lvl="2" indent="-342900" algn="l">
              <a:spcBef>
                <a:spcPts val="360"/>
              </a:spcBef>
              <a:spcAft>
                <a:spcPts val="0"/>
              </a:spcAft>
              <a:buClr>
                <a:srgbClr val="7F7F7F"/>
              </a:buClr>
              <a:buSzPts val="1800"/>
              <a:buChar char="•"/>
              <a:defRPr/>
            </a:lvl3pPr>
            <a:lvl4pPr marL="1828800" lvl="3" indent="-342900" algn="l">
              <a:spcBef>
                <a:spcPts val="360"/>
              </a:spcBef>
              <a:spcAft>
                <a:spcPts val="0"/>
              </a:spcAft>
              <a:buClr>
                <a:srgbClr val="7F7F7F"/>
              </a:buClr>
              <a:buSzPts val="1800"/>
              <a:buChar char="o"/>
              <a:defRPr/>
            </a:lvl4pPr>
            <a:lvl5pPr marL="2286000" lvl="4" indent="-330200" algn="l">
              <a:spcBef>
                <a:spcPts val="320"/>
              </a:spcBef>
              <a:spcAft>
                <a:spcPts val="0"/>
              </a:spcAft>
              <a:buClr>
                <a:srgbClr val="7F7F7F"/>
              </a:buClr>
              <a:buSzPts val="1600"/>
              <a:buChar char="•"/>
              <a:defRPr/>
            </a:lvl5pPr>
            <a:lvl6pPr marL="2743200" lvl="5" indent="-330200" algn="l">
              <a:spcBef>
                <a:spcPts val="320"/>
              </a:spcBef>
              <a:spcAft>
                <a:spcPts val="0"/>
              </a:spcAft>
              <a:buClr>
                <a:srgbClr val="7F7F7F"/>
              </a:buClr>
              <a:buSzPts val="1600"/>
              <a:buChar char="o"/>
              <a:defRPr/>
            </a:lvl6pPr>
            <a:lvl7pPr marL="3200400" lvl="6" indent="-330200" algn="l">
              <a:spcBef>
                <a:spcPts val="320"/>
              </a:spcBef>
              <a:spcAft>
                <a:spcPts val="0"/>
              </a:spcAft>
              <a:buClr>
                <a:srgbClr val="7F7F7F"/>
              </a:buClr>
              <a:buSzPts val="1600"/>
              <a:buChar char="•"/>
              <a:defRPr/>
            </a:lvl7pPr>
            <a:lvl8pPr marL="3657600" lvl="7" indent="-330200" algn="l">
              <a:spcBef>
                <a:spcPts val="320"/>
              </a:spcBef>
              <a:spcAft>
                <a:spcPts val="0"/>
              </a:spcAft>
              <a:buClr>
                <a:srgbClr val="7F7F7F"/>
              </a:buClr>
              <a:buSzPts val="1600"/>
              <a:buChar char="o"/>
              <a:defRPr/>
            </a:lvl8pPr>
            <a:lvl9pPr marL="4114800" lvl="8" indent="-330200" algn="l">
              <a:spcBef>
                <a:spcPts val="320"/>
              </a:spcBef>
              <a:spcAft>
                <a:spcPts val="0"/>
              </a:spcAft>
              <a:buClr>
                <a:srgbClr val="7F7F7F"/>
              </a:buClr>
              <a:buSzPts val="1600"/>
              <a:buFont typeface="Arial"/>
              <a:buChar char="•"/>
              <a:defRPr/>
            </a:lvl9pPr>
          </a:lstStyle>
          <a:p>
            <a:endParaRPr/>
          </a:p>
        </p:txBody>
      </p:sp>
      <p:sp>
        <p:nvSpPr>
          <p:cNvPr id="36" name="Google Shape;36;p36"/>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6"/>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6"/>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37"/>
          <p:cNvSpPr txBox="1">
            <a:spLocks noGrp="1"/>
          </p:cNvSpPr>
          <p:nvPr>
            <p:ph type="title"/>
          </p:nvPr>
        </p:nvSpPr>
        <p:spPr>
          <a:xfrm>
            <a:off x="963084" y="1371601"/>
            <a:ext cx="10363200" cy="2505075"/>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800"/>
              <a:buFont typeface="Palatino Linotype"/>
              <a:buNone/>
              <a:defRPr sz="4800">
                <a:solidFill>
                  <a:schemeClr val="dk2"/>
                </a:solidFill>
                <a:latin typeface="Palatino Linotype"/>
                <a:ea typeface="Palatino Linotype"/>
                <a:cs typeface="Palatino Linotype"/>
                <a:sym typeface="Palatino Linotyp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7"/>
          <p:cNvSpPr txBox="1">
            <a:spLocks noGrp="1"/>
          </p:cNvSpPr>
          <p:nvPr>
            <p:ph type="body" idx="1"/>
          </p:nvPr>
        </p:nvSpPr>
        <p:spPr>
          <a:xfrm>
            <a:off x="963084" y="4068764"/>
            <a:ext cx="10363200" cy="1131887"/>
          </a:xfrm>
          <a:prstGeom prst="rect">
            <a:avLst/>
          </a:prstGeom>
          <a:noFill/>
          <a:ln>
            <a:noFill/>
          </a:ln>
        </p:spPr>
        <p:txBody>
          <a:bodyPr spcFirstLastPara="1" wrap="square" lIns="91425" tIns="45700" rIns="91425" bIns="45700" anchor="t" anchorCtr="0">
            <a:normAutofit/>
          </a:bodyPr>
          <a:lstStyle>
            <a:lvl1pPr marL="457200" lvl="0" indent="-228600" algn="ctr">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2" name="Google Shape;42;p37"/>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7"/>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7"/>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5" name="Google Shape;45;p37"/>
          <p:cNvSpPr/>
          <p:nvPr/>
        </p:nvSpPr>
        <p:spPr>
          <a:xfrm>
            <a:off x="5994400" y="3924300"/>
            <a:ext cx="113029" cy="84772"/>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alatino Linotype"/>
              <a:ea typeface="Palatino Linotype"/>
              <a:cs typeface="Palatino Linotype"/>
              <a:sym typeface="Palatino Linotype"/>
            </a:endParaRPr>
          </a:p>
        </p:txBody>
      </p:sp>
      <p:sp>
        <p:nvSpPr>
          <p:cNvPr id="46" name="Google Shape;46;p37"/>
          <p:cNvSpPr/>
          <p:nvPr/>
        </p:nvSpPr>
        <p:spPr>
          <a:xfrm>
            <a:off x="6261100" y="3924300"/>
            <a:ext cx="113029" cy="84772"/>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alatino Linotype"/>
              <a:ea typeface="Palatino Linotype"/>
              <a:cs typeface="Palatino Linotype"/>
              <a:sym typeface="Palatino Linotype"/>
            </a:endParaRPr>
          </a:p>
        </p:txBody>
      </p:sp>
      <p:sp>
        <p:nvSpPr>
          <p:cNvPr id="47" name="Google Shape;47;p37"/>
          <p:cNvSpPr/>
          <p:nvPr/>
        </p:nvSpPr>
        <p:spPr>
          <a:xfrm>
            <a:off x="5728971" y="3924300"/>
            <a:ext cx="113029" cy="84772"/>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alatino Linotype"/>
              <a:ea typeface="Palatino Linotype"/>
              <a:cs typeface="Palatino Linotype"/>
              <a:sym typeface="Palatino Linotyp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38"/>
          <p:cNvSpPr txBox="1">
            <a:spLocks noGrp="1"/>
          </p:cNvSpPr>
          <p:nvPr>
            <p:ph type="title"/>
          </p:nvPr>
        </p:nvSpPr>
        <p:spPr>
          <a:xfrm>
            <a:off x="609600" y="0"/>
            <a:ext cx="10972800" cy="1600200"/>
          </a:xfrm>
          <a:prstGeom prst="rect">
            <a:avLst/>
          </a:prstGeom>
          <a:noFill/>
          <a:ln>
            <a:noFill/>
          </a:ln>
        </p:spPr>
        <p:txBody>
          <a:bodyPr spcFirstLastPara="1" wrap="square" lIns="91425" tIns="45700" rIns="91425" bIns="45700" anchor="b" anchorCtr="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38"/>
          <p:cNvSpPr txBox="1">
            <a:spLocks noGrp="1"/>
          </p:cNvSpPr>
          <p:nvPr>
            <p:ph type="body" idx="1"/>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rgbClr val="7F7F7F"/>
              </a:buClr>
              <a:buSzPts val="2400"/>
              <a:buChar char="•"/>
              <a:defRPr sz="2400"/>
            </a:lvl1pPr>
            <a:lvl2pPr marL="914400" lvl="1" indent="-330200" algn="l">
              <a:spcBef>
                <a:spcPts val="320"/>
              </a:spcBef>
              <a:spcAft>
                <a:spcPts val="0"/>
              </a:spcAft>
              <a:buClr>
                <a:srgbClr val="7F7F7F"/>
              </a:buClr>
              <a:buSzPts val="1600"/>
              <a:buChar char="o"/>
              <a:defRPr sz="1600"/>
            </a:lvl2pPr>
            <a:lvl3pPr marL="1371600" lvl="2" indent="-330200" algn="l">
              <a:spcBef>
                <a:spcPts val="320"/>
              </a:spcBef>
              <a:spcAft>
                <a:spcPts val="0"/>
              </a:spcAft>
              <a:buClr>
                <a:srgbClr val="7F7F7F"/>
              </a:buClr>
              <a:buSzPts val="1600"/>
              <a:buChar char="•"/>
              <a:defRPr sz="1600"/>
            </a:lvl3pPr>
            <a:lvl4pPr marL="1828800" lvl="3" indent="-330200" algn="l">
              <a:spcBef>
                <a:spcPts val="320"/>
              </a:spcBef>
              <a:spcAft>
                <a:spcPts val="0"/>
              </a:spcAft>
              <a:buClr>
                <a:srgbClr val="7F7F7F"/>
              </a:buClr>
              <a:buSzPts val="1600"/>
              <a:buChar char="o"/>
              <a:defRPr sz="1600"/>
            </a:lvl4pPr>
            <a:lvl5pPr marL="2286000" lvl="4" indent="-330200" algn="l">
              <a:spcBef>
                <a:spcPts val="320"/>
              </a:spcBef>
              <a:spcAft>
                <a:spcPts val="0"/>
              </a:spcAft>
              <a:buClr>
                <a:srgbClr val="7F7F7F"/>
              </a:buClr>
              <a:buSzPts val="1600"/>
              <a:buChar char="•"/>
              <a:defRPr sz="1600"/>
            </a:lvl5pPr>
            <a:lvl6pPr marL="2743200" lvl="5" indent="-330200" algn="l">
              <a:spcBef>
                <a:spcPts val="320"/>
              </a:spcBef>
              <a:spcAft>
                <a:spcPts val="0"/>
              </a:spcAft>
              <a:buClr>
                <a:srgbClr val="7F7F7F"/>
              </a:buClr>
              <a:buSzPts val="1600"/>
              <a:buChar char="o"/>
              <a:defRPr sz="1600"/>
            </a:lvl6pPr>
            <a:lvl7pPr marL="3200400" lvl="6" indent="-330200" algn="l">
              <a:spcBef>
                <a:spcPts val="320"/>
              </a:spcBef>
              <a:spcAft>
                <a:spcPts val="0"/>
              </a:spcAft>
              <a:buClr>
                <a:srgbClr val="7F7F7F"/>
              </a:buClr>
              <a:buSzPts val="1600"/>
              <a:buChar char="•"/>
              <a:defRPr sz="1600"/>
            </a:lvl7pPr>
            <a:lvl8pPr marL="3657600" lvl="7" indent="-330200" algn="l">
              <a:spcBef>
                <a:spcPts val="320"/>
              </a:spcBef>
              <a:spcAft>
                <a:spcPts val="0"/>
              </a:spcAft>
              <a:buClr>
                <a:srgbClr val="7F7F7F"/>
              </a:buClr>
              <a:buSzPts val="1600"/>
              <a:buChar char="o"/>
              <a:defRPr sz="1600"/>
            </a:lvl8pPr>
            <a:lvl9pPr marL="4114800" lvl="8" indent="-330200" algn="l">
              <a:spcBef>
                <a:spcPts val="320"/>
              </a:spcBef>
              <a:spcAft>
                <a:spcPts val="0"/>
              </a:spcAft>
              <a:buClr>
                <a:srgbClr val="7F7F7F"/>
              </a:buClr>
              <a:buSzPts val="1600"/>
              <a:buChar char="•"/>
              <a:defRPr sz="1600"/>
            </a:lvl9pPr>
          </a:lstStyle>
          <a:p>
            <a:endParaRPr/>
          </a:p>
        </p:txBody>
      </p:sp>
      <p:sp>
        <p:nvSpPr>
          <p:cNvPr id="51" name="Google Shape;51;p38"/>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8"/>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8"/>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4" name="Google Shape;54;p38"/>
          <p:cNvSpPr txBox="1">
            <a:spLocks noGrp="1"/>
          </p:cNvSpPr>
          <p:nvPr>
            <p:ph type="body" idx="2"/>
          </p:nvPr>
        </p:nvSpPr>
        <p:spPr>
          <a:xfrm>
            <a:off x="487680" y="1600200"/>
            <a:ext cx="5388864" cy="452628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rgbClr val="7F7F7F"/>
              </a:buClr>
              <a:buSzPts val="1800"/>
              <a:buChar char="•"/>
              <a:defRPr/>
            </a:lvl1pPr>
            <a:lvl2pPr marL="914400" lvl="1" indent="-342900" algn="l">
              <a:spcBef>
                <a:spcPts val="360"/>
              </a:spcBef>
              <a:spcAft>
                <a:spcPts val="0"/>
              </a:spcAft>
              <a:buClr>
                <a:srgbClr val="7F7F7F"/>
              </a:buClr>
              <a:buSzPts val="1800"/>
              <a:buChar char="o"/>
              <a:defRPr/>
            </a:lvl2pPr>
            <a:lvl3pPr marL="1371600" lvl="2" indent="-342900" algn="l">
              <a:spcBef>
                <a:spcPts val="360"/>
              </a:spcBef>
              <a:spcAft>
                <a:spcPts val="0"/>
              </a:spcAft>
              <a:buClr>
                <a:srgbClr val="7F7F7F"/>
              </a:buClr>
              <a:buSzPts val="1800"/>
              <a:buChar char="•"/>
              <a:defRPr/>
            </a:lvl3pPr>
            <a:lvl4pPr marL="1828800" lvl="3" indent="-342900" algn="l">
              <a:spcBef>
                <a:spcPts val="360"/>
              </a:spcBef>
              <a:spcAft>
                <a:spcPts val="0"/>
              </a:spcAft>
              <a:buClr>
                <a:srgbClr val="7F7F7F"/>
              </a:buClr>
              <a:buSzPts val="1800"/>
              <a:buChar char="o"/>
              <a:defRPr/>
            </a:lvl4pPr>
            <a:lvl5pPr marL="2286000" lvl="4" indent="-342900" algn="l">
              <a:spcBef>
                <a:spcPts val="360"/>
              </a:spcBef>
              <a:spcAft>
                <a:spcPts val="0"/>
              </a:spcAft>
              <a:buClr>
                <a:srgbClr val="7F7F7F"/>
              </a:buClr>
              <a:buSzPts val="1800"/>
              <a:buChar char="•"/>
              <a:defRPr/>
            </a:lvl5pPr>
            <a:lvl6pPr marL="2743200" lvl="5" indent="-342900" algn="l">
              <a:spcBef>
                <a:spcPts val="360"/>
              </a:spcBef>
              <a:spcAft>
                <a:spcPts val="0"/>
              </a:spcAft>
              <a:buClr>
                <a:srgbClr val="7F7F7F"/>
              </a:buClr>
              <a:buSzPts val="1800"/>
              <a:buChar char="o"/>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o"/>
              <a:defRPr/>
            </a:lvl8pPr>
            <a:lvl9pPr marL="4114800" lvl="8" indent="-342900" algn="l">
              <a:spcBef>
                <a:spcPts val="360"/>
              </a:spcBef>
              <a:spcAft>
                <a:spcPts val="0"/>
              </a:spcAft>
              <a:buClr>
                <a:srgbClr val="7F7F7F"/>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39"/>
          <p:cNvSpPr txBox="1">
            <a:spLocks noGrp="1"/>
          </p:cNvSpPr>
          <p:nvPr>
            <p:ph type="title"/>
          </p:nvPr>
        </p:nvSpPr>
        <p:spPr>
          <a:xfrm>
            <a:off x="609600" y="0"/>
            <a:ext cx="10972800" cy="1600200"/>
          </a:xfrm>
          <a:prstGeom prst="rect">
            <a:avLst/>
          </a:prstGeom>
          <a:noFill/>
          <a:ln>
            <a:noFill/>
          </a:ln>
        </p:spPr>
        <p:txBody>
          <a:bodyPr spcFirstLastPara="1" wrap="square" lIns="91425" tIns="45700" rIns="91425" bIns="45700" anchor="b" anchorCtr="0">
            <a:noAutofit/>
          </a:bodyPr>
          <a:lstStyle>
            <a:lvl1pPr lvl="0" algn="ctr">
              <a:lnSpc>
                <a:spcPct val="107407"/>
              </a:lnSpc>
              <a:spcBef>
                <a:spcPts val="0"/>
              </a:spcBef>
              <a:spcAft>
                <a:spcPts val="0"/>
              </a:spcAft>
              <a:buClr>
                <a:schemeClr val="dk2"/>
              </a:buClr>
              <a:buSzPts val="5400"/>
              <a:buFont typeface="Palatino Linoty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39"/>
          <p:cNvSpPr txBox="1">
            <a:spLocks noGrp="1"/>
          </p:cNvSpPr>
          <p:nvPr>
            <p:ph type="body" idx="1"/>
          </p:nvPr>
        </p:nvSpPr>
        <p:spPr>
          <a:xfrm>
            <a:off x="609600" y="1600200"/>
            <a:ext cx="5386917" cy="609600"/>
          </a:xfrm>
          <a:prstGeom prst="rect">
            <a:avLst/>
          </a:prstGeom>
          <a:noFill/>
          <a:ln>
            <a:noFill/>
          </a:ln>
        </p:spPr>
        <p:txBody>
          <a:bodyPr spcFirstLastPara="1" wrap="square" lIns="91425" tIns="45700" rIns="91425" bIns="45700" anchor="b" anchorCtr="0">
            <a:noAutofit/>
          </a:bodyPr>
          <a:lstStyle>
            <a:lvl1pPr marL="457200" lvl="0" indent="-228600" algn="ctr">
              <a:spcBef>
                <a:spcPts val="480"/>
              </a:spcBef>
              <a:spcAft>
                <a:spcPts val="0"/>
              </a:spcAft>
              <a:buClr>
                <a:srgbClr val="7F7F7F"/>
              </a:buClr>
              <a:buSzPts val="2400"/>
              <a:buNone/>
              <a:defRPr sz="2400" b="0"/>
            </a:lvl1pPr>
            <a:lvl2pPr marL="914400" lvl="1" indent="-228600" algn="l">
              <a:spcBef>
                <a:spcPts val="400"/>
              </a:spcBef>
              <a:spcAft>
                <a:spcPts val="0"/>
              </a:spcAft>
              <a:buClr>
                <a:srgbClr val="7F7F7F"/>
              </a:buClr>
              <a:buSzPts val="2000"/>
              <a:buNone/>
              <a:defRPr sz="2000" b="1"/>
            </a:lvl2pPr>
            <a:lvl3pPr marL="1371600" lvl="2" indent="-228600" algn="l">
              <a:spcBef>
                <a:spcPts val="360"/>
              </a:spcBef>
              <a:spcAft>
                <a:spcPts val="0"/>
              </a:spcAft>
              <a:buClr>
                <a:srgbClr val="7F7F7F"/>
              </a:buClr>
              <a:buSzPts val="1800"/>
              <a:buNone/>
              <a:defRPr sz="1800" b="1"/>
            </a:lvl3pPr>
            <a:lvl4pPr marL="1828800" lvl="3" indent="-228600" algn="l">
              <a:spcBef>
                <a:spcPts val="320"/>
              </a:spcBef>
              <a:spcAft>
                <a:spcPts val="0"/>
              </a:spcAft>
              <a:buClr>
                <a:srgbClr val="7F7F7F"/>
              </a:buClr>
              <a:buSzPts val="1600"/>
              <a:buNone/>
              <a:defRPr sz="1600" b="1"/>
            </a:lvl4pPr>
            <a:lvl5pPr marL="2286000" lvl="4" indent="-228600" algn="l">
              <a:spcBef>
                <a:spcPts val="320"/>
              </a:spcBef>
              <a:spcAft>
                <a:spcPts val="0"/>
              </a:spcAft>
              <a:buClr>
                <a:srgbClr val="7F7F7F"/>
              </a:buClr>
              <a:buSzPts val="1600"/>
              <a:buNone/>
              <a:defRPr sz="1600" b="1"/>
            </a:lvl5pPr>
            <a:lvl6pPr marL="2743200" lvl="5" indent="-228600" algn="l">
              <a:spcBef>
                <a:spcPts val="320"/>
              </a:spcBef>
              <a:spcAft>
                <a:spcPts val="0"/>
              </a:spcAft>
              <a:buClr>
                <a:srgbClr val="7F7F7F"/>
              </a:buClr>
              <a:buSzPts val="1600"/>
              <a:buNone/>
              <a:defRPr sz="1600" b="1"/>
            </a:lvl6pPr>
            <a:lvl7pPr marL="3200400" lvl="6" indent="-228600" algn="l">
              <a:spcBef>
                <a:spcPts val="320"/>
              </a:spcBef>
              <a:spcAft>
                <a:spcPts val="0"/>
              </a:spcAft>
              <a:buClr>
                <a:srgbClr val="7F7F7F"/>
              </a:buClr>
              <a:buSzPts val="1600"/>
              <a:buNone/>
              <a:defRPr sz="1600" b="1"/>
            </a:lvl7pPr>
            <a:lvl8pPr marL="3657600" lvl="7" indent="-228600" algn="l">
              <a:spcBef>
                <a:spcPts val="320"/>
              </a:spcBef>
              <a:spcAft>
                <a:spcPts val="0"/>
              </a:spcAft>
              <a:buClr>
                <a:srgbClr val="7F7F7F"/>
              </a:buClr>
              <a:buSzPts val="1600"/>
              <a:buNone/>
              <a:defRPr sz="1600" b="1"/>
            </a:lvl8pPr>
            <a:lvl9pPr marL="4114800" lvl="8" indent="-228600" algn="l">
              <a:spcBef>
                <a:spcPts val="320"/>
              </a:spcBef>
              <a:spcAft>
                <a:spcPts val="0"/>
              </a:spcAft>
              <a:buClr>
                <a:srgbClr val="7F7F7F"/>
              </a:buClr>
              <a:buSzPts val="1600"/>
              <a:buNone/>
              <a:defRPr sz="1600" b="1"/>
            </a:lvl9pPr>
          </a:lstStyle>
          <a:p>
            <a:endParaRPr/>
          </a:p>
        </p:txBody>
      </p:sp>
      <p:sp>
        <p:nvSpPr>
          <p:cNvPr id="58" name="Google Shape;58;p39"/>
          <p:cNvSpPr txBox="1">
            <a:spLocks noGrp="1"/>
          </p:cNvSpPr>
          <p:nvPr>
            <p:ph type="body" idx="2"/>
          </p:nvPr>
        </p:nvSpPr>
        <p:spPr>
          <a:xfrm>
            <a:off x="6197601" y="1600200"/>
            <a:ext cx="5389033" cy="609600"/>
          </a:xfrm>
          <a:prstGeom prst="rect">
            <a:avLst/>
          </a:prstGeom>
          <a:noFill/>
          <a:ln>
            <a:noFill/>
          </a:ln>
        </p:spPr>
        <p:txBody>
          <a:bodyPr spcFirstLastPara="1" wrap="square" lIns="91425" tIns="45700" rIns="91425" bIns="45700" anchor="b" anchorCtr="0">
            <a:noAutofit/>
          </a:bodyPr>
          <a:lstStyle>
            <a:lvl1pPr marL="457200" lvl="0" indent="-228600" algn="ctr">
              <a:spcBef>
                <a:spcPts val="480"/>
              </a:spcBef>
              <a:spcAft>
                <a:spcPts val="0"/>
              </a:spcAft>
              <a:buClr>
                <a:srgbClr val="7F7F7F"/>
              </a:buClr>
              <a:buSzPts val="2400"/>
              <a:buNone/>
              <a:defRPr sz="2400" b="0"/>
            </a:lvl1pPr>
            <a:lvl2pPr marL="914400" lvl="1" indent="-228600" algn="l">
              <a:spcBef>
                <a:spcPts val="400"/>
              </a:spcBef>
              <a:spcAft>
                <a:spcPts val="0"/>
              </a:spcAft>
              <a:buClr>
                <a:srgbClr val="7F7F7F"/>
              </a:buClr>
              <a:buSzPts val="2000"/>
              <a:buNone/>
              <a:defRPr sz="2000" b="1"/>
            </a:lvl2pPr>
            <a:lvl3pPr marL="1371600" lvl="2" indent="-228600" algn="l">
              <a:spcBef>
                <a:spcPts val="360"/>
              </a:spcBef>
              <a:spcAft>
                <a:spcPts val="0"/>
              </a:spcAft>
              <a:buClr>
                <a:srgbClr val="7F7F7F"/>
              </a:buClr>
              <a:buSzPts val="1800"/>
              <a:buNone/>
              <a:defRPr sz="1800" b="1"/>
            </a:lvl3pPr>
            <a:lvl4pPr marL="1828800" lvl="3" indent="-228600" algn="l">
              <a:spcBef>
                <a:spcPts val="320"/>
              </a:spcBef>
              <a:spcAft>
                <a:spcPts val="0"/>
              </a:spcAft>
              <a:buClr>
                <a:srgbClr val="7F7F7F"/>
              </a:buClr>
              <a:buSzPts val="1600"/>
              <a:buNone/>
              <a:defRPr sz="1600" b="1"/>
            </a:lvl4pPr>
            <a:lvl5pPr marL="2286000" lvl="4" indent="-228600" algn="l">
              <a:spcBef>
                <a:spcPts val="320"/>
              </a:spcBef>
              <a:spcAft>
                <a:spcPts val="0"/>
              </a:spcAft>
              <a:buClr>
                <a:srgbClr val="7F7F7F"/>
              </a:buClr>
              <a:buSzPts val="1600"/>
              <a:buNone/>
              <a:defRPr sz="1600" b="1"/>
            </a:lvl5pPr>
            <a:lvl6pPr marL="2743200" lvl="5" indent="-228600" algn="l">
              <a:spcBef>
                <a:spcPts val="320"/>
              </a:spcBef>
              <a:spcAft>
                <a:spcPts val="0"/>
              </a:spcAft>
              <a:buClr>
                <a:srgbClr val="7F7F7F"/>
              </a:buClr>
              <a:buSzPts val="1600"/>
              <a:buNone/>
              <a:defRPr sz="1600" b="1"/>
            </a:lvl6pPr>
            <a:lvl7pPr marL="3200400" lvl="6" indent="-228600" algn="l">
              <a:spcBef>
                <a:spcPts val="320"/>
              </a:spcBef>
              <a:spcAft>
                <a:spcPts val="0"/>
              </a:spcAft>
              <a:buClr>
                <a:srgbClr val="7F7F7F"/>
              </a:buClr>
              <a:buSzPts val="1600"/>
              <a:buNone/>
              <a:defRPr sz="1600" b="1"/>
            </a:lvl7pPr>
            <a:lvl8pPr marL="3657600" lvl="7" indent="-228600" algn="l">
              <a:spcBef>
                <a:spcPts val="320"/>
              </a:spcBef>
              <a:spcAft>
                <a:spcPts val="0"/>
              </a:spcAft>
              <a:buClr>
                <a:srgbClr val="7F7F7F"/>
              </a:buClr>
              <a:buSzPts val="1600"/>
              <a:buNone/>
              <a:defRPr sz="1600" b="1"/>
            </a:lvl8pPr>
            <a:lvl9pPr marL="4114800" lvl="8" indent="-228600" algn="l">
              <a:spcBef>
                <a:spcPts val="320"/>
              </a:spcBef>
              <a:spcAft>
                <a:spcPts val="0"/>
              </a:spcAft>
              <a:buClr>
                <a:srgbClr val="7F7F7F"/>
              </a:buClr>
              <a:buSzPts val="1600"/>
              <a:buNone/>
              <a:defRPr sz="1600" b="1"/>
            </a:lvl9pPr>
          </a:lstStyle>
          <a:p>
            <a:endParaRPr/>
          </a:p>
        </p:txBody>
      </p:sp>
      <p:sp>
        <p:nvSpPr>
          <p:cNvPr id="59" name="Google Shape;59;p39"/>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9"/>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9"/>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2" name="Google Shape;62;p39"/>
          <p:cNvSpPr txBox="1">
            <a:spLocks noGrp="1"/>
          </p:cNvSpPr>
          <p:nvPr>
            <p:ph type="body" idx="3"/>
          </p:nvPr>
        </p:nvSpPr>
        <p:spPr>
          <a:xfrm>
            <a:off x="609600" y="2212848"/>
            <a:ext cx="5388864" cy="3913632"/>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rgbClr val="7F7F7F"/>
              </a:buClr>
              <a:buSzPts val="1800"/>
              <a:buChar char="•"/>
              <a:defRPr/>
            </a:lvl1pPr>
            <a:lvl2pPr marL="914400" lvl="1" indent="-342900" algn="l">
              <a:spcBef>
                <a:spcPts val="360"/>
              </a:spcBef>
              <a:spcAft>
                <a:spcPts val="0"/>
              </a:spcAft>
              <a:buClr>
                <a:srgbClr val="7F7F7F"/>
              </a:buClr>
              <a:buSzPts val="1800"/>
              <a:buChar char="o"/>
              <a:defRPr/>
            </a:lvl2pPr>
            <a:lvl3pPr marL="1371600" lvl="2" indent="-342900" algn="l">
              <a:spcBef>
                <a:spcPts val="360"/>
              </a:spcBef>
              <a:spcAft>
                <a:spcPts val="0"/>
              </a:spcAft>
              <a:buClr>
                <a:srgbClr val="7F7F7F"/>
              </a:buClr>
              <a:buSzPts val="1800"/>
              <a:buChar char="•"/>
              <a:defRPr/>
            </a:lvl3pPr>
            <a:lvl4pPr marL="1828800" lvl="3" indent="-342900" algn="l">
              <a:spcBef>
                <a:spcPts val="360"/>
              </a:spcBef>
              <a:spcAft>
                <a:spcPts val="0"/>
              </a:spcAft>
              <a:buClr>
                <a:srgbClr val="7F7F7F"/>
              </a:buClr>
              <a:buSzPts val="1800"/>
              <a:buChar char="o"/>
              <a:defRPr/>
            </a:lvl4pPr>
            <a:lvl5pPr marL="2286000" lvl="4" indent="-342900" algn="l">
              <a:spcBef>
                <a:spcPts val="360"/>
              </a:spcBef>
              <a:spcAft>
                <a:spcPts val="0"/>
              </a:spcAft>
              <a:buClr>
                <a:srgbClr val="7F7F7F"/>
              </a:buClr>
              <a:buSzPts val="1800"/>
              <a:buChar char="•"/>
              <a:defRPr/>
            </a:lvl5pPr>
            <a:lvl6pPr marL="2743200" lvl="5" indent="-342900" algn="l">
              <a:spcBef>
                <a:spcPts val="360"/>
              </a:spcBef>
              <a:spcAft>
                <a:spcPts val="0"/>
              </a:spcAft>
              <a:buClr>
                <a:srgbClr val="7F7F7F"/>
              </a:buClr>
              <a:buSzPts val="1800"/>
              <a:buChar char="o"/>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o"/>
              <a:defRPr/>
            </a:lvl8pPr>
            <a:lvl9pPr marL="4114800" lvl="8" indent="-342900" algn="l">
              <a:spcBef>
                <a:spcPts val="360"/>
              </a:spcBef>
              <a:spcAft>
                <a:spcPts val="0"/>
              </a:spcAft>
              <a:buClr>
                <a:srgbClr val="7F7F7F"/>
              </a:buClr>
              <a:buSzPts val="1800"/>
              <a:buChar char="•"/>
              <a:defRPr/>
            </a:lvl9pPr>
          </a:lstStyle>
          <a:p>
            <a:endParaRPr/>
          </a:p>
        </p:txBody>
      </p:sp>
      <p:sp>
        <p:nvSpPr>
          <p:cNvPr id="63" name="Google Shape;63;p39"/>
          <p:cNvSpPr txBox="1">
            <a:spLocks noGrp="1"/>
          </p:cNvSpPr>
          <p:nvPr>
            <p:ph type="body" idx="4"/>
          </p:nvPr>
        </p:nvSpPr>
        <p:spPr>
          <a:xfrm>
            <a:off x="6230112" y="2212849"/>
            <a:ext cx="5388864" cy="391318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rgbClr val="7F7F7F"/>
              </a:buClr>
              <a:buSzPts val="1800"/>
              <a:buChar char="•"/>
              <a:defRPr/>
            </a:lvl1pPr>
            <a:lvl2pPr marL="914400" lvl="1" indent="-342900" algn="l">
              <a:spcBef>
                <a:spcPts val="360"/>
              </a:spcBef>
              <a:spcAft>
                <a:spcPts val="0"/>
              </a:spcAft>
              <a:buClr>
                <a:srgbClr val="7F7F7F"/>
              </a:buClr>
              <a:buSzPts val="1800"/>
              <a:buChar char="o"/>
              <a:defRPr/>
            </a:lvl2pPr>
            <a:lvl3pPr marL="1371600" lvl="2" indent="-342900" algn="l">
              <a:spcBef>
                <a:spcPts val="360"/>
              </a:spcBef>
              <a:spcAft>
                <a:spcPts val="0"/>
              </a:spcAft>
              <a:buClr>
                <a:srgbClr val="7F7F7F"/>
              </a:buClr>
              <a:buSzPts val="1800"/>
              <a:buChar char="•"/>
              <a:defRPr/>
            </a:lvl3pPr>
            <a:lvl4pPr marL="1828800" lvl="3" indent="-342900" algn="l">
              <a:spcBef>
                <a:spcPts val="360"/>
              </a:spcBef>
              <a:spcAft>
                <a:spcPts val="0"/>
              </a:spcAft>
              <a:buClr>
                <a:srgbClr val="7F7F7F"/>
              </a:buClr>
              <a:buSzPts val="1800"/>
              <a:buChar char="o"/>
              <a:defRPr/>
            </a:lvl4pPr>
            <a:lvl5pPr marL="2286000" lvl="4" indent="-342900" algn="l">
              <a:spcBef>
                <a:spcPts val="360"/>
              </a:spcBef>
              <a:spcAft>
                <a:spcPts val="0"/>
              </a:spcAft>
              <a:buClr>
                <a:srgbClr val="7F7F7F"/>
              </a:buClr>
              <a:buSzPts val="1800"/>
              <a:buChar char="•"/>
              <a:defRPr/>
            </a:lvl5pPr>
            <a:lvl6pPr marL="2743200" lvl="5" indent="-342900" algn="l">
              <a:spcBef>
                <a:spcPts val="360"/>
              </a:spcBef>
              <a:spcAft>
                <a:spcPts val="0"/>
              </a:spcAft>
              <a:buClr>
                <a:srgbClr val="7F7F7F"/>
              </a:buClr>
              <a:buSzPts val="1800"/>
              <a:buChar char="o"/>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o"/>
              <a:defRPr/>
            </a:lvl8pPr>
            <a:lvl9pPr marL="4114800" lvl="8" indent="-342900" algn="l">
              <a:spcBef>
                <a:spcPts val="360"/>
              </a:spcBef>
              <a:spcAft>
                <a:spcPts val="0"/>
              </a:spcAft>
              <a:buClr>
                <a:srgbClr val="7F7F7F"/>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40"/>
          <p:cNvSpPr txBox="1">
            <a:spLocks noGrp="1"/>
          </p:cNvSpPr>
          <p:nvPr>
            <p:ph type="title"/>
          </p:nvPr>
        </p:nvSpPr>
        <p:spPr>
          <a:xfrm>
            <a:off x="7876117" y="266700"/>
            <a:ext cx="4011084" cy="20955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800"/>
              <a:buFont typeface="Palatino Linotype"/>
              <a:buNone/>
              <a:defRPr sz="28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40"/>
          <p:cNvSpPr txBox="1">
            <a:spLocks noGrp="1"/>
          </p:cNvSpPr>
          <p:nvPr>
            <p:ph type="body" idx="1"/>
          </p:nvPr>
        </p:nvSpPr>
        <p:spPr>
          <a:xfrm>
            <a:off x="958850" y="273051"/>
            <a:ext cx="6661151"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rgbClr val="7F7F7F"/>
              </a:buClr>
              <a:buSzPts val="3200"/>
              <a:buChar char="•"/>
              <a:defRPr sz="3200"/>
            </a:lvl1pPr>
            <a:lvl2pPr marL="914400" lvl="1" indent="-406400" algn="l">
              <a:spcBef>
                <a:spcPts val="560"/>
              </a:spcBef>
              <a:spcAft>
                <a:spcPts val="0"/>
              </a:spcAft>
              <a:buClr>
                <a:srgbClr val="7F7F7F"/>
              </a:buClr>
              <a:buSzPts val="2800"/>
              <a:buChar char="o"/>
              <a:defRPr sz="2800"/>
            </a:lvl2pPr>
            <a:lvl3pPr marL="1371600" lvl="2" indent="-381000" algn="l">
              <a:spcBef>
                <a:spcPts val="480"/>
              </a:spcBef>
              <a:spcAft>
                <a:spcPts val="0"/>
              </a:spcAft>
              <a:buClr>
                <a:srgbClr val="7F7F7F"/>
              </a:buClr>
              <a:buSzPts val="2400"/>
              <a:buChar char="•"/>
              <a:defRPr sz="2400"/>
            </a:lvl3pPr>
            <a:lvl4pPr marL="1828800" lvl="3" indent="-355600" algn="l">
              <a:spcBef>
                <a:spcPts val="400"/>
              </a:spcBef>
              <a:spcAft>
                <a:spcPts val="0"/>
              </a:spcAft>
              <a:buClr>
                <a:srgbClr val="7F7F7F"/>
              </a:buClr>
              <a:buSzPts val="2000"/>
              <a:buChar char="o"/>
              <a:defRPr sz="2000"/>
            </a:lvl4pPr>
            <a:lvl5pPr marL="2286000" lvl="4" indent="-355600" algn="l">
              <a:spcBef>
                <a:spcPts val="400"/>
              </a:spcBef>
              <a:spcAft>
                <a:spcPts val="0"/>
              </a:spcAft>
              <a:buClr>
                <a:srgbClr val="7F7F7F"/>
              </a:buClr>
              <a:buSzPts val="2000"/>
              <a:buChar char="•"/>
              <a:defRPr sz="2000"/>
            </a:lvl5pPr>
            <a:lvl6pPr marL="2743200" lvl="5" indent="-355600" algn="l">
              <a:spcBef>
                <a:spcPts val="400"/>
              </a:spcBef>
              <a:spcAft>
                <a:spcPts val="0"/>
              </a:spcAft>
              <a:buClr>
                <a:srgbClr val="7F7F7F"/>
              </a:buClr>
              <a:buSzPts val="2000"/>
              <a:buChar char="o"/>
              <a:defRPr sz="2000"/>
            </a:lvl6pPr>
            <a:lvl7pPr marL="3200400" lvl="6" indent="-355600" algn="l">
              <a:spcBef>
                <a:spcPts val="400"/>
              </a:spcBef>
              <a:spcAft>
                <a:spcPts val="0"/>
              </a:spcAft>
              <a:buClr>
                <a:srgbClr val="7F7F7F"/>
              </a:buClr>
              <a:buSzPts val="2000"/>
              <a:buChar char="•"/>
              <a:defRPr sz="2000"/>
            </a:lvl7pPr>
            <a:lvl8pPr marL="3657600" lvl="7" indent="-355600" algn="l">
              <a:spcBef>
                <a:spcPts val="400"/>
              </a:spcBef>
              <a:spcAft>
                <a:spcPts val="0"/>
              </a:spcAft>
              <a:buClr>
                <a:srgbClr val="7F7F7F"/>
              </a:buClr>
              <a:buSzPts val="2000"/>
              <a:buChar char="o"/>
              <a:defRPr sz="2000"/>
            </a:lvl8pPr>
            <a:lvl9pPr marL="4114800" lvl="8" indent="-355600" algn="l">
              <a:spcBef>
                <a:spcPts val="400"/>
              </a:spcBef>
              <a:spcAft>
                <a:spcPts val="0"/>
              </a:spcAft>
              <a:buClr>
                <a:srgbClr val="7F7F7F"/>
              </a:buClr>
              <a:buSzPts val="2000"/>
              <a:buChar char="•"/>
              <a:defRPr sz="2000"/>
            </a:lvl9pPr>
          </a:lstStyle>
          <a:p>
            <a:endParaRPr/>
          </a:p>
        </p:txBody>
      </p:sp>
      <p:sp>
        <p:nvSpPr>
          <p:cNvPr id="67" name="Google Shape;67;p40"/>
          <p:cNvSpPr txBox="1">
            <a:spLocks noGrp="1"/>
          </p:cNvSpPr>
          <p:nvPr>
            <p:ph type="body" idx="2"/>
          </p:nvPr>
        </p:nvSpPr>
        <p:spPr>
          <a:xfrm>
            <a:off x="7876117" y="2438401"/>
            <a:ext cx="4011084" cy="3687763"/>
          </a:xfrm>
          <a:prstGeom prst="rect">
            <a:avLst/>
          </a:prstGeom>
          <a:noFill/>
          <a:ln>
            <a:noFill/>
          </a:ln>
        </p:spPr>
        <p:txBody>
          <a:bodyPr spcFirstLastPara="1" wrap="square" lIns="91425" tIns="45700" rIns="91425" bIns="45700" anchor="t" anchorCtr="0">
            <a:normAutofit/>
          </a:bodyPr>
          <a:lstStyle>
            <a:lvl1pPr marL="457200" lvl="0" indent="-228600" algn="ctr">
              <a:lnSpc>
                <a:spcPct val="125000"/>
              </a:lnSpc>
              <a:spcBef>
                <a:spcPts val="320"/>
              </a:spcBef>
              <a:spcAft>
                <a:spcPts val="0"/>
              </a:spcAft>
              <a:buClr>
                <a:srgbClr val="7F7F7F"/>
              </a:buClr>
              <a:buSzPts val="1600"/>
              <a:buNone/>
              <a:defRPr sz="1600"/>
            </a:lvl1pPr>
            <a:lvl2pPr marL="914400" lvl="1" indent="-228600" algn="l">
              <a:spcBef>
                <a:spcPts val="240"/>
              </a:spcBef>
              <a:spcAft>
                <a:spcPts val="0"/>
              </a:spcAft>
              <a:buClr>
                <a:srgbClr val="7F7F7F"/>
              </a:buClr>
              <a:buSzPts val="1200"/>
              <a:buNone/>
              <a:defRPr sz="1200"/>
            </a:lvl2pPr>
            <a:lvl3pPr marL="1371600" lvl="2" indent="-228600" algn="l">
              <a:spcBef>
                <a:spcPts val="200"/>
              </a:spcBef>
              <a:spcAft>
                <a:spcPts val="0"/>
              </a:spcAft>
              <a:buClr>
                <a:srgbClr val="7F7F7F"/>
              </a:buClr>
              <a:buSzPts val="1000"/>
              <a:buNone/>
              <a:defRPr sz="1000"/>
            </a:lvl3pPr>
            <a:lvl4pPr marL="1828800" lvl="3" indent="-228600" algn="l">
              <a:spcBef>
                <a:spcPts val="180"/>
              </a:spcBef>
              <a:spcAft>
                <a:spcPts val="0"/>
              </a:spcAft>
              <a:buClr>
                <a:srgbClr val="7F7F7F"/>
              </a:buClr>
              <a:buSzPts val="900"/>
              <a:buNone/>
              <a:defRPr sz="900"/>
            </a:lvl4pPr>
            <a:lvl5pPr marL="2286000" lvl="4" indent="-228600" algn="l">
              <a:spcBef>
                <a:spcPts val="180"/>
              </a:spcBef>
              <a:spcAft>
                <a:spcPts val="0"/>
              </a:spcAft>
              <a:buClr>
                <a:srgbClr val="7F7F7F"/>
              </a:buClr>
              <a:buSzPts val="900"/>
              <a:buNone/>
              <a:defRPr sz="900"/>
            </a:lvl5pPr>
            <a:lvl6pPr marL="2743200" lvl="5" indent="-228600" algn="l">
              <a:spcBef>
                <a:spcPts val="180"/>
              </a:spcBef>
              <a:spcAft>
                <a:spcPts val="0"/>
              </a:spcAft>
              <a:buClr>
                <a:srgbClr val="7F7F7F"/>
              </a:buClr>
              <a:buSzPts val="900"/>
              <a:buNone/>
              <a:defRPr sz="900"/>
            </a:lvl6pPr>
            <a:lvl7pPr marL="3200400" lvl="6" indent="-228600" algn="l">
              <a:spcBef>
                <a:spcPts val="180"/>
              </a:spcBef>
              <a:spcAft>
                <a:spcPts val="0"/>
              </a:spcAft>
              <a:buClr>
                <a:srgbClr val="7F7F7F"/>
              </a:buClr>
              <a:buSzPts val="900"/>
              <a:buNone/>
              <a:defRPr sz="900"/>
            </a:lvl7pPr>
            <a:lvl8pPr marL="3657600" lvl="7" indent="-228600" algn="l">
              <a:spcBef>
                <a:spcPts val="180"/>
              </a:spcBef>
              <a:spcAft>
                <a:spcPts val="0"/>
              </a:spcAft>
              <a:buClr>
                <a:srgbClr val="7F7F7F"/>
              </a:buClr>
              <a:buSzPts val="900"/>
              <a:buNone/>
              <a:defRPr sz="900"/>
            </a:lvl8pPr>
            <a:lvl9pPr marL="4114800" lvl="8" indent="-228600" algn="l">
              <a:spcBef>
                <a:spcPts val="180"/>
              </a:spcBef>
              <a:spcAft>
                <a:spcPts val="0"/>
              </a:spcAft>
              <a:buClr>
                <a:srgbClr val="7F7F7F"/>
              </a:buClr>
              <a:buSzPts val="900"/>
              <a:buNone/>
              <a:defRPr sz="900"/>
            </a:lvl9pPr>
          </a:lstStyle>
          <a:p>
            <a:endParaRPr/>
          </a:p>
        </p:txBody>
      </p:sp>
      <p:sp>
        <p:nvSpPr>
          <p:cNvPr id="68" name="Google Shape;68;p40"/>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0"/>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0"/>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41"/>
          <p:cNvSpPr txBox="1">
            <a:spLocks noGrp="1"/>
          </p:cNvSpPr>
          <p:nvPr>
            <p:ph type="title"/>
          </p:nvPr>
        </p:nvSpPr>
        <p:spPr>
          <a:xfrm>
            <a:off x="2239435" y="228600"/>
            <a:ext cx="7615765" cy="89535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800"/>
              <a:buFont typeface="Palatino Linotype"/>
              <a:buNone/>
              <a:defRPr sz="28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41"/>
          <p:cNvSpPr>
            <a:spLocks noGrp="1"/>
          </p:cNvSpPr>
          <p:nvPr>
            <p:ph type="pic" idx="2"/>
          </p:nvPr>
        </p:nvSpPr>
        <p:spPr>
          <a:xfrm>
            <a:off x="2010835" y="1143000"/>
            <a:ext cx="8072965" cy="4541044"/>
          </a:xfrm>
          <a:prstGeom prst="rect">
            <a:avLst/>
          </a:prstGeom>
          <a:noFill/>
          <a:ln w="76200" cap="flat" cmpd="sng">
            <a:solidFill>
              <a:schemeClr val="lt1"/>
            </a:solidFill>
            <a:prstDash val="solid"/>
            <a:round/>
            <a:headEnd type="none" w="sm" len="sm"/>
            <a:tailEnd type="none" w="sm" len="sm"/>
          </a:ln>
          <a:effectLst>
            <a:outerShdw blurRad="88900" dist="50800" dir="5400000" algn="ctr" rotWithShape="0">
              <a:srgbClr val="000000">
                <a:alpha val="24705"/>
              </a:srgbClr>
            </a:outerShdw>
          </a:effectLst>
        </p:spPr>
      </p:sp>
      <p:sp>
        <p:nvSpPr>
          <p:cNvPr id="74" name="Google Shape;74;p41"/>
          <p:cNvSpPr txBox="1">
            <a:spLocks noGrp="1"/>
          </p:cNvSpPr>
          <p:nvPr>
            <p:ph type="body" idx="1"/>
          </p:nvPr>
        </p:nvSpPr>
        <p:spPr>
          <a:xfrm>
            <a:off x="2239435" y="5810250"/>
            <a:ext cx="7615765" cy="533400"/>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Clr>
                <a:srgbClr val="7F7F7F"/>
              </a:buClr>
              <a:buSzPts val="1600"/>
              <a:buNone/>
              <a:defRPr sz="1600"/>
            </a:lvl1pPr>
            <a:lvl2pPr marL="914400" lvl="1" indent="-228600" algn="l">
              <a:spcBef>
                <a:spcPts val="240"/>
              </a:spcBef>
              <a:spcAft>
                <a:spcPts val="0"/>
              </a:spcAft>
              <a:buClr>
                <a:srgbClr val="7F7F7F"/>
              </a:buClr>
              <a:buSzPts val="1200"/>
              <a:buNone/>
              <a:defRPr sz="1200"/>
            </a:lvl2pPr>
            <a:lvl3pPr marL="1371600" lvl="2" indent="-228600" algn="l">
              <a:spcBef>
                <a:spcPts val="200"/>
              </a:spcBef>
              <a:spcAft>
                <a:spcPts val="0"/>
              </a:spcAft>
              <a:buClr>
                <a:srgbClr val="7F7F7F"/>
              </a:buClr>
              <a:buSzPts val="1000"/>
              <a:buNone/>
              <a:defRPr sz="1000"/>
            </a:lvl3pPr>
            <a:lvl4pPr marL="1828800" lvl="3" indent="-228600" algn="l">
              <a:spcBef>
                <a:spcPts val="180"/>
              </a:spcBef>
              <a:spcAft>
                <a:spcPts val="0"/>
              </a:spcAft>
              <a:buClr>
                <a:srgbClr val="7F7F7F"/>
              </a:buClr>
              <a:buSzPts val="900"/>
              <a:buNone/>
              <a:defRPr sz="900"/>
            </a:lvl4pPr>
            <a:lvl5pPr marL="2286000" lvl="4" indent="-228600" algn="l">
              <a:spcBef>
                <a:spcPts val="180"/>
              </a:spcBef>
              <a:spcAft>
                <a:spcPts val="0"/>
              </a:spcAft>
              <a:buClr>
                <a:srgbClr val="7F7F7F"/>
              </a:buClr>
              <a:buSzPts val="900"/>
              <a:buNone/>
              <a:defRPr sz="900"/>
            </a:lvl5pPr>
            <a:lvl6pPr marL="2743200" lvl="5" indent="-228600" algn="l">
              <a:spcBef>
                <a:spcPts val="180"/>
              </a:spcBef>
              <a:spcAft>
                <a:spcPts val="0"/>
              </a:spcAft>
              <a:buClr>
                <a:srgbClr val="7F7F7F"/>
              </a:buClr>
              <a:buSzPts val="900"/>
              <a:buNone/>
              <a:defRPr sz="900"/>
            </a:lvl6pPr>
            <a:lvl7pPr marL="3200400" lvl="6" indent="-228600" algn="l">
              <a:spcBef>
                <a:spcPts val="180"/>
              </a:spcBef>
              <a:spcAft>
                <a:spcPts val="0"/>
              </a:spcAft>
              <a:buClr>
                <a:srgbClr val="7F7F7F"/>
              </a:buClr>
              <a:buSzPts val="900"/>
              <a:buNone/>
              <a:defRPr sz="900"/>
            </a:lvl7pPr>
            <a:lvl8pPr marL="3657600" lvl="7" indent="-228600" algn="l">
              <a:spcBef>
                <a:spcPts val="180"/>
              </a:spcBef>
              <a:spcAft>
                <a:spcPts val="0"/>
              </a:spcAft>
              <a:buClr>
                <a:srgbClr val="7F7F7F"/>
              </a:buClr>
              <a:buSzPts val="900"/>
              <a:buNone/>
              <a:defRPr sz="900"/>
            </a:lvl8pPr>
            <a:lvl9pPr marL="4114800" lvl="8" indent="-228600" algn="l">
              <a:spcBef>
                <a:spcPts val="180"/>
              </a:spcBef>
              <a:spcAft>
                <a:spcPts val="0"/>
              </a:spcAft>
              <a:buClr>
                <a:srgbClr val="7F7F7F"/>
              </a:buClr>
              <a:buSzPts val="900"/>
              <a:buNone/>
              <a:defRPr sz="900"/>
            </a:lvl9pPr>
          </a:lstStyle>
          <a:p>
            <a:endParaRPr/>
          </a:p>
        </p:txBody>
      </p:sp>
      <p:sp>
        <p:nvSpPr>
          <p:cNvPr id="75" name="Google Shape;75;p41"/>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1"/>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1"/>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42"/>
          <p:cNvSpPr txBox="1">
            <a:spLocks noGrp="1"/>
          </p:cNvSpPr>
          <p:nvPr>
            <p:ph type="title"/>
          </p:nvPr>
        </p:nvSpPr>
        <p:spPr>
          <a:xfrm>
            <a:off x="609600" y="0"/>
            <a:ext cx="10972800" cy="1600200"/>
          </a:xfrm>
          <a:prstGeom prst="rect">
            <a:avLst/>
          </a:prstGeom>
          <a:noFill/>
          <a:ln>
            <a:noFill/>
          </a:ln>
        </p:spPr>
        <p:txBody>
          <a:bodyPr spcFirstLastPara="1" wrap="square" lIns="91425" tIns="45700" rIns="91425" bIns="45700" anchor="b" anchorCtr="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2"/>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rgbClr val="7F7F7F"/>
              </a:buClr>
              <a:buSzPts val="1800"/>
              <a:buChar char="•"/>
              <a:defRPr/>
            </a:lvl1pPr>
            <a:lvl2pPr marL="914400" lvl="1" indent="-342900" algn="l">
              <a:spcBef>
                <a:spcPts val="360"/>
              </a:spcBef>
              <a:spcAft>
                <a:spcPts val="0"/>
              </a:spcAft>
              <a:buClr>
                <a:srgbClr val="7F7F7F"/>
              </a:buClr>
              <a:buSzPts val="1800"/>
              <a:buChar char="o"/>
              <a:defRPr/>
            </a:lvl2pPr>
            <a:lvl3pPr marL="1371600" lvl="2" indent="-342900" algn="l">
              <a:spcBef>
                <a:spcPts val="360"/>
              </a:spcBef>
              <a:spcAft>
                <a:spcPts val="0"/>
              </a:spcAft>
              <a:buClr>
                <a:srgbClr val="7F7F7F"/>
              </a:buClr>
              <a:buSzPts val="1800"/>
              <a:buChar char="•"/>
              <a:defRPr/>
            </a:lvl3pPr>
            <a:lvl4pPr marL="1828800" lvl="3" indent="-342900" algn="l">
              <a:spcBef>
                <a:spcPts val="360"/>
              </a:spcBef>
              <a:spcAft>
                <a:spcPts val="0"/>
              </a:spcAft>
              <a:buClr>
                <a:srgbClr val="7F7F7F"/>
              </a:buClr>
              <a:buSzPts val="1800"/>
              <a:buChar char="o"/>
              <a:defRPr/>
            </a:lvl4pPr>
            <a:lvl5pPr marL="2286000" lvl="4" indent="-342900" algn="l">
              <a:spcBef>
                <a:spcPts val="360"/>
              </a:spcBef>
              <a:spcAft>
                <a:spcPts val="0"/>
              </a:spcAft>
              <a:buClr>
                <a:srgbClr val="7F7F7F"/>
              </a:buClr>
              <a:buSzPts val="1800"/>
              <a:buChar char="•"/>
              <a:defRPr/>
            </a:lvl5pPr>
            <a:lvl6pPr marL="2743200" lvl="5" indent="-342900" algn="l">
              <a:spcBef>
                <a:spcPts val="360"/>
              </a:spcBef>
              <a:spcAft>
                <a:spcPts val="0"/>
              </a:spcAft>
              <a:buClr>
                <a:srgbClr val="7F7F7F"/>
              </a:buClr>
              <a:buSzPts val="1800"/>
              <a:buChar char="o"/>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o"/>
              <a:defRPr/>
            </a:lvl8pPr>
            <a:lvl9pPr marL="4114800" lvl="8" indent="-342900" algn="l">
              <a:spcBef>
                <a:spcPts val="360"/>
              </a:spcBef>
              <a:spcAft>
                <a:spcPts val="0"/>
              </a:spcAft>
              <a:buClr>
                <a:srgbClr val="7F7F7F"/>
              </a:buClr>
              <a:buSzPts val="1800"/>
              <a:buChar char="•"/>
              <a:defRPr/>
            </a:lvl9pPr>
          </a:lstStyle>
          <a:p>
            <a:endParaRPr/>
          </a:p>
        </p:txBody>
      </p:sp>
      <p:sp>
        <p:nvSpPr>
          <p:cNvPr id="81" name="Google Shape;81;p42"/>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2"/>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2"/>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43"/>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b" anchorCtr="0">
            <a:noAutofit/>
          </a:bodyPr>
          <a:lstStyle>
            <a:lvl1pPr lvl="0" algn="ctr">
              <a:lnSpc>
                <a:spcPct val="322222"/>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43"/>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rgbClr val="7F7F7F"/>
              </a:buClr>
              <a:buSzPts val="1800"/>
              <a:buChar char="•"/>
              <a:defRPr/>
            </a:lvl1pPr>
            <a:lvl2pPr marL="914400" lvl="1" indent="-342900" algn="l">
              <a:spcBef>
                <a:spcPts val="360"/>
              </a:spcBef>
              <a:spcAft>
                <a:spcPts val="0"/>
              </a:spcAft>
              <a:buClr>
                <a:srgbClr val="7F7F7F"/>
              </a:buClr>
              <a:buSzPts val="1800"/>
              <a:buChar char="o"/>
              <a:defRPr/>
            </a:lvl2pPr>
            <a:lvl3pPr marL="1371600" lvl="2" indent="-342900" algn="l">
              <a:spcBef>
                <a:spcPts val="360"/>
              </a:spcBef>
              <a:spcAft>
                <a:spcPts val="0"/>
              </a:spcAft>
              <a:buClr>
                <a:srgbClr val="7F7F7F"/>
              </a:buClr>
              <a:buSzPts val="1800"/>
              <a:buChar char="•"/>
              <a:defRPr/>
            </a:lvl3pPr>
            <a:lvl4pPr marL="1828800" lvl="3" indent="-342900" algn="l">
              <a:spcBef>
                <a:spcPts val="360"/>
              </a:spcBef>
              <a:spcAft>
                <a:spcPts val="0"/>
              </a:spcAft>
              <a:buClr>
                <a:srgbClr val="7F7F7F"/>
              </a:buClr>
              <a:buSzPts val="1800"/>
              <a:buChar char="o"/>
              <a:defRPr/>
            </a:lvl4pPr>
            <a:lvl5pPr marL="2286000" lvl="4" indent="-342900" algn="l">
              <a:spcBef>
                <a:spcPts val="360"/>
              </a:spcBef>
              <a:spcAft>
                <a:spcPts val="0"/>
              </a:spcAft>
              <a:buClr>
                <a:srgbClr val="7F7F7F"/>
              </a:buClr>
              <a:buSzPts val="1800"/>
              <a:buChar char="•"/>
              <a:defRPr/>
            </a:lvl5pPr>
            <a:lvl6pPr marL="2743200" lvl="5" indent="-342900" algn="l">
              <a:spcBef>
                <a:spcPts val="360"/>
              </a:spcBef>
              <a:spcAft>
                <a:spcPts val="0"/>
              </a:spcAft>
              <a:buClr>
                <a:srgbClr val="7F7F7F"/>
              </a:buClr>
              <a:buSzPts val="1800"/>
              <a:buChar char="o"/>
              <a:defRPr/>
            </a:lvl6pPr>
            <a:lvl7pPr marL="3200400" lvl="6" indent="-342900" algn="l">
              <a:spcBef>
                <a:spcPts val="360"/>
              </a:spcBef>
              <a:spcAft>
                <a:spcPts val="0"/>
              </a:spcAft>
              <a:buClr>
                <a:srgbClr val="7F7F7F"/>
              </a:buClr>
              <a:buSzPts val="1800"/>
              <a:buChar char="•"/>
              <a:defRPr/>
            </a:lvl7pPr>
            <a:lvl8pPr marL="3657600" lvl="7" indent="-342900" algn="l">
              <a:spcBef>
                <a:spcPts val="360"/>
              </a:spcBef>
              <a:spcAft>
                <a:spcPts val="0"/>
              </a:spcAft>
              <a:buClr>
                <a:srgbClr val="7F7F7F"/>
              </a:buClr>
              <a:buSzPts val="1800"/>
              <a:buChar char="o"/>
              <a:defRPr/>
            </a:lvl8pPr>
            <a:lvl9pPr marL="4114800" lvl="8" indent="-342900" algn="l">
              <a:spcBef>
                <a:spcPts val="360"/>
              </a:spcBef>
              <a:spcAft>
                <a:spcPts val="0"/>
              </a:spcAft>
              <a:buClr>
                <a:srgbClr val="7F7F7F"/>
              </a:buClr>
              <a:buSzPts val="1800"/>
              <a:buChar char="•"/>
              <a:defRPr/>
            </a:lvl9pPr>
          </a:lstStyle>
          <a:p>
            <a:endParaRPr/>
          </a:p>
        </p:txBody>
      </p:sp>
      <p:sp>
        <p:nvSpPr>
          <p:cNvPr id="87" name="Google Shape;87;p43"/>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3"/>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43"/>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50000">
              <a:schemeClr val="lt1"/>
            </a:gs>
            <a:gs pos="76000">
              <a:srgbClr val="F3F3F3"/>
            </a:gs>
            <a:gs pos="92000">
              <a:srgbClr val="D8D8D8"/>
            </a:gs>
            <a:gs pos="100000">
              <a:srgbClr val="D8D8D8"/>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609600" y="0"/>
            <a:ext cx="10972800" cy="1600200"/>
          </a:xfrm>
          <a:prstGeom prst="rect">
            <a:avLst/>
          </a:prstGeom>
          <a:noFill/>
          <a:ln>
            <a:noFill/>
          </a:ln>
        </p:spPr>
        <p:txBody>
          <a:bodyPr spcFirstLastPara="1" wrap="square" lIns="91425" tIns="45700" rIns="91425" bIns="45700" anchor="b" anchorCtr="0">
            <a:noAutofit/>
          </a:bodyPr>
          <a:lstStyle>
            <a:lvl1pPr marR="0" lvl="0" algn="ctr" rtl="0">
              <a:lnSpc>
                <a:spcPct val="107407"/>
              </a:lnSpc>
              <a:spcBef>
                <a:spcPts val="0"/>
              </a:spcBef>
              <a:spcAft>
                <a:spcPts val="0"/>
              </a:spcAft>
              <a:buClr>
                <a:schemeClr val="dk2"/>
              </a:buClr>
              <a:buSzPts val="5400"/>
              <a:buFont typeface="Palatino Linotype"/>
              <a:buNone/>
              <a:defRPr sz="5400" b="0" i="0" u="none" strike="noStrike" cap="none">
                <a:solidFill>
                  <a:schemeClr val="dk2"/>
                </a:solidFill>
                <a:latin typeface="Palatino Linotype"/>
                <a:ea typeface="Palatino Linotype"/>
                <a:cs typeface="Palatino Linotype"/>
                <a:sym typeface="Palatino Linotyp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rgbClr val="7F7F7F"/>
              </a:buClr>
              <a:buSzPts val="2400"/>
              <a:buFont typeface="Arial"/>
              <a:buChar char="•"/>
              <a:defRPr sz="2400" b="0" i="0" u="none" strike="noStrike" cap="none">
                <a:solidFill>
                  <a:srgbClr val="7F7F7F"/>
                </a:solidFill>
                <a:latin typeface="Century Gothic"/>
                <a:ea typeface="Century Gothic"/>
                <a:cs typeface="Century Gothic"/>
                <a:sym typeface="Century Gothic"/>
              </a:defRPr>
            </a:lvl1pPr>
            <a:lvl2pPr marL="914400" marR="0" lvl="1" indent="-330200" algn="l" rtl="0">
              <a:spcBef>
                <a:spcPts val="320"/>
              </a:spcBef>
              <a:spcAft>
                <a:spcPts val="0"/>
              </a:spcAft>
              <a:buClr>
                <a:srgbClr val="7F7F7F"/>
              </a:buClr>
              <a:buSzPts val="1600"/>
              <a:buFont typeface="Courier New"/>
              <a:buChar char="o"/>
              <a:defRPr sz="1600" b="0" i="0" u="none" strike="noStrike" cap="none">
                <a:solidFill>
                  <a:srgbClr val="7F7F7F"/>
                </a:solidFill>
                <a:latin typeface="Century Gothic"/>
                <a:ea typeface="Century Gothic"/>
                <a:cs typeface="Century Gothic"/>
                <a:sym typeface="Century Gothic"/>
              </a:defRPr>
            </a:lvl2pPr>
            <a:lvl3pPr marL="1371600" marR="0" lvl="2" indent="-330200" algn="l" rtl="0">
              <a:spcBef>
                <a:spcPts val="320"/>
              </a:spcBef>
              <a:spcAft>
                <a:spcPts val="0"/>
              </a:spcAft>
              <a:buClr>
                <a:srgbClr val="7F7F7F"/>
              </a:buClr>
              <a:buSzPts val="1600"/>
              <a:buFont typeface="Arial"/>
              <a:buChar char="•"/>
              <a:defRPr sz="1600" b="0" i="0" u="none" strike="noStrike" cap="none">
                <a:solidFill>
                  <a:srgbClr val="7F7F7F"/>
                </a:solidFill>
                <a:latin typeface="Century Gothic"/>
                <a:ea typeface="Century Gothic"/>
                <a:cs typeface="Century Gothic"/>
                <a:sym typeface="Century Gothic"/>
              </a:defRPr>
            </a:lvl3pPr>
            <a:lvl4pPr marL="1828800" marR="0" lvl="3" indent="-330200" algn="l" rtl="0">
              <a:spcBef>
                <a:spcPts val="320"/>
              </a:spcBef>
              <a:spcAft>
                <a:spcPts val="0"/>
              </a:spcAft>
              <a:buClr>
                <a:srgbClr val="7F7F7F"/>
              </a:buClr>
              <a:buSzPts val="1600"/>
              <a:buFont typeface="Courier New"/>
              <a:buChar char="o"/>
              <a:defRPr sz="1600" b="0" i="0" u="none" strike="noStrike" cap="none">
                <a:solidFill>
                  <a:srgbClr val="7F7F7F"/>
                </a:solidFill>
                <a:latin typeface="Century Gothic"/>
                <a:ea typeface="Century Gothic"/>
                <a:cs typeface="Century Gothic"/>
                <a:sym typeface="Century Gothic"/>
              </a:defRPr>
            </a:lvl4pPr>
            <a:lvl5pPr marL="2286000" marR="0" lvl="4" indent="-330200" algn="l" rtl="0">
              <a:spcBef>
                <a:spcPts val="320"/>
              </a:spcBef>
              <a:spcAft>
                <a:spcPts val="0"/>
              </a:spcAft>
              <a:buClr>
                <a:srgbClr val="7F7F7F"/>
              </a:buClr>
              <a:buSzPts val="1600"/>
              <a:buFont typeface="Arial"/>
              <a:buChar char="•"/>
              <a:defRPr sz="1600" b="0" i="0" u="none" strike="noStrike" cap="none">
                <a:solidFill>
                  <a:srgbClr val="7F7F7F"/>
                </a:solidFill>
                <a:latin typeface="Century Gothic"/>
                <a:ea typeface="Century Gothic"/>
                <a:cs typeface="Century Gothic"/>
                <a:sym typeface="Century Gothic"/>
              </a:defRPr>
            </a:lvl5pPr>
            <a:lvl6pPr marL="2743200" marR="0" lvl="5" indent="-330200" algn="l" rtl="0">
              <a:spcBef>
                <a:spcPts val="320"/>
              </a:spcBef>
              <a:spcAft>
                <a:spcPts val="0"/>
              </a:spcAft>
              <a:buClr>
                <a:srgbClr val="7F7F7F"/>
              </a:buClr>
              <a:buSzPts val="1600"/>
              <a:buFont typeface="Courier New"/>
              <a:buChar char="o"/>
              <a:defRPr sz="1600" b="0" i="0" u="none" strike="noStrike" cap="none">
                <a:solidFill>
                  <a:srgbClr val="7F7F7F"/>
                </a:solidFill>
                <a:latin typeface="Century Gothic"/>
                <a:ea typeface="Century Gothic"/>
                <a:cs typeface="Century Gothic"/>
                <a:sym typeface="Century Gothic"/>
              </a:defRPr>
            </a:lvl6pPr>
            <a:lvl7pPr marL="3200400" marR="0" lvl="6" indent="-330200" algn="l" rtl="0">
              <a:spcBef>
                <a:spcPts val="320"/>
              </a:spcBef>
              <a:spcAft>
                <a:spcPts val="0"/>
              </a:spcAft>
              <a:buClr>
                <a:srgbClr val="7F7F7F"/>
              </a:buClr>
              <a:buSzPts val="1600"/>
              <a:buFont typeface="Arial"/>
              <a:buChar char="•"/>
              <a:defRPr sz="1600" b="0" i="0" u="none" strike="noStrike" cap="none">
                <a:solidFill>
                  <a:srgbClr val="7F7F7F"/>
                </a:solidFill>
                <a:latin typeface="Century Gothic"/>
                <a:ea typeface="Century Gothic"/>
                <a:cs typeface="Century Gothic"/>
                <a:sym typeface="Century Gothic"/>
              </a:defRPr>
            </a:lvl7pPr>
            <a:lvl8pPr marL="3657600" marR="0" lvl="7" indent="-330200" algn="l" rtl="0">
              <a:spcBef>
                <a:spcPts val="320"/>
              </a:spcBef>
              <a:spcAft>
                <a:spcPts val="0"/>
              </a:spcAft>
              <a:buClr>
                <a:srgbClr val="7F7F7F"/>
              </a:buClr>
              <a:buSzPts val="1600"/>
              <a:buFont typeface="Courier New"/>
              <a:buChar char="o"/>
              <a:defRPr sz="1600" b="0" i="0" u="none" strike="noStrike" cap="none">
                <a:solidFill>
                  <a:srgbClr val="7F7F7F"/>
                </a:solidFill>
                <a:latin typeface="Century Gothic"/>
                <a:ea typeface="Century Gothic"/>
                <a:cs typeface="Century Gothic"/>
                <a:sym typeface="Century Gothic"/>
              </a:defRPr>
            </a:lvl8pPr>
            <a:lvl9pPr marL="4114800" marR="0" lvl="8" indent="-330200" algn="l" rtl="0">
              <a:spcBef>
                <a:spcPts val="320"/>
              </a:spcBef>
              <a:spcAft>
                <a:spcPts val="0"/>
              </a:spcAft>
              <a:buClr>
                <a:srgbClr val="7F7F7F"/>
              </a:buClr>
              <a:buSzPts val="1600"/>
              <a:buFont typeface="Arial"/>
              <a:buChar char="•"/>
              <a:defRPr sz="1600" b="0" i="0" u="none" strike="noStrike" cap="none">
                <a:solidFill>
                  <a:srgbClr val="7F7F7F"/>
                </a:solidFill>
                <a:latin typeface="Century Gothic"/>
                <a:ea typeface="Century Gothic"/>
                <a:cs typeface="Century Gothic"/>
                <a:sym typeface="Century Gothic"/>
              </a:defRPr>
            </a:lvl9pPr>
          </a:lstStyle>
          <a:p>
            <a:endParaRPr/>
          </a:p>
        </p:txBody>
      </p:sp>
      <p:sp>
        <p:nvSpPr>
          <p:cNvPr id="12" name="Google Shape;12;p32"/>
          <p:cNvSpPr txBox="1">
            <a:spLocks noGrp="1"/>
          </p:cNvSpPr>
          <p:nvPr>
            <p:ph type="dt" idx="10"/>
          </p:nvPr>
        </p:nvSpPr>
        <p:spPr>
          <a:xfrm>
            <a:off x="8484463" y="6356351"/>
            <a:ext cx="2781300" cy="365125"/>
          </a:xfrm>
          <a:prstGeom prst="rect">
            <a:avLst/>
          </a:prstGeom>
          <a:noFill/>
          <a:ln>
            <a:noFill/>
          </a:ln>
        </p:spPr>
        <p:txBody>
          <a:bodyPr spcFirstLastPara="1" wrap="square" lIns="91425" tIns="45700" rIns="45700" bIns="45700" anchor="ctr" anchorCtr="0">
            <a:noAutofit/>
          </a:bodyPr>
          <a:lstStyle>
            <a:lvl1pPr marR="0" lvl="0" algn="r" rtl="0">
              <a:spcBef>
                <a:spcPts val="0"/>
              </a:spcBef>
              <a:spcAft>
                <a:spcPts val="0"/>
              </a:spcAft>
              <a:buSzPts val="1400"/>
              <a:buNone/>
              <a:defRPr sz="1200" b="0" i="0" u="none" strike="noStrike" cap="none">
                <a:solidFill>
                  <a:srgbClr val="595959"/>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endParaRPr/>
          </a:p>
        </p:txBody>
      </p:sp>
      <p:sp>
        <p:nvSpPr>
          <p:cNvPr id="13" name="Google Shape;13;p32"/>
          <p:cNvSpPr txBox="1">
            <a:spLocks noGrp="1"/>
          </p:cNvSpPr>
          <p:nvPr>
            <p:ph type="ftr" idx="11"/>
          </p:nvPr>
        </p:nvSpPr>
        <p:spPr>
          <a:xfrm>
            <a:off x="878887" y="6356351"/>
            <a:ext cx="3797300" cy="365125"/>
          </a:xfrm>
          <a:prstGeom prst="rect">
            <a:avLst/>
          </a:prstGeom>
          <a:noFill/>
          <a:ln>
            <a:noFill/>
          </a:ln>
        </p:spPr>
        <p:txBody>
          <a:bodyPr spcFirstLastPara="1" wrap="square" lIns="45700" tIns="45700" rIns="91425" bIns="45700" anchor="ctr" anchorCtr="0">
            <a:noAutofit/>
          </a:bodyPr>
          <a:lstStyle>
            <a:lvl1pPr marR="0" lvl="0" algn="l" rtl="0">
              <a:spcBef>
                <a:spcPts val="0"/>
              </a:spcBef>
              <a:spcAft>
                <a:spcPts val="0"/>
              </a:spcAft>
              <a:buSzPts val="1400"/>
              <a:buNone/>
              <a:defRPr sz="1200" b="0" i="0" u="none" strike="noStrike" cap="none">
                <a:solidFill>
                  <a:srgbClr val="595959"/>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2pPr>
            <a:lvl3pPr marR="0" lvl="2"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3pPr>
            <a:lvl4pPr marR="0" lvl="3"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4pPr>
            <a:lvl5pPr marR="0" lvl="4"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5pPr>
            <a:lvl6pPr marR="0" lvl="5"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6pPr>
            <a:lvl7pPr marR="0" lvl="6"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7pPr>
            <a:lvl8pPr marR="0" lvl="7"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8pPr>
            <a:lvl9pPr marR="0" lvl="8" algn="l" rtl="0">
              <a:spcBef>
                <a:spcPts val="0"/>
              </a:spcBef>
              <a:spcAft>
                <a:spcPts val="0"/>
              </a:spcAft>
              <a:buSzPts val="1400"/>
              <a:buNone/>
              <a:defRPr sz="1800" b="0" i="0" u="none" strike="noStrike" cap="none">
                <a:solidFill>
                  <a:schemeClr val="dk1"/>
                </a:solidFill>
                <a:latin typeface="Palatino Linotype"/>
                <a:ea typeface="Palatino Linotype"/>
                <a:cs typeface="Palatino Linotype"/>
                <a:sym typeface="Palatino Linotype"/>
              </a:defRPr>
            </a:lvl9pPr>
          </a:lstStyle>
          <a:p>
            <a:endParaRPr/>
          </a:p>
        </p:txBody>
      </p:sp>
      <p:sp>
        <p:nvSpPr>
          <p:cNvPr id="14" name="Google Shape;14;p32"/>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lvl1pPr marL="0" marR="0" lvl="0" indent="0" algn="l" rtl="0">
              <a:spcBef>
                <a:spcPts val="0"/>
              </a:spcBef>
              <a:buNone/>
              <a:defRPr sz="1200" b="0" i="0" u="none" strike="noStrike" cap="none">
                <a:solidFill>
                  <a:srgbClr val="595959"/>
                </a:solidFill>
                <a:latin typeface="Century Gothic"/>
                <a:ea typeface="Century Gothic"/>
                <a:cs typeface="Century Gothic"/>
                <a:sym typeface="Century Gothic"/>
              </a:defRPr>
            </a:lvl1pPr>
            <a:lvl2pPr marL="0" marR="0" lvl="1" indent="0" algn="l" rtl="0">
              <a:spcBef>
                <a:spcPts val="0"/>
              </a:spcBef>
              <a:buNone/>
              <a:defRPr sz="1200" b="0" i="0" u="none" strike="noStrike" cap="none">
                <a:solidFill>
                  <a:srgbClr val="595959"/>
                </a:solidFill>
                <a:latin typeface="Century Gothic"/>
                <a:ea typeface="Century Gothic"/>
                <a:cs typeface="Century Gothic"/>
                <a:sym typeface="Century Gothic"/>
              </a:defRPr>
            </a:lvl2pPr>
            <a:lvl3pPr marL="0" marR="0" lvl="2" indent="0" algn="l" rtl="0">
              <a:spcBef>
                <a:spcPts val="0"/>
              </a:spcBef>
              <a:buNone/>
              <a:defRPr sz="1200" b="0" i="0" u="none" strike="noStrike" cap="none">
                <a:solidFill>
                  <a:srgbClr val="595959"/>
                </a:solidFill>
                <a:latin typeface="Century Gothic"/>
                <a:ea typeface="Century Gothic"/>
                <a:cs typeface="Century Gothic"/>
                <a:sym typeface="Century Gothic"/>
              </a:defRPr>
            </a:lvl3pPr>
            <a:lvl4pPr marL="0" marR="0" lvl="3" indent="0" algn="l" rtl="0">
              <a:spcBef>
                <a:spcPts val="0"/>
              </a:spcBef>
              <a:buNone/>
              <a:defRPr sz="1200" b="0" i="0" u="none" strike="noStrike" cap="none">
                <a:solidFill>
                  <a:srgbClr val="595959"/>
                </a:solidFill>
                <a:latin typeface="Century Gothic"/>
                <a:ea typeface="Century Gothic"/>
                <a:cs typeface="Century Gothic"/>
                <a:sym typeface="Century Gothic"/>
              </a:defRPr>
            </a:lvl4pPr>
            <a:lvl5pPr marL="0" marR="0" lvl="4" indent="0" algn="l" rtl="0">
              <a:spcBef>
                <a:spcPts val="0"/>
              </a:spcBef>
              <a:buNone/>
              <a:defRPr sz="1200" b="0" i="0" u="none" strike="noStrike" cap="none">
                <a:solidFill>
                  <a:srgbClr val="595959"/>
                </a:solidFill>
                <a:latin typeface="Century Gothic"/>
                <a:ea typeface="Century Gothic"/>
                <a:cs typeface="Century Gothic"/>
                <a:sym typeface="Century Gothic"/>
              </a:defRPr>
            </a:lvl5pPr>
            <a:lvl6pPr marL="0" marR="0" lvl="5" indent="0" algn="l" rtl="0">
              <a:spcBef>
                <a:spcPts val="0"/>
              </a:spcBef>
              <a:buNone/>
              <a:defRPr sz="1200" b="0" i="0" u="none" strike="noStrike" cap="none">
                <a:solidFill>
                  <a:srgbClr val="595959"/>
                </a:solidFill>
                <a:latin typeface="Century Gothic"/>
                <a:ea typeface="Century Gothic"/>
                <a:cs typeface="Century Gothic"/>
                <a:sym typeface="Century Gothic"/>
              </a:defRPr>
            </a:lvl6pPr>
            <a:lvl7pPr marL="0" marR="0" lvl="6" indent="0" algn="l" rtl="0">
              <a:spcBef>
                <a:spcPts val="0"/>
              </a:spcBef>
              <a:buNone/>
              <a:defRPr sz="1200" b="0" i="0" u="none" strike="noStrike" cap="none">
                <a:solidFill>
                  <a:srgbClr val="595959"/>
                </a:solidFill>
                <a:latin typeface="Century Gothic"/>
                <a:ea typeface="Century Gothic"/>
                <a:cs typeface="Century Gothic"/>
                <a:sym typeface="Century Gothic"/>
              </a:defRPr>
            </a:lvl7pPr>
            <a:lvl8pPr marL="0" marR="0" lvl="7" indent="0" algn="l" rtl="0">
              <a:spcBef>
                <a:spcPts val="0"/>
              </a:spcBef>
              <a:buNone/>
              <a:defRPr sz="1200" b="0" i="0" u="none" strike="noStrike" cap="none">
                <a:solidFill>
                  <a:srgbClr val="595959"/>
                </a:solidFill>
                <a:latin typeface="Century Gothic"/>
                <a:ea typeface="Century Gothic"/>
                <a:cs typeface="Century Gothic"/>
                <a:sym typeface="Century Gothic"/>
              </a:defRPr>
            </a:lvl8pPr>
            <a:lvl9pPr marL="0" marR="0" lvl="8" indent="0" algn="l" rtl="0">
              <a:spcBef>
                <a:spcPts val="0"/>
              </a:spcBef>
              <a:buNone/>
              <a:defRPr sz="1200" b="0" i="0" u="none" strike="noStrike" cap="none">
                <a:solidFill>
                  <a:srgbClr val="595959"/>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15" name="Google Shape;15;p32"/>
          <p:cNvSpPr/>
          <p:nvPr/>
        </p:nvSpPr>
        <p:spPr>
          <a:xfrm>
            <a:off x="11277014" y="6499384"/>
            <a:ext cx="113029" cy="84772"/>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Palatino Linotype"/>
              <a:ea typeface="Palatino Linotype"/>
              <a:cs typeface="Palatino Linotype"/>
              <a:sym typeface="Palatino Linotype"/>
            </a:endParaRPr>
          </a:p>
        </p:txBody>
      </p:sp>
      <p:sp>
        <p:nvSpPr>
          <p:cNvPr id="16" name="Google Shape;16;p32"/>
          <p:cNvSpPr/>
          <p:nvPr/>
        </p:nvSpPr>
        <p:spPr>
          <a:xfrm>
            <a:off x="758826" y="6499384"/>
            <a:ext cx="113029" cy="84772"/>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Palatino Linotype"/>
              <a:ea typeface="Palatino Linotype"/>
              <a:cs typeface="Palatino Linotype"/>
              <a:sym typeface="Palatino Linotype"/>
            </a:endParaRPr>
          </a:p>
        </p:txBody>
      </p:sp>
      <p:pic>
        <p:nvPicPr>
          <p:cNvPr id="2" name="Google Shape;266;p40">
            <a:extLst>
              <a:ext uri="{FF2B5EF4-FFF2-40B4-BE49-F238E27FC236}">
                <a16:creationId xmlns:a16="http://schemas.microsoft.com/office/drawing/2014/main" id="{DA062D23-8750-D7F2-14FB-0FA8CBEE5184}"/>
              </a:ext>
            </a:extLst>
          </p:cNvPr>
          <p:cNvPicPr/>
          <p:nvPr userDrawn="1"/>
        </p:nvPicPr>
        <p:blipFill>
          <a:blip r:embed="rId12">
            <a:clrChange>
              <a:clrFrom>
                <a:srgbClr val="FFFFFF"/>
              </a:clrFrom>
              <a:clrTo>
                <a:srgbClr val="FFFFFF">
                  <a:alpha val="0"/>
                </a:srgbClr>
              </a:clrTo>
            </a:clrChange>
            <a:alphaModFix/>
          </a:blip>
          <a:stretch>
            <a:fillRect/>
          </a:stretch>
        </p:blipFill>
        <p:spPr>
          <a:xfrm>
            <a:off x="135863" y="136524"/>
            <a:ext cx="11817598" cy="59531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title"/>
          </p:nvPr>
        </p:nvSpPr>
        <p:spPr>
          <a:xfrm>
            <a:off x="431704" y="1159329"/>
            <a:ext cx="11229474" cy="4904301"/>
          </a:xfrm>
          <a:prstGeom prst="rect">
            <a:avLst/>
          </a:prstGeom>
          <a:noFill/>
          <a:ln>
            <a:noFill/>
          </a:ln>
        </p:spPr>
        <p:txBody>
          <a:bodyPr spcFirstLastPara="1" wrap="square" lIns="91425" tIns="45700" rIns="91425" bIns="45700" anchor="b" anchorCtr="0">
            <a:normAutofit/>
          </a:bodyPr>
          <a:lstStyle/>
          <a:p>
            <a:pPr lvl="0">
              <a:lnSpc>
                <a:spcPct val="107407"/>
              </a:lnSpc>
              <a:buClr>
                <a:srgbClr val="C00000"/>
              </a:buClr>
              <a:buSzPct val="100000"/>
            </a:pPr>
            <a:r>
              <a:rPr lang="en-US" b="1" dirty="0">
                <a:solidFill>
                  <a:srgbClr val="C00000"/>
                </a:solidFill>
              </a:rPr>
              <a:t>SET THEORY</a:t>
            </a:r>
            <a:br>
              <a:rPr lang="en-IN" b="1" dirty="0">
                <a:solidFill>
                  <a:srgbClr val="C00000"/>
                </a:solidFill>
              </a:rPr>
            </a:br>
            <a:r>
              <a:rPr lang="en-US" sz="5288" b="1" dirty="0">
                <a:solidFill>
                  <a:srgbClr val="C00000"/>
                </a:solidFill>
              </a:rPr>
              <a:t>LEVEL-L1</a:t>
            </a:r>
            <a:br>
              <a:rPr lang="en-US" b="1" dirty="0">
                <a:solidFill>
                  <a:srgbClr val="C00000"/>
                </a:solidFill>
              </a:rPr>
            </a:br>
            <a:br>
              <a:rPr lang="en-US" b="1" dirty="0">
                <a:solidFill>
                  <a:srgbClr val="C00000"/>
                </a:solidFill>
              </a:rPr>
            </a:br>
            <a:endParaRPr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3" name="Google Shape;110;p2"/>
          <p:cNvSpPr/>
          <p:nvPr/>
        </p:nvSpPr>
        <p:spPr>
          <a:xfrm>
            <a:off x="457199" y="2197502"/>
            <a:ext cx="11253019" cy="3259401"/>
          </a:xfrm>
          <a:prstGeom prst="roundRect">
            <a:avLst>
              <a:gd name="adj" fmla="val 3545"/>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mbria"/>
              <a:ea typeface="Cambria"/>
              <a:cs typeface="Cambria"/>
              <a:sym typeface="Cambria"/>
            </a:endParaRPr>
          </a:p>
        </p:txBody>
      </p:sp>
      <p:sp>
        <p:nvSpPr>
          <p:cNvPr id="2" name="Rectangle 1"/>
          <p:cNvSpPr/>
          <p:nvPr/>
        </p:nvSpPr>
        <p:spPr>
          <a:xfrm>
            <a:off x="713011" y="2429153"/>
            <a:ext cx="9900557" cy="2751522"/>
          </a:xfrm>
          <a:prstGeom prst="rect">
            <a:avLst/>
          </a:prstGeom>
        </p:spPr>
        <p:txBody>
          <a:bodyPr wrap="square">
            <a:spAutoFit/>
          </a:bodyPr>
          <a:lstStyle/>
          <a:p>
            <a:pPr marL="342900" lvl="1" indent="-342900">
              <a:lnSpc>
                <a:spcPct val="90000"/>
              </a:lnSpc>
              <a:buClr>
                <a:schemeClr val="dk1"/>
              </a:buClr>
              <a:buSzPts val="2800"/>
              <a:buFont typeface="Wingdings" panose="05000000000000000000" pitchFamily="2" charset="2"/>
              <a:buChar char="ü"/>
            </a:pPr>
            <a:r>
              <a:rPr lang="en-US" sz="2400" dirty="0">
                <a:solidFill>
                  <a:schemeClr val="dk1"/>
                </a:solidFill>
                <a:latin typeface="Palatino Linotype"/>
                <a:ea typeface="Palatino Linotype"/>
                <a:cs typeface="Palatino Linotype"/>
                <a:sym typeface="Palatino Linotype"/>
              </a:rPr>
              <a:t>Representation of sets </a:t>
            </a:r>
          </a:p>
          <a:p>
            <a:pPr marL="342900" lvl="1" indent="-342900">
              <a:lnSpc>
                <a:spcPct val="90000"/>
              </a:lnSpc>
              <a:buClr>
                <a:schemeClr val="dk1"/>
              </a:buClr>
              <a:buSzPts val="2800"/>
              <a:buFont typeface="Wingdings" panose="05000000000000000000" pitchFamily="2" charset="2"/>
              <a:buChar char="ü"/>
            </a:pPr>
            <a:r>
              <a:rPr lang="en-US" sz="2400" dirty="0">
                <a:solidFill>
                  <a:schemeClr val="dk1"/>
                </a:solidFill>
                <a:latin typeface="Palatino Linotype"/>
                <a:ea typeface="Palatino Linotype"/>
                <a:cs typeface="Palatino Linotype"/>
                <a:sym typeface="Palatino Linotype"/>
              </a:rPr>
              <a:t>Defining different types of Sets with Examples</a:t>
            </a:r>
          </a:p>
          <a:p>
            <a:pPr marL="342900" lvl="1" indent="-342900">
              <a:lnSpc>
                <a:spcPct val="90000"/>
              </a:lnSpc>
              <a:buClr>
                <a:schemeClr val="dk1"/>
              </a:buClr>
              <a:buSzPts val="2800"/>
              <a:buFont typeface="Wingdings" panose="05000000000000000000" pitchFamily="2" charset="2"/>
              <a:buChar char="ü"/>
            </a:pPr>
            <a:r>
              <a:rPr lang="en-US" sz="2400" dirty="0">
                <a:solidFill>
                  <a:schemeClr val="dk1"/>
                </a:solidFill>
                <a:latin typeface="Palatino Linotype"/>
                <a:ea typeface="Palatino Linotype"/>
                <a:cs typeface="Palatino Linotype"/>
                <a:sym typeface="Palatino Linotype"/>
              </a:rPr>
              <a:t>Set Theory Notations</a:t>
            </a:r>
          </a:p>
          <a:p>
            <a:pPr marL="342900" lvl="1" indent="-342900">
              <a:lnSpc>
                <a:spcPct val="90000"/>
              </a:lnSpc>
              <a:buClr>
                <a:schemeClr val="dk1"/>
              </a:buClr>
              <a:buSzPts val="2800"/>
              <a:buFont typeface="Wingdings" panose="05000000000000000000" pitchFamily="2" charset="2"/>
              <a:buChar char="ü"/>
            </a:pPr>
            <a:r>
              <a:rPr lang="en-US" sz="2400" dirty="0">
                <a:solidFill>
                  <a:schemeClr val="dk1"/>
                </a:solidFill>
                <a:latin typeface="Palatino Linotype"/>
                <a:ea typeface="Palatino Linotype"/>
                <a:cs typeface="Palatino Linotype"/>
                <a:sym typeface="Palatino Linotype"/>
              </a:rPr>
              <a:t>Concept of union and intersection and formulas</a:t>
            </a:r>
          </a:p>
          <a:p>
            <a:pPr marL="342900" lvl="1" indent="-342900">
              <a:lnSpc>
                <a:spcPct val="90000"/>
              </a:lnSpc>
              <a:buClr>
                <a:schemeClr val="dk1"/>
              </a:buClr>
              <a:buSzPts val="2800"/>
              <a:buFont typeface="Wingdings" panose="05000000000000000000" pitchFamily="2" charset="2"/>
              <a:buChar char="ü"/>
            </a:pPr>
            <a:r>
              <a:rPr lang="en-US" sz="2400" dirty="0">
                <a:solidFill>
                  <a:schemeClr val="dk1"/>
                </a:solidFill>
                <a:latin typeface="Palatino Linotype"/>
                <a:ea typeface="Palatino Linotype"/>
                <a:cs typeface="Palatino Linotype"/>
                <a:sym typeface="Palatino Linotype"/>
              </a:rPr>
              <a:t>Venn diagram use for various problems</a:t>
            </a:r>
          </a:p>
          <a:p>
            <a:pPr marL="342900" lvl="1" indent="-342900">
              <a:lnSpc>
                <a:spcPct val="90000"/>
              </a:lnSpc>
              <a:buClr>
                <a:schemeClr val="dk1"/>
              </a:buClr>
              <a:buSzPts val="2800"/>
              <a:buFont typeface="Wingdings" panose="05000000000000000000" pitchFamily="2" charset="2"/>
              <a:buChar char="ü"/>
            </a:pPr>
            <a:r>
              <a:rPr lang="en-US" sz="2400" dirty="0">
                <a:solidFill>
                  <a:schemeClr val="dk1"/>
                </a:solidFill>
                <a:latin typeface="Palatino Linotype"/>
                <a:ea typeface="Palatino Linotype"/>
                <a:cs typeface="Palatino Linotype"/>
                <a:sym typeface="Palatino Linotype"/>
              </a:rPr>
              <a:t>Set theory based Questions </a:t>
            </a:r>
          </a:p>
          <a:p>
            <a:pPr marL="342900" lvl="1" indent="-342900">
              <a:lnSpc>
                <a:spcPct val="90000"/>
              </a:lnSpc>
              <a:buClr>
                <a:schemeClr val="dk1"/>
              </a:buClr>
              <a:buSzPts val="2800"/>
              <a:buFont typeface="Wingdings" panose="05000000000000000000" pitchFamily="2" charset="2"/>
              <a:buChar char="ü"/>
            </a:pPr>
            <a:r>
              <a:rPr lang="en-US" sz="2400" dirty="0" err="1">
                <a:solidFill>
                  <a:schemeClr val="dk1"/>
                </a:solidFill>
                <a:latin typeface="Palatino Linotype"/>
                <a:ea typeface="Palatino Linotype"/>
                <a:cs typeface="Palatino Linotype"/>
                <a:sym typeface="Palatino Linotype"/>
              </a:rPr>
              <a:t>Caselets</a:t>
            </a:r>
            <a:r>
              <a:rPr lang="en-US" sz="2400" dirty="0">
                <a:solidFill>
                  <a:schemeClr val="dk1"/>
                </a:solidFill>
                <a:latin typeface="Palatino Linotype"/>
                <a:ea typeface="Palatino Linotype"/>
                <a:cs typeface="Palatino Linotype"/>
                <a:sym typeface="Palatino Linotype"/>
              </a:rPr>
              <a:t> based on Set Theory</a:t>
            </a:r>
          </a:p>
          <a:p>
            <a:pPr marL="342900" lvl="1" indent="-342900">
              <a:lnSpc>
                <a:spcPct val="90000"/>
              </a:lnSpc>
              <a:buClr>
                <a:schemeClr val="dk1"/>
              </a:buClr>
              <a:buSzPts val="2800"/>
              <a:buFont typeface="Wingdings" panose="05000000000000000000" pitchFamily="2" charset="2"/>
              <a:buChar char="ü"/>
            </a:pPr>
            <a:r>
              <a:rPr lang="en-US" sz="2400" dirty="0">
                <a:solidFill>
                  <a:schemeClr val="dk1"/>
                </a:solidFill>
                <a:latin typeface="Palatino Linotype"/>
                <a:ea typeface="Palatino Linotype"/>
                <a:cs typeface="Palatino Linotype"/>
                <a:sym typeface="Palatino Linotype"/>
              </a:rPr>
              <a:t>Data Sufficiency Questions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p:nvPr/>
        </p:nvSpPr>
        <p:spPr>
          <a:xfrm>
            <a:off x="475945" y="1410025"/>
            <a:ext cx="11154382" cy="40626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dirty="0">
                <a:solidFill>
                  <a:schemeClr val="dk1"/>
                </a:solidFill>
                <a:latin typeface="Palatino Linotype" panose="02040502050505030304" pitchFamily="18" charset="0"/>
                <a:ea typeface="Calibri"/>
                <a:cs typeface="Calibri"/>
                <a:sym typeface="Calibri"/>
              </a:rPr>
              <a:t>Set is a well defined </a:t>
            </a:r>
            <a:r>
              <a:rPr lang="en-US" sz="2400" dirty="0">
                <a:solidFill>
                  <a:schemeClr val="dk1"/>
                </a:solidFill>
                <a:latin typeface="Palatino Linotype" panose="02040502050505030304" pitchFamily="18" charset="0"/>
                <a:ea typeface="Calibri"/>
                <a:cs typeface="Calibri"/>
                <a:sym typeface="Calibri"/>
              </a:rPr>
              <a:t>collection </a:t>
            </a:r>
            <a:r>
              <a:rPr lang="en-US" sz="2400" b="0" i="0" dirty="0">
                <a:solidFill>
                  <a:schemeClr val="dk1"/>
                </a:solidFill>
                <a:latin typeface="Palatino Linotype" panose="02040502050505030304" pitchFamily="18" charset="0"/>
                <a:ea typeface="Calibri"/>
                <a:cs typeface="Calibri"/>
                <a:sym typeface="Calibri"/>
              </a:rPr>
              <a:t>of objects, known as elements. </a:t>
            </a:r>
            <a:endParaRPr dirty="0">
              <a:latin typeface="Palatino Linotype" panose="02040502050505030304" pitchFamily="18" charset="0"/>
            </a:endParaRPr>
          </a:p>
          <a:p>
            <a:pPr marL="0" marR="0" lvl="0" indent="0" algn="l" rtl="0">
              <a:spcBef>
                <a:spcPts val="0"/>
              </a:spcBef>
              <a:spcAft>
                <a:spcPts val="0"/>
              </a:spcAft>
              <a:buNone/>
            </a:pPr>
            <a:r>
              <a:rPr lang="en-US" sz="2400" b="0" i="0" dirty="0">
                <a:solidFill>
                  <a:schemeClr val="dk1"/>
                </a:solidFill>
                <a:latin typeface="Palatino Linotype" panose="02040502050505030304" pitchFamily="18" charset="0"/>
                <a:ea typeface="Calibri"/>
                <a:cs typeface="Calibri"/>
                <a:sym typeface="Calibri"/>
              </a:rPr>
              <a:t>Well-defined means, it must be absolutely clear that which object belongs to the set and which does not.</a:t>
            </a:r>
            <a:endParaRPr dirty="0">
              <a:latin typeface="Palatino Linotype" panose="02040502050505030304" pitchFamily="18" charset="0"/>
            </a:endParaRPr>
          </a:p>
          <a:p>
            <a:pPr marL="0" marR="0" lvl="0" indent="0" algn="l" rtl="0">
              <a:spcBef>
                <a:spcPts val="0"/>
              </a:spcBef>
              <a:spcAft>
                <a:spcPts val="0"/>
              </a:spcAft>
              <a:buNone/>
            </a:pPr>
            <a:r>
              <a:rPr lang="en-US" sz="2400" b="0" i="0" dirty="0">
                <a:solidFill>
                  <a:schemeClr val="dk1"/>
                </a:solidFill>
                <a:latin typeface="Palatino Linotype" panose="02040502050505030304" pitchFamily="18" charset="0"/>
                <a:ea typeface="Calibri"/>
                <a:cs typeface="Calibri"/>
                <a:sym typeface="Calibri"/>
              </a:rPr>
              <a:t>Set notation uses curly braces, with elements separated by commas.</a:t>
            </a:r>
            <a:endParaRPr dirty="0">
              <a:latin typeface="Palatino Linotype" panose="02040502050505030304" pitchFamily="18" charset="0"/>
            </a:endParaRPr>
          </a:p>
          <a:p>
            <a:pPr marL="0" marR="0" lvl="0" indent="0" algn="l" rtl="0">
              <a:spcBef>
                <a:spcPts val="0"/>
              </a:spcBef>
              <a:spcAft>
                <a:spcPts val="0"/>
              </a:spcAft>
              <a:buNone/>
            </a:pPr>
            <a:endParaRPr sz="2400" dirty="0">
              <a:solidFill>
                <a:schemeClr val="dk1"/>
              </a:solidFill>
              <a:latin typeface="Palatino Linotype" panose="02040502050505030304" pitchFamily="18" charset="0"/>
              <a:ea typeface="Calibri"/>
              <a:cs typeface="Calibri"/>
              <a:sym typeface="Calibri"/>
            </a:endParaRPr>
          </a:p>
          <a:p>
            <a:pPr marL="0" marR="0" lvl="0" indent="0" algn="l" rtl="0">
              <a:spcBef>
                <a:spcPts val="0"/>
              </a:spcBef>
              <a:spcAft>
                <a:spcPts val="0"/>
              </a:spcAft>
              <a:buNone/>
            </a:pPr>
            <a:r>
              <a:rPr lang="en-US" sz="2400" b="0" i="0" dirty="0">
                <a:solidFill>
                  <a:schemeClr val="dk1"/>
                </a:solidFill>
                <a:latin typeface="Palatino Linotype" panose="02040502050505030304" pitchFamily="18" charset="0"/>
                <a:ea typeface="Calibri"/>
                <a:cs typeface="Calibri"/>
                <a:sym typeface="Calibri"/>
              </a:rPr>
              <a:t>For example,</a:t>
            </a:r>
            <a:endParaRPr dirty="0">
              <a:latin typeface="Palatino Linotype" panose="02040502050505030304" pitchFamily="18" charset="0"/>
            </a:endParaRPr>
          </a:p>
          <a:p>
            <a:pPr marL="0" marR="0" lvl="0" indent="0" algn="l" rtl="0">
              <a:spcBef>
                <a:spcPts val="0"/>
              </a:spcBef>
              <a:spcAft>
                <a:spcPts val="0"/>
              </a:spcAft>
              <a:buNone/>
            </a:pPr>
            <a:r>
              <a:rPr lang="en-US" sz="2400" b="0" i="0" dirty="0">
                <a:solidFill>
                  <a:schemeClr val="dk1"/>
                </a:solidFill>
                <a:latin typeface="Palatino Linotype" panose="02040502050505030304" pitchFamily="18" charset="0"/>
                <a:ea typeface="Calibri"/>
                <a:cs typeface="Calibri"/>
                <a:sym typeface="Calibri"/>
              </a:rPr>
              <a:t>A = {1,2,3,…,10} is the set of the first 10 counting numbers, or naturals,</a:t>
            </a:r>
            <a:endParaRPr dirty="0">
              <a:latin typeface="Palatino Linotype" panose="02040502050505030304" pitchFamily="18" charset="0"/>
            </a:endParaRPr>
          </a:p>
          <a:p>
            <a:pPr marL="0" marR="0" lvl="0" indent="0" algn="l" rtl="0">
              <a:spcBef>
                <a:spcPts val="0"/>
              </a:spcBef>
              <a:spcAft>
                <a:spcPts val="0"/>
              </a:spcAft>
              <a:buNone/>
            </a:pPr>
            <a:r>
              <a:rPr lang="en-US" sz="2400" b="0" i="0" dirty="0">
                <a:solidFill>
                  <a:schemeClr val="dk1"/>
                </a:solidFill>
                <a:latin typeface="Palatino Linotype" panose="02040502050505030304" pitchFamily="18" charset="0"/>
                <a:ea typeface="Calibri"/>
                <a:cs typeface="Calibri"/>
                <a:sym typeface="Calibri"/>
              </a:rPr>
              <a:t>B = {Red, Blue, Green} is the set of primary colors, </a:t>
            </a:r>
            <a:endParaRPr dirty="0">
              <a:latin typeface="Palatino Linotype" panose="02040502050505030304" pitchFamily="18" charset="0"/>
            </a:endParaRPr>
          </a:p>
          <a:p>
            <a:pPr marL="0" marR="0" lvl="0" indent="0" algn="l" rtl="0">
              <a:spcBef>
                <a:spcPts val="0"/>
              </a:spcBef>
              <a:spcAft>
                <a:spcPts val="0"/>
              </a:spcAft>
              <a:buNone/>
            </a:pPr>
            <a:r>
              <a:rPr lang="en-US" sz="2400" b="0" i="0" dirty="0">
                <a:solidFill>
                  <a:schemeClr val="dk1"/>
                </a:solidFill>
                <a:latin typeface="Palatino Linotype" panose="02040502050505030304" pitchFamily="18" charset="0"/>
                <a:ea typeface="Calibri"/>
                <a:cs typeface="Calibri"/>
                <a:sym typeface="Calibri"/>
              </a:rPr>
              <a:t>N = {1,2,3,…} is the set of all naturals</a:t>
            </a:r>
            <a:endParaRPr dirty="0">
              <a:latin typeface="Palatino Linotype" panose="02040502050505030304" pitchFamily="18" charset="0"/>
            </a:endParaRPr>
          </a:p>
          <a:p>
            <a:pPr marL="0" marR="0" lvl="0" indent="0" algn="l" rtl="0">
              <a:spcBef>
                <a:spcPts val="0"/>
              </a:spcBef>
              <a:spcAft>
                <a:spcPts val="0"/>
              </a:spcAft>
              <a:buNone/>
            </a:pPr>
            <a:r>
              <a:rPr lang="en-US" sz="2400" b="0" i="0" dirty="0">
                <a:solidFill>
                  <a:schemeClr val="dk1"/>
                </a:solidFill>
                <a:latin typeface="Palatino Linotype" panose="02040502050505030304" pitchFamily="18" charset="0"/>
                <a:ea typeface="Calibri"/>
                <a:cs typeface="Calibri"/>
                <a:sym typeface="Calibri"/>
              </a:rPr>
              <a:t>Z = {...,−3,−2,−1,0,1,2,3,…} is the set of all integers.</a:t>
            </a:r>
            <a:endParaRPr dirty="0">
              <a:latin typeface="Palatino Linotype" panose="02040502050505030304" pitchFamily="18" charset="0"/>
            </a:endParaRPr>
          </a:p>
          <a:p>
            <a:pPr marL="0" marR="0" lvl="0" indent="0" algn="l" rtl="0">
              <a:spcBef>
                <a:spcPts val="0"/>
              </a:spcBef>
              <a:spcAft>
                <a:spcPts val="0"/>
              </a:spcAft>
              <a:buNone/>
            </a:pPr>
            <a:endParaRPr sz="1800" b="0" i="0" dirty="0">
              <a:solidFill>
                <a:schemeClr val="dk1"/>
              </a:solidFill>
              <a:latin typeface="Palatino Linotype" panose="02040502050505030304" pitchFamily="18" charset="0"/>
              <a:ea typeface="Calibri"/>
              <a:cs typeface="Calibri"/>
              <a:sym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1825558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442912" y="1582341"/>
            <a:ext cx="9200831"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Palatino Linotype" panose="02040502050505030304" pitchFamily="18" charset="0"/>
                <a:ea typeface="Calibri"/>
                <a:cs typeface="Calibri"/>
                <a:sym typeface="Calibri"/>
              </a:rPr>
              <a:t>Sets can be represented in two ways:</a:t>
            </a:r>
            <a:endParaRPr sz="2400" b="1" dirty="0">
              <a:latin typeface="Palatino Linotype" panose="02040502050505030304" pitchFamily="18" charset="0"/>
            </a:endParaRPr>
          </a:p>
          <a:p>
            <a:pPr marL="0" marR="0" lvl="0" indent="0" algn="l" rtl="0">
              <a:spcBef>
                <a:spcPts val="0"/>
              </a:spcBef>
              <a:spcAft>
                <a:spcPts val="0"/>
              </a:spcAft>
              <a:buNone/>
            </a:pPr>
            <a:endParaRPr sz="2400" dirty="0">
              <a:solidFill>
                <a:schemeClr val="dk1"/>
              </a:solidFill>
              <a:latin typeface="Palatino Linotype" panose="02040502050505030304" pitchFamily="18" charset="0"/>
              <a:ea typeface="Calibri"/>
              <a:cs typeface="Calibri"/>
              <a:sym typeface="Calibri"/>
            </a:endParaRPr>
          </a:p>
          <a:p>
            <a:pPr marL="0" marR="0" lvl="0" indent="-152400" algn="l" rtl="0">
              <a:spcBef>
                <a:spcPts val="0"/>
              </a:spcBef>
              <a:spcAft>
                <a:spcPts val="0"/>
              </a:spcAft>
              <a:buClr>
                <a:schemeClr val="dk1"/>
              </a:buClr>
              <a:buSzPts val="2400"/>
              <a:buFont typeface="Calibri"/>
              <a:buAutoNum type="arabicPeriod"/>
            </a:pPr>
            <a:r>
              <a:rPr lang="en-US" sz="2400" dirty="0">
                <a:solidFill>
                  <a:schemeClr val="dk1"/>
                </a:solidFill>
                <a:latin typeface="Palatino Linotype" panose="02040502050505030304" pitchFamily="18" charset="0"/>
                <a:ea typeface="Calibri"/>
                <a:cs typeface="Calibri"/>
                <a:sym typeface="Calibri"/>
              </a:rPr>
              <a:t>Roster Form or Tabular form</a:t>
            </a:r>
            <a:endParaRPr sz="2400" dirty="0">
              <a:latin typeface="Palatino Linotype" panose="02040502050505030304" pitchFamily="18" charset="0"/>
            </a:endParaRPr>
          </a:p>
          <a:p>
            <a:pPr marL="0" marR="0" lvl="0" indent="-152400" algn="l" rtl="0">
              <a:spcBef>
                <a:spcPts val="0"/>
              </a:spcBef>
              <a:spcAft>
                <a:spcPts val="0"/>
              </a:spcAft>
              <a:buClr>
                <a:schemeClr val="dk1"/>
              </a:buClr>
              <a:buSzPts val="2400"/>
              <a:buFont typeface="Calibri"/>
              <a:buAutoNum type="arabicPeriod"/>
            </a:pPr>
            <a:r>
              <a:rPr lang="en-US" sz="2400" dirty="0">
                <a:solidFill>
                  <a:schemeClr val="dk1"/>
                </a:solidFill>
                <a:latin typeface="Palatino Linotype" panose="02040502050505030304" pitchFamily="18" charset="0"/>
                <a:ea typeface="Calibri"/>
                <a:cs typeface="Calibri"/>
                <a:sym typeface="Calibri"/>
              </a:rPr>
              <a:t>Set Builder Form</a:t>
            </a:r>
            <a:endParaRPr sz="2400" b="0" i="0" dirty="0">
              <a:solidFill>
                <a:schemeClr val="dk1"/>
              </a:solidFill>
              <a:latin typeface="Palatino Linotype" panose="02040502050505030304" pitchFamily="18" charset="0"/>
              <a:ea typeface="Calibri"/>
              <a:cs typeface="Calibri"/>
              <a:sym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Theory(Representation of Sets)</a:t>
            </a:r>
          </a:p>
        </p:txBody>
      </p:sp>
    </p:spTree>
    <p:extLst>
      <p:ext uri="{BB962C8B-B14F-4D97-AF65-F5344CB8AC3E}">
        <p14:creationId xmlns:p14="http://schemas.microsoft.com/office/powerpoint/2010/main" val="600620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p:nvPr/>
        </p:nvSpPr>
        <p:spPr>
          <a:xfrm>
            <a:off x="428624" y="1602513"/>
            <a:ext cx="11182958" cy="27084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dirty="0">
                <a:solidFill>
                  <a:schemeClr val="tx1"/>
                </a:solidFill>
                <a:latin typeface="Palatino Linotype" panose="02040502050505030304" pitchFamily="18" charset="0"/>
                <a:ea typeface="Calibri"/>
                <a:cs typeface="Calibri"/>
                <a:sym typeface="Calibri"/>
              </a:rPr>
              <a:t>Roster Form</a:t>
            </a:r>
            <a:endParaRPr sz="2400" u="sng" dirty="0">
              <a:solidFill>
                <a:schemeClr val="tx1"/>
              </a:solidFill>
              <a:latin typeface="Palatino Linotype" panose="02040502050505030304" pitchFamily="18" charset="0"/>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In roster form, all the elements of the set are listed, separated by commas and enclosed between curly braces {}. </a:t>
            </a:r>
            <a:endParaRPr sz="2400" dirty="0">
              <a:latin typeface="Palatino Linotype" panose="02040502050505030304" pitchFamily="18" charset="0"/>
            </a:endParaRPr>
          </a:p>
          <a:p>
            <a:pPr marL="0" marR="0" lvl="0" indent="0" algn="l" rtl="0">
              <a:spcBef>
                <a:spcPts val="0"/>
              </a:spcBef>
              <a:spcAft>
                <a:spcPts val="0"/>
              </a:spcAft>
              <a:buNone/>
            </a:pPr>
            <a:endParaRPr sz="2400" dirty="0">
              <a:solidFill>
                <a:schemeClr val="dk1"/>
              </a:solidFill>
              <a:latin typeface="Palatino Linotype" panose="02040502050505030304" pitchFamily="18" charset="0"/>
              <a:ea typeface="Calibri"/>
              <a:cs typeface="Calibri"/>
              <a:sym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Example: If set represents all the leap years between the year 1995 and 2015, then it would be described using Roster form as:</a:t>
            </a:r>
            <a:endParaRPr sz="2400" dirty="0">
              <a:latin typeface="Palatino Linotype" panose="02040502050505030304" pitchFamily="18" charset="0"/>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 ={1996,2000,2004,2008,2012}</a:t>
            </a:r>
            <a:endParaRPr sz="2400" b="0" i="0" dirty="0">
              <a:solidFill>
                <a:schemeClr val="dk1"/>
              </a:solidFill>
              <a:latin typeface="Palatino Linotype" panose="02040502050505030304" pitchFamily="18" charset="0"/>
              <a:ea typeface="Calibri"/>
              <a:cs typeface="Calibri"/>
              <a:sym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 Theory(Representation of Sets)</a:t>
            </a:r>
          </a:p>
        </p:txBody>
      </p:sp>
    </p:spTree>
    <p:extLst>
      <p:ext uri="{BB962C8B-B14F-4D97-AF65-F5344CB8AC3E}">
        <p14:creationId xmlns:p14="http://schemas.microsoft.com/office/powerpoint/2010/main" val="850016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p:nvPr/>
        </p:nvSpPr>
        <p:spPr>
          <a:xfrm>
            <a:off x="428624" y="1486458"/>
            <a:ext cx="11182958"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dirty="0">
                <a:solidFill>
                  <a:schemeClr val="tx1"/>
                </a:solidFill>
                <a:latin typeface="Palatino Linotype" panose="02040502050505030304" pitchFamily="18" charset="0"/>
                <a:ea typeface="Calibri"/>
                <a:cs typeface="Calibri"/>
                <a:sym typeface="Calibri"/>
              </a:rPr>
              <a:t>Set Builder Form</a:t>
            </a:r>
            <a:endParaRPr sz="2400" u="sng" dirty="0">
              <a:solidFill>
                <a:schemeClr val="tx1"/>
              </a:solidFill>
              <a:latin typeface="Palatino Linotype" panose="02040502050505030304" pitchFamily="18" charset="0"/>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In set builder form, all the elements have a common property. This property is not applicable to the objects that do not belong to the set. </a:t>
            </a:r>
            <a:endParaRPr sz="2400" dirty="0">
              <a:latin typeface="Palatino Linotype" panose="02040502050505030304" pitchFamily="18" charset="0"/>
            </a:endParaRPr>
          </a:p>
          <a:p>
            <a:pPr marL="0" marR="0" lvl="0" indent="0" algn="l" rtl="0">
              <a:spcBef>
                <a:spcPts val="0"/>
              </a:spcBef>
              <a:spcAft>
                <a:spcPts val="0"/>
              </a:spcAft>
              <a:buNone/>
            </a:pPr>
            <a:br>
              <a:rPr lang="en-US" sz="2400" dirty="0">
                <a:solidFill>
                  <a:schemeClr val="dk1"/>
                </a:solidFill>
                <a:latin typeface="Palatino Linotype" panose="02040502050505030304" pitchFamily="18" charset="0"/>
                <a:ea typeface="Calibri"/>
                <a:cs typeface="Calibri"/>
                <a:sym typeface="Calibri"/>
              </a:rPr>
            </a:br>
            <a:r>
              <a:rPr lang="en-US" sz="2400" dirty="0">
                <a:solidFill>
                  <a:schemeClr val="dk1"/>
                </a:solidFill>
                <a:latin typeface="Palatino Linotype" panose="02040502050505030304" pitchFamily="18" charset="0"/>
                <a:ea typeface="Calibri"/>
                <a:cs typeface="Calibri"/>
                <a:sym typeface="Calibri"/>
              </a:rPr>
              <a:t>Example: If set </a:t>
            </a:r>
            <a:r>
              <a:rPr lang="en-US" sz="2400" b="1" dirty="0">
                <a:solidFill>
                  <a:schemeClr val="dk1"/>
                </a:solidFill>
                <a:latin typeface="Palatino Linotype" panose="02040502050505030304" pitchFamily="18" charset="0"/>
                <a:ea typeface="Calibri"/>
                <a:cs typeface="Calibri"/>
                <a:sym typeface="Calibri"/>
              </a:rPr>
              <a:t>S</a:t>
            </a:r>
            <a:r>
              <a:rPr lang="en-US" sz="2400" dirty="0">
                <a:solidFill>
                  <a:schemeClr val="dk1"/>
                </a:solidFill>
                <a:latin typeface="Palatino Linotype" panose="02040502050505030304" pitchFamily="18" charset="0"/>
                <a:ea typeface="Calibri"/>
                <a:cs typeface="Calibri"/>
                <a:sym typeface="Calibri"/>
              </a:rPr>
              <a:t> has all the elements which are even prime numbers, it is represented as:</a:t>
            </a:r>
            <a:endParaRPr sz="2400" dirty="0">
              <a:latin typeface="Palatino Linotype" panose="02040502050505030304" pitchFamily="18" charset="0"/>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S={ x: x is an even prime number}</a:t>
            </a:r>
            <a:endParaRPr sz="2400" dirty="0">
              <a:latin typeface="Palatino Linotype" panose="02040502050505030304" pitchFamily="18" charset="0"/>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where ‘x’ is a symbolic representation that is used to describe the element.</a:t>
            </a:r>
            <a:endParaRPr sz="2400" dirty="0">
              <a:latin typeface="Palatino Linotype" panose="02040502050505030304" pitchFamily="18" charset="0"/>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 means ‘such that’</a:t>
            </a:r>
            <a:endParaRPr sz="2400" dirty="0">
              <a:latin typeface="Palatino Linotype" panose="02040502050505030304" pitchFamily="18" charset="0"/>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 means ‘the set of all’</a:t>
            </a:r>
            <a:endParaRPr sz="2400" b="0" i="0" dirty="0">
              <a:solidFill>
                <a:schemeClr val="dk1"/>
              </a:solidFill>
              <a:latin typeface="Palatino Linotype" panose="02040502050505030304" pitchFamily="18" charset="0"/>
              <a:ea typeface="Calibri"/>
              <a:cs typeface="Calibri"/>
              <a:sym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 Theory(Representation of Sets)</a:t>
            </a:r>
          </a:p>
        </p:txBody>
      </p:sp>
    </p:spTree>
    <p:extLst>
      <p:ext uri="{BB962C8B-B14F-4D97-AF65-F5344CB8AC3E}">
        <p14:creationId xmlns:p14="http://schemas.microsoft.com/office/powerpoint/2010/main" val="269142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p:nvPr/>
        </p:nvSpPr>
        <p:spPr>
          <a:xfrm>
            <a:off x="400048" y="1355990"/>
            <a:ext cx="11211534" cy="47089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rgbClr val="333333"/>
                </a:solidFill>
                <a:latin typeface="Palatino Linotype" panose="02040502050505030304" pitchFamily="18" charset="0"/>
                <a:ea typeface="Calibri"/>
                <a:cs typeface="Calibri"/>
                <a:sym typeface="Calibri"/>
              </a:rPr>
              <a:t>The sets are further categorized into different types, based on elements or types of elements. </a:t>
            </a:r>
          </a:p>
          <a:p>
            <a:pPr marL="342900" marR="0" lvl="0" indent="-342900" algn="l" rtl="0">
              <a:spcBef>
                <a:spcPts val="0"/>
              </a:spcBef>
              <a:spcAft>
                <a:spcPts val="0"/>
              </a:spcAft>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Finite set: </a:t>
            </a:r>
            <a:r>
              <a:rPr lang="en-US" sz="2000" dirty="0">
                <a:solidFill>
                  <a:srgbClr val="333333"/>
                </a:solidFill>
                <a:latin typeface="Palatino Linotype" panose="02040502050505030304" pitchFamily="18" charset="0"/>
                <a:ea typeface="Calibri"/>
                <a:cs typeface="Calibri"/>
                <a:sym typeface="Calibri"/>
              </a:rPr>
              <a:t>The number of elements is finite</a:t>
            </a:r>
            <a:endParaRPr sz="2000" dirty="0">
              <a:latin typeface="Palatino Linotype" panose="02040502050505030304" pitchFamily="18" charset="0"/>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Infinite set: </a:t>
            </a:r>
            <a:r>
              <a:rPr lang="en-US" sz="2000" dirty="0">
                <a:solidFill>
                  <a:srgbClr val="333333"/>
                </a:solidFill>
                <a:latin typeface="Palatino Linotype" panose="02040502050505030304" pitchFamily="18" charset="0"/>
                <a:ea typeface="Calibri"/>
                <a:cs typeface="Calibri"/>
                <a:sym typeface="Calibri"/>
              </a:rPr>
              <a:t>The number of elements are infinite</a:t>
            </a:r>
            <a:endParaRPr sz="2000" dirty="0">
              <a:latin typeface="Palatino Linotype" panose="02040502050505030304" pitchFamily="18" charset="0"/>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Empty set: </a:t>
            </a:r>
            <a:r>
              <a:rPr lang="en-US" sz="2000" dirty="0">
                <a:solidFill>
                  <a:srgbClr val="333333"/>
                </a:solidFill>
                <a:latin typeface="Palatino Linotype" panose="02040502050505030304" pitchFamily="18" charset="0"/>
                <a:ea typeface="Calibri"/>
                <a:cs typeface="Calibri"/>
                <a:sym typeface="Calibri"/>
              </a:rPr>
              <a:t>It has no elements</a:t>
            </a:r>
            <a:endParaRPr sz="2000" dirty="0">
              <a:latin typeface="Palatino Linotype" panose="02040502050505030304" pitchFamily="18" charset="0"/>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Singleton set: </a:t>
            </a:r>
            <a:r>
              <a:rPr lang="en-US" sz="2000" dirty="0">
                <a:solidFill>
                  <a:srgbClr val="333333"/>
                </a:solidFill>
                <a:latin typeface="Palatino Linotype" panose="02040502050505030304" pitchFamily="18" charset="0"/>
                <a:ea typeface="Calibri"/>
                <a:cs typeface="Calibri"/>
                <a:sym typeface="Calibri"/>
              </a:rPr>
              <a:t>It has one only element</a:t>
            </a:r>
            <a:endParaRPr sz="2000" dirty="0">
              <a:latin typeface="Palatino Linotype" panose="02040502050505030304" pitchFamily="18" charset="0"/>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Complement of a set</a:t>
            </a:r>
            <a:r>
              <a:rPr lang="en-US" sz="2000" dirty="0">
                <a:solidFill>
                  <a:srgbClr val="333333"/>
                </a:solidFill>
                <a:latin typeface="Palatino Linotype" panose="02040502050505030304" pitchFamily="18" charset="0"/>
                <a:ea typeface="Calibri"/>
                <a:cs typeface="Calibri"/>
                <a:sym typeface="Calibri"/>
              </a:rPr>
              <a:t>: In complement of a set if E be the universal set and A </a:t>
            </a:r>
            <a:r>
              <a:rPr lang="en-US" sz="2000" dirty="0" err="1">
                <a:solidFill>
                  <a:srgbClr val="333333"/>
                </a:solidFill>
                <a:latin typeface="Palatino Linotype" panose="02040502050505030304" pitchFamily="18" charset="0"/>
                <a:ea typeface="Calibri"/>
                <a:cs typeface="Calibri"/>
                <a:sym typeface="Calibri"/>
              </a:rPr>
              <a:t>a</a:t>
            </a:r>
            <a:r>
              <a:rPr lang="en-US" sz="2000" dirty="0">
                <a:solidFill>
                  <a:srgbClr val="333333"/>
                </a:solidFill>
                <a:latin typeface="Palatino Linotype" panose="02040502050505030304" pitchFamily="18" charset="0"/>
                <a:ea typeface="Calibri"/>
                <a:cs typeface="Calibri"/>
                <a:sym typeface="Calibri"/>
              </a:rPr>
              <a:t> subset of E, then the complement of A is the set of all elements of E which are not the elements of A. Symbolically, we denote the complement of A with respect to E as A’.</a:t>
            </a:r>
            <a:endParaRPr sz="2000" dirty="0">
              <a:latin typeface="Palatino Linotype" panose="02040502050505030304" pitchFamily="18" charset="0"/>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Equal set: </a:t>
            </a:r>
            <a:r>
              <a:rPr lang="en-US" sz="2000" dirty="0">
                <a:solidFill>
                  <a:srgbClr val="333333"/>
                </a:solidFill>
                <a:latin typeface="Palatino Linotype" panose="02040502050505030304" pitchFamily="18" charset="0"/>
                <a:ea typeface="Calibri"/>
                <a:cs typeface="Calibri"/>
                <a:sym typeface="Calibri"/>
              </a:rPr>
              <a:t>Two sets are equal if they have same elements</a:t>
            </a:r>
            <a:endParaRPr sz="2000" dirty="0">
              <a:latin typeface="Palatino Linotype" panose="02040502050505030304" pitchFamily="18" charset="0"/>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Equivalent set: </a:t>
            </a:r>
            <a:r>
              <a:rPr lang="en-US" sz="2000" dirty="0">
                <a:solidFill>
                  <a:srgbClr val="333333"/>
                </a:solidFill>
                <a:latin typeface="Palatino Linotype" panose="02040502050505030304" pitchFamily="18" charset="0"/>
                <a:ea typeface="Calibri"/>
                <a:cs typeface="Calibri"/>
                <a:sym typeface="Calibri"/>
              </a:rPr>
              <a:t>Two sets are equivalent if they have same number of elements</a:t>
            </a:r>
            <a:endParaRPr lang="en-US" sz="2000" dirty="0">
              <a:latin typeface="Palatino Linotype" panose="02040502050505030304" pitchFamily="18" charset="0"/>
              <a:ea typeface="Calibri"/>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i="0" dirty="0">
                <a:solidFill>
                  <a:schemeClr val="dk1"/>
                </a:solidFill>
                <a:latin typeface="Palatino Linotype" panose="02040502050505030304" pitchFamily="18" charset="0"/>
                <a:ea typeface="Calibri"/>
                <a:cs typeface="Calibri"/>
                <a:sym typeface="Calibri"/>
              </a:rPr>
              <a:t>Difference of Sets: </a:t>
            </a:r>
            <a:r>
              <a:rPr lang="en-US" sz="2000" b="0" i="0" dirty="0">
                <a:solidFill>
                  <a:schemeClr val="dk1"/>
                </a:solidFill>
                <a:latin typeface="Palatino Linotype" panose="02040502050505030304" pitchFamily="18" charset="0"/>
                <a:ea typeface="Calibri"/>
                <a:cs typeface="Calibri"/>
                <a:sym typeface="Calibri"/>
              </a:rPr>
              <a:t>The difference of sets A and B, written as A-B, is the set of elements belonging to set A and </a:t>
            </a:r>
            <a:r>
              <a:rPr lang="en-US" sz="2000" dirty="0">
                <a:solidFill>
                  <a:schemeClr val="dk1"/>
                </a:solidFill>
                <a:latin typeface="Palatino Linotype" panose="02040502050505030304" pitchFamily="18" charset="0"/>
                <a:ea typeface="Calibri"/>
                <a:cs typeface="Calibri"/>
                <a:sym typeface="Calibri"/>
              </a:rPr>
              <a:t>not</a:t>
            </a:r>
            <a:r>
              <a:rPr lang="en-US" sz="2000" b="0" i="0" dirty="0">
                <a:solidFill>
                  <a:schemeClr val="dk1"/>
                </a:solidFill>
                <a:latin typeface="Palatino Linotype" panose="02040502050505030304" pitchFamily="18" charset="0"/>
                <a:ea typeface="Calibri"/>
                <a:cs typeface="Calibri"/>
                <a:sym typeface="Calibri"/>
              </a:rPr>
              <a:t> to set B.</a:t>
            </a:r>
            <a:endParaRPr sz="2000" dirty="0">
              <a:solidFill>
                <a:srgbClr val="333333"/>
              </a:solidFill>
              <a:latin typeface="Palatino Linotype" panose="02040502050505030304" pitchFamily="18" charset="0"/>
              <a:ea typeface="Calibri"/>
              <a:cs typeface="Calibri"/>
              <a:sym typeface="Calibri"/>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Power set</a:t>
            </a:r>
            <a:r>
              <a:rPr lang="en-US" sz="2000" dirty="0">
                <a:solidFill>
                  <a:srgbClr val="333333"/>
                </a:solidFill>
                <a:latin typeface="Palatino Linotype" panose="02040502050505030304" pitchFamily="18" charset="0"/>
                <a:ea typeface="Calibri"/>
                <a:cs typeface="Calibri"/>
                <a:sym typeface="Calibri"/>
              </a:rPr>
              <a:t>: A set of every possible subset.</a:t>
            </a:r>
            <a:endParaRPr sz="2000" dirty="0">
              <a:latin typeface="Palatino Linotype" panose="02040502050505030304" pitchFamily="18" charset="0"/>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Universal set: </a:t>
            </a:r>
            <a:r>
              <a:rPr lang="en-US" sz="2000" dirty="0">
                <a:solidFill>
                  <a:srgbClr val="333333"/>
                </a:solidFill>
                <a:latin typeface="Palatino Linotype" panose="02040502050505030304" pitchFamily="18" charset="0"/>
                <a:ea typeface="Calibri"/>
                <a:cs typeface="Calibri"/>
                <a:sym typeface="Calibri"/>
              </a:rPr>
              <a:t>Any set that contains all the sets under consideration.</a:t>
            </a:r>
            <a:endParaRPr sz="2000" dirty="0">
              <a:latin typeface="Palatino Linotype" panose="02040502050505030304" pitchFamily="18" charset="0"/>
            </a:endParaRPr>
          </a:p>
          <a:p>
            <a:pPr marL="342900" marR="0" lvl="0" indent="-342900" algn="l" rtl="0">
              <a:spcBef>
                <a:spcPts val="0"/>
              </a:spcBef>
              <a:spcAft>
                <a:spcPts val="0"/>
              </a:spcAft>
              <a:buClr>
                <a:srgbClr val="333333"/>
              </a:buClr>
              <a:buSzPts val="1800"/>
              <a:buFont typeface="Wingdings" panose="05000000000000000000" pitchFamily="2" charset="2"/>
              <a:buChar char="§"/>
            </a:pPr>
            <a:r>
              <a:rPr lang="en-US" sz="2000" b="1" dirty="0">
                <a:solidFill>
                  <a:srgbClr val="333333"/>
                </a:solidFill>
                <a:latin typeface="Palatino Linotype" panose="02040502050505030304" pitchFamily="18" charset="0"/>
                <a:ea typeface="Calibri"/>
                <a:cs typeface="Calibri"/>
                <a:sym typeface="Calibri"/>
              </a:rPr>
              <a:t>Subset: </a:t>
            </a:r>
            <a:r>
              <a:rPr lang="en-US" sz="2000" dirty="0">
                <a:solidFill>
                  <a:srgbClr val="333333"/>
                </a:solidFill>
                <a:latin typeface="Palatino Linotype" panose="02040502050505030304" pitchFamily="18" charset="0"/>
                <a:ea typeface="Calibri"/>
                <a:cs typeface="Calibri"/>
                <a:sym typeface="Calibri"/>
              </a:rPr>
              <a:t>When all the elements of set A belong to set B, then A is subset of B</a:t>
            </a:r>
            <a:endParaRPr sz="2000" b="0" i="0" dirty="0">
              <a:solidFill>
                <a:srgbClr val="333333"/>
              </a:solidFill>
              <a:latin typeface="Palatino Linotype" panose="02040502050505030304" pitchFamily="18" charset="0"/>
              <a:ea typeface="Calibri"/>
              <a:cs typeface="Calibri"/>
              <a:sym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Theory(Types of Sets)</a:t>
            </a:r>
          </a:p>
        </p:txBody>
      </p:sp>
    </p:spTree>
    <p:extLst>
      <p:ext uri="{BB962C8B-B14F-4D97-AF65-F5344CB8AC3E}">
        <p14:creationId xmlns:p14="http://schemas.microsoft.com/office/powerpoint/2010/main" val="3493709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aphicFrame>
        <p:nvGraphicFramePr>
          <p:cNvPr id="145" name="Google Shape;145;p8"/>
          <p:cNvGraphicFramePr/>
          <p:nvPr>
            <p:extLst>
              <p:ext uri="{D42A27DB-BD31-4B8C-83A1-F6EECF244321}">
                <p14:modId xmlns:p14="http://schemas.microsoft.com/office/powerpoint/2010/main" val="1216254775"/>
              </p:ext>
            </p:extLst>
          </p:nvPr>
        </p:nvGraphicFramePr>
        <p:xfrm>
          <a:off x="457200" y="2004189"/>
          <a:ext cx="5303500" cy="2925960"/>
        </p:xfrm>
        <a:graphic>
          <a:graphicData uri="http://schemas.openxmlformats.org/drawingml/2006/table">
            <a:tbl>
              <a:tblPr>
                <a:noFill/>
              </a:tblPr>
              <a:tblGrid>
                <a:gridCol w="2651750">
                  <a:extLst>
                    <a:ext uri="{9D8B030D-6E8A-4147-A177-3AD203B41FA5}">
                      <a16:colId xmlns:a16="http://schemas.microsoft.com/office/drawing/2014/main" val="20000"/>
                    </a:ext>
                  </a:extLst>
                </a:gridCol>
                <a:gridCol w="2651750">
                  <a:extLst>
                    <a:ext uri="{9D8B030D-6E8A-4147-A177-3AD203B41FA5}">
                      <a16:colId xmlns:a16="http://schemas.microsoft.com/office/drawing/2014/main" val="20001"/>
                    </a:ext>
                  </a:extLst>
                </a:gridCol>
              </a:tblGrid>
              <a:tr h="304800">
                <a:tc>
                  <a:txBody>
                    <a:bodyPr/>
                    <a:lstStyle/>
                    <a:p>
                      <a:pPr marL="0" marR="0" lvl="0" indent="0" algn="l" rtl="0">
                        <a:spcBef>
                          <a:spcPts val="0"/>
                        </a:spcBef>
                        <a:spcAft>
                          <a:spcPts val="0"/>
                        </a:spcAft>
                        <a:buNone/>
                      </a:pPr>
                      <a:r>
                        <a:rPr lang="en-US" sz="2400" b="1" u="none" strike="noStrike" cap="none" dirty="0">
                          <a:latin typeface="Palatino Linotype" panose="02040502050505030304" pitchFamily="18" charset="0"/>
                        </a:rPr>
                        <a:t>Symbol</a:t>
                      </a:r>
                      <a:endParaRPr sz="2400" dirty="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400" b="1">
                          <a:latin typeface="Palatino Linotype" panose="02040502050505030304" pitchFamily="18" charset="0"/>
                        </a:rPr>
                        <a:t>Symbol Name</a:t>
                      </a:r>
                      <a:endParaRPr sz="240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04800">
                <a:tc>
                  <a:txBody>
                    <a:bodyPr/>
                    <a:lstStyle/>
                    <a:p>
                      <a:pPr marL="0" marR="0" lvl="0" indent="0" algn="l" rtl="0">
                        <a:spcBef>
                          <a:spcPts val="0"/>
                        </a:spcBef>
                        <a:spcAft>
                          <a:spcPts val="0"/>
                        </a:spcAft>
                        <a:buNone/>
                      </a:pPr>
                      <a:r>
                        <a:rPr lang="en-US" sz="2400" b="0" dirty="0">
                          <a:latin typeface="Palatino Linotype" panose="02040502050505030304" pitchFamily="18" charset="0"/>
                        </a:rPr>
                        <a:t>{ }</a:t>
                      </a:r>
                      <a:endParaRPr sz="2400" dirty="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400" b="0">
                          <a:latin typeface="Palatino Linotype" panose="02040502050505030304" pitchFamily="18" charset="0"/>
                        </a:rPr>
                        <a:t>set</a:t>
                      </a:r>
                      <a:endParaRPr sz="240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04800">
                <a:tc>
                  <a:txBody>
                    <a:bodyPr/>
                    <a:lstStyle/>
                    <a:p>
                      <a:pPr marL="0" marR="0" lvl="0" indent="0" algn="l" rtl="0">
                        <a:spcBef>
                          <a:spcPts val="0"/>
                        </a:spcBef>
                        <a:spcAft>
                          <a:spcPts val="0"/>
                        </a:spcAft>
                        <a:buNone/>
                      </a:pPr>
                      <a:r>
                        <a:rPr lang="en-US" sz="2400" b="0">
                          <a:latin typeface="Palatino Linotype" panose="02040502050505030304" pitchFamily="18" charset="0"/>
                        </a:rPr>
                        <a:t>A ∪ B</a:t>
                      </a:r>
                      <a:endParaRPr sz="240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400" b="0" dirty="0">
                          <a:latin typeface="Palatino Linotype" panose="02040502050505030304" pitchFamily="18" charset="0"/>
                        </a:rPr>
                        <a:t>A union B</a:t>
                      </a:r>
                      <a:endParaRPr sz="2400" dirty="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04800">
                <a:tc>
                  <a:txBody>
                    <a:bodyPr/>
                    <a:lstStyle/>
                    <a:p>
                      <a:pPr marL="0" marR="0" lvl="0" indent="0" algn="l" rtl="0">
                        <a:spcBef>
                          <a:spcPts val="0"/>
                        </a:spcBef>
                        <a:spcAft>
                          <a:spcPts val="0"/>
                        </a:spcAft>
                        <a:buNone/>
                      </a:pPr>
                      <a:r>
                        <a:rPr lang="en-US" sz="2400" b="0" dirty="0">
                          <a:latin typeface="Palatino Linotype" panose="02040502050505030304" pitchFamily="18" charset="0"/>
                        </a:rPr>
                        <a:t>A ∩ B</a:t>
                      </a:r>
                      <a:endParaRPr sz="2400" dirty="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400" b="0" dirty="0">
                          <a:latin typeface="Palatino Linotype" panose="02040502050505030304" pitchFamily="18" charset="0"/>
                        </a:rPr>
                        <a:t>A intersection B</a:t>
                      </a:r>
                      <a:endParaRPr sz="2400" dirty="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04800">
                <a:tc>
                  <a:txBody>
                    <a:bodyPr/>
                    <a:lstStyle/>
                    <a:p>
                      <a:pPr marL="0" marR="0" lvl="0" indent="0" algn="l" rtl="0">
                        <a:spcBef>
                          <a:spcPts val="0"/>
                        </a:spcBef>
                        <a:spcAft>
                          <a:spcPts val="0"/>
                        </a:spcAft>
                        <a:buNone/>
                      </a:pPr>
                      <a:r>
                        <a:rPr lang="en-US" sz="2400" b="0">
                          <a:latin typeface="Palatino Linotype" panose="02040502050505030304" pitchFamily="18" charset="0"/>
                        </a:rPr>
                        <a:t>A ⊆ B</a:t>
                      </a:r>
                      <a:endParaRPr sz="240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400" b="0" dirty="0">
                          <a:latin typeface="Palatino Linotype" panose="02040502050505030304" pitchFamily="18" charset="0"/>
                        </a:rPr>
                        <a:t>A is subset of B</a:t>
                      </a:r>
                      <a:endParaRPr sz="2400" dirty="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04800">
                <a:tc>
                  <a:txBody>
                    <a:bodyPr/>
                    <a:lstStyle/>
                    <a:p>
                      <a:pPr marL="0" marR="0" lvl="0" indent="0" algn="l" rtl="0">
                        <a:spcBef>
                          <a:spcPts val="0"/>
                        </a:spcBef>
                        <a:spcAft>
                          <a:spcPts val="0"/>
                        </a:spcAft>
                        <a:buNone/>
                      </a:pPr>
                      <a:r>
                        <a:rPr lang="en-US" sz="2400" b="0">
                          <a:latin typeface="Palatino Linotype" panose="02040502050505030304" pitchFamily="18" charset="0"/>
                        </a:rPr>
                        <a:t>A ⊄ B</a:t>
                      </a:r>
                      <a:endParaRPr sz="240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400" b="0" dirty="0">
                          <a:latin typeface="Palatino Linotype" panose="02040502050505030304" pitchFamily="18" charset="0"/>
                        </a:rPr>
                        <a:t>A is not subset B</a:t>
                      </a:r>
                      <a:endParaRPr sz="2400" dirty="0">
                        <a:latin typeface="Palatino Linotype" panose="02040502050505030304" pitchFamily="18" charset="0"/>
                      </a:endParaRPr>
                    </a:p>
                  </a:txBody>
                  <a:tcPr marL="83825" marR="83825" marT="60950" marB="60950"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146" name="Google Shape;146;p8"/>
          <p:cNvSpPr/>
          <p:nvPr/>
        </p:nvSpPr>
        <p:spPr>
          <a:xfrm>
            <a:off x="400048" y="1438111"/>
            <a:ext cx="324122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dirty="0">
                <a:solidFill>
                  <a:schemeClr val="tx1"/>
                </a:solidFill>
                <a:latin typeface="Palatino Linotype" panose="02040502050505030304" pitchFamily="18" charset="0"/>
                <a:ea typeface="Calibri"/>
                <a:cs typeface="Calibri"/>
                <a:sym typeface="Calibri"/>
              </a:rPr>
              <a:t>Other Notations</a:t>
            </a:r>
            <a:endParaRPr sz="2400" b="1" u="sng" dirty="0">
              <a:solidFill>
                <a:schemeClr val="tx1"/>
              </a:solidFill>
              <a:latin typeface="Palatino Linotype" panose="02040502050505030304" pitchFamily="18" charset="0"/>
              <a:ea typeface="Calibri"/>
              <a:cs typeface="Calibri"/>
            </a:endParaRPr>
          </a:p>
        </p:txBody>
      </p:sp>
      <p:sp>
        <p:nvSpPr>
          <p:cNvPr id="5"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Theory(Notations)</a:t>
            </a:r>
          </a:p>
        </p:txBody>
      </p:sp>
    </p:spTree>
    <p:extLst>
      <p:ext uri="{BB962C8B-B14F-4D97-AF65-F5344CB8AC3E}">
        <p14:creationId xmlns:p14="http://schemas.microsoft.com/office/powerpoint/2010/main" val="4064448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p:nvPr/>
        </p:nvSpPr>
        <p:spPr>
          <a:xfrm>
            <a:off x="427704" y="2210305"/>
            <a:ext cx="8672052" cy="1200329"/>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rgbClr val="333333"/>
              </a:buClr>
              <a:buSzPts val="2400"/>
              <a:buFont typeface="Arial"/>
              <a:buChar char="•"/>
            </a:pPr>
            <a:r>
              <a:rPr lang="en-US" sz="2400" dirty="0">
                <a:solidFill>
                  <a:srgbClr val="333333"/>
                </a:solidFill>
                <a:latin typeface="Palatino Linotype" panose="02040502050505030304" pitchFamily="18" charset="0"/>
                <a:ea typeface="Roboto"/>
                <a:cs typeface="Roboto"/>
                <a:sym typeface="Roboto"/>
              </a:rPr>
              <a:t> n( A ∪ B ) = n(A) +n(B) – n (A ⋂ B) </a:t>
            </a:r>
            <a:br>
              <a:rPr lang="en-US" sz="2400" dirty="0">
                <a:solidFill>
                  <a:srgbClr val="333333"/>
                </a:solidFill>
                <a:latin typeface="Palatino Linotype" panose="02040502050505030304" pitchFamily="18" charset="0"/>
                <a:ea typeface="Roboto"/>
                <a:cs typeface="Roboto"/>
                <a:sym typeface="Roboto"/>
              </a:rPr>
            </a:br>
            <a:endParaRPr sz="2400" dirty="0">
              <a:solidFill>
                <a:srgbClr val="333333"/>
              </a:solidFill>
              <a:latin typeface="Palatino Linotype" panose="02040502050505030304" pitchFamily="18" charset="0"/>
              <a:ea typeface="Roboto"/>
              <a:cs typeface="Roboto"/>
              <a:sym typeface="Roboto"/>
            </a:endParaRPr>
          </a:p>
          <a:p>
            <a:pPr marL="0" marR="0" lvl="0" indent="-152400" algn="l" rtl="0">
              <a:spcBef>
                <a:spcPts val="0"/>
              </a:spcBef>
              <a:spcAft>
                <a:spcPts val="0"/>
              </a:spcAft>
              <a:buClr>
                <a:srgbClr val="333333"/>
              </a:buClr>
              <a:buSzPts val="2400"/>
              <a:buFont typeface="Arial"/>
              <a:buChar char="•"/>
            </a:pPr>
            <a:r>
              <a:rPr lang="en-US" sz="2400" dirty="0">
                <a:solidFill>
                  <a:srgbClr val="333333"/>
                </a:solidFill>
                <a:latin typeface="Palatino Linotype" panose="02040502050505030304" pitchFamily="18" charset="0"/>
                <a:ea typeface="Roboto"/>
                <a:cs typeface="Roboto"/>
                <a:sym typeface="Roboto"/>
              </a:rPr>
              <a:t> n(A∪B)=n(A)+n(B)   {when A and B are disjoint sets}</a:t>
            </a:r>
            <a:endParaRPr sz="2400" b="0" i="0" dirty="0">
              <a:solidFill>
                <a:srgbClr val="333333"/>
              </a:solidFill>
              <a:latin typeface="Palatino Linotype" panose="02040502050505030304" pitchFamily="18" charset="0"/>
              <a:ea typeface="Roboto"/>
              <a:cs typeface="Roboto"/>
              <a:sym typeface="Roboto"/>
            </a:endParaRPr>
          </a:p>
        </p:txBody>
      </p:sp>
      <p:sp>
        <p:nvSpPr>
          <p:cNvPr id="154" name="Google Shape;154;p9"/>
          <p:cNvSpPr/>
          <p:nvPr/>
        </p:nvSpPr>
        <p:spPr>
          <a:xfrm>
            <a:off x="442452" y="3800681"/>
            <a:ext cx="11002297" cy="461665"/>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rgbClr val="333333"/>
              </a:buClr>
              <a:buSzPts val="2400"/>
              <a:buFont typeface="Arial"/>
              <a:buChar char="•"/>
            </a:pPr>
            <a:r>
              <a:rPr lang="en-US" sz="2400" dirty="0">
                <a:solidFill>
                  <a:srgbClr val="333333"/>
                </a:solidFill>
                <a:latin typeface="Roboto"/>
                <a:ea typeface="Roboto"/>
                <a:cs typeface="Roboto"/>
                <a:sym typeface="Roboto"/>
              </a:rPr>
              <a:t> </a:t>
            </a:r>
            <a:r>
              <a:rPr lang="en-US" sz="2400" dirty="0">
                <a:solidFill>
                  <a:srgbClr val="333333"/>
                </a:solidFill>
                <a:latin typeface="Palatino Linotype" panose="02040502050505030304" pitchFamily="18" charset="0"/>
                <a:ea typeface="Roboto"/>
                <a:cs typeface="Roboto"/>
                <a:sym typeface="Roboto"/>
              </a:rPr>
              <a:t>n(PUQUR) = n(P) + n(Q) + n(R)–n(P⋂Q)–n(Q⋂R)– n(R⋂P)+ n(P⋂Q⋂R) </a:t>
            </a:r>
            <a:endParaRPr sz="2400" b="0" i="0" dirty="0">
              <a:solidFill>
                <a:srgbClr val="333333"/>
              </a:solidFill>
              <a:latin typeface="Palatino Linotype" panose="02040502050505030304" pitchFamily="18" charset="0"/>
              <a:ea typeface="Roboto"/>
              <a:cs typeface="Roboto"/>
              <a:sym typeface="Roboto"/>
            </a:endParaRPr>
          </a:p>
        </p:txBody>
      </p:sp>
      <p:sp>
        <p:nvSpPr>
          <p:cNvPr id="155" name="Google Shape;155;p9"/>
          <p:cNvSpPr/>
          <p:nvPr/>
        </p:nvSpPr>
        <p:spPr>
          <a:xfrm>
            <a:off x="428624" y="1629063"/>
            <a:ext cx="4355647"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dirty="0">
                <a:solidFill>
                  <a:schemeClr val="tx1"/>
                </a:solidFill>
                <a:latin typeface="Palatino Linotype" panose="02040502050505030304" pitchFamily="18" charset="0"/>
                <a:ea typeface="Calibri"/>
                <a:cs typeface="Calibri"/>
                <a:sym typeface="Calibri"/>
              </a:rPr>
              <a:t>Set Theory Formulas</a:t>
            </a:r>
            <a:endParaRPr sz="2400" b="1" u="sng" dirty="0">
              <a:solidFill>
                <a:schemeClr val="tx1"/>
              </a:solidFill>
              <a:latin typeface="Palatino Linotype" panose="02040502050505030304" pitchFamily="18" charset="0"/>
              <a:ea typeface="Calibri"/>
              <a:cs typeface="Calibri"/>
              <a:sym typeface="Calibri"/>
            </a:endParaRPr>
          </a:p>
        </p:txBody>
      </p:sp>
      <p:sp>
        <p:nvSpPr>
          <p:cNvPr id="6"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Theory(Formulas)</a:t>
            </a:r>
          </a:p>
        </p:txBody>
      </p:sp>
    </p:spTree>
    <p:extLst>
      <p:ext uri="{BB962C8B-B14F-4D97-AF65-F5344CB8AC3E}">
        <p14:creationId xmlns:p14="http://schemas.microsoft.com/office/powerpoint/2010/main" val="1495031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0"/>
          <p:cNvSpPr/>
          <p:nvPr/>
        </p:nvSpPr>
        <p:spPr>
          <a:xfrm>
            <a:off x="568125" y="1496739"/>
            <a:ext cx="11031165"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1. Which of the following set(s) are empty ?</a:t>
            </a:r>
            <a:endParaRPr sz="2400" dirty="0">
              <a:latin typeface="Palatino Linotype" panose="02040502050505030304" pitchFamily="18" charset="0"/>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 {x: x is set of all prime numbers divisible by 2} </a:t>
            </a:r>
            <a:endParaRPr sz="2400" dirty="0">
              <a:latin typeface="Palatino Linotype" panose="02040502050505030304" pitchFamily="18" charset="0"/>
            </a:endParaRPr>
          </a:p>
          <a:p>
            <a:pPr marL="457200" marR="0" lvl="0" indent="-45720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  {x: x is square root of 441} </a:t>
            </a:r>
            <a:endParaRPr sz="2400" dirty="0">
              <a:latin typeface="Palatino Linotype" panose="02040502050505030304" pitchFamily="18" charset="0"/>
            </a:endParaRPr>
          </a:p>
          <a:p>
            <a:pPr marL="457200" marR="0" lvl="0" indent="-45720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{x: x is a prime number, 63 &lt; x &lt; 66} </a:t>
            </a:r>
            <a:endParaRPr sz="2400" dirty="0">
              <a:latin typeface="Palatino Linotype" panose="02040502050505030304" pitchFamily="18" charset="0"/>
            </a:endParaRPr>
          </a:p>
          <a:p>
            <a:pPr marL="457200" marR="0" lvl="0" indent="-45720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{x: x is even natural numbers divisible by 5} </a:t>
            </a:r>
            <a:br>
              <a:rPr lang="en-US" sz="2400" dirty="0">
                <a:solidFill>
                  <a:schemeClr val="dk1"/>
                </a:solidFill>
                <a:latin typeface="Palatino Linotype" panose="02040502050505030304" pitchFamily="18" charset="0"/>
                <a:ea typeface="Calibri"/>
                <a:cs typeface="Calibri"/>
                <a:sym typeface="Calibri"/>
              </a:rPr>
            </a:br>
            <a:endParaRPr sz="2400" dirty="0">
              <a:solidFill>
                <a:schemeClr val="dk1"/>
              </a:solidFill>
              <a:latin typeface="Palatino Linotype" panose="02040502050505030304" pitchFamily="18" charset="0"/>
              <a:ea typeface="Calibri"/>
              <a:cs typeface="Calibri"/>
              <a:sym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2441684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1"/>
          <p:cNvSpPr/>
          <p:nvPr/>
        </p:nvSpPr>
        <p:spPr>
          <a:xfrm>
            <a:off x="409699" y="1524389"/>
            <a:ext cx="11031165" cy="4154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2. Consider the following statements;</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chemeClr val="dk1"/>
              </a:buClr>
              <a:buSzPts val="2400"/>
              <a:buFont typeface="Calibri"/>
              <a:buAutoNum type="arabicParenR"/>
            </a:pPr>
            <a:r>
              <a:rPr lang="en-US" sz="2400" dirty="0">
                <a:solidFill>
                  <a:schemeClr val="dk1"/>
                </a:solidFill>
                <a:latin typeface="Palatino Linotype" panose="02040502050505030304" pitchFamily="18" charset="0"/>
                <a:ea typeface="Calibri"/>
                <a:cs typeface="Calibri"/>
                <a:sym typeface="Calibri"/>
              </a:rPr>
              <a:t>The null set is subset of every set.</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chemeClr val="dk1"/>
              </a:buClr>
              <a:buSzPts val="2400"/>
              <a:buFont typeface="Calibri"/>
              <a:buAutoNum type="arabicParenR"/>
            </a:pPr>
            <a:r>
              <a:rPr lang="en-US" sz="2400" dirty="0">
                <a:solidFill>
                  <a:schemeClr val="dk1"/>
                </a:solidFill>
                <a:latin typeface="Palatino Linotype" panose="02040502050505030304" pitchFamily="18" charset="0"/>
                <a:ea typeface="Calibri"/>
                <a:cs typeface="Calibri"/>
                <a:sym typeface="Calibri"/>
              </a:rPr>
              <a:t>Every set is a subset of itself.</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chemeClr val="dk1"/>
              </a:buClr>
              <a:buSzPts val="2400"/>
              <a:buFont typeface="Calibri"/>
              <a:buAutoNum type="arabicParenR"/>
            </a:pPr>
            <a:r>
              <a:rPr lang="en-US" sz="2400" dirty="0">
                <a:solidFill>
                  <a:schemeClr val="dk1"/>
                </a:solidFill>
                <a:latin typeface="Palatino Linotype" panose="02040502050505030304" pitchFamily="18" charset="0"/>
                <a:ea typeface="Calibri"/>
                <a:cs typeface="Calibri"/>
                <a:sym typeface="Calibri"/>
              </a:rPr>
              <a:t>If a set has 10 elements, then its </a:t>
            </a:r>
            <a:r>
              <a:rPr lang="en-US" sz="2400" dirty="0" err="1">
                <a:solidFill>
                  <a:schemeClr val="dk1"/>
                </a:solidFill>
                <a:latin typeface="Palatino Linotype" panose="02040502050505030304" pitchFamily="18" charset="0"/>
                <a:ea typeface="Calibri"/>
                <a:cs typeface="Calibri"/>
                <a:sym typeface="Calibri"/>
              </a:rPr>
              <a:t>powerset</a:t>
            </a:r>
            <a:r>
              <a:rPr lang="en-US" sz="2400" dirty="0">
                <a:solidFill>
                  <a:schemeClr val="dk1"/>
                </a:solidFill>
                <a:latin typeface="Palatino Linotype" panose="02040502050505030304" pitchFamily="18" charset="0"/>
                <a:ea typeface="Calibri"/>
                <a:cs typeface="Calibri"/>
                <a:sym typeface="Calibri"/>
              </a:rPr>
              <a:t> will have 1024 elements.</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Which of the above statements are correct?</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endParaRPr sz="2400" dirty="0">
              <a:solidFill>
                <a:schemeClr val="dk1"/>
              </a:solidFill>
              <a:latin typeface="Palatino Linotype" panose="02040502050505030304" pitchFamily="18" charset="0"/>
              <a:ea typeface="Calibri"/>
              <a:cs typeface="Calibri"/>
              <a:sym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A.1 and 2 only</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 2 and 3 only</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1 and 3 only</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All three </a:t>
            </a:r>
            <a:br>
              <a:rPr lang="en-US" sz="2400" dirty="0">
                <a:solidFill>
                  <a:schemeClr val="dk1"/>
                </a:solidFill>
                <a:latin typeface="Palatino Linotype" panose="02040502050505030304" pitchFamily="18" charset="0"/>
                <a:ea typeface="Calibri"/>
                <a:cs typeface="Calibri"/>
                <a:sym typeface="Calibri"/>
              </a:rPr>
            </a:br>
            <a:endParaRPr sz="2400" dirty="0">
              <a:solidFill>
                <a:schemeClr val="dk1"/>
              </a:solidFill>
              <a:latin typeface="Palatino Linotype" panose="02040502050505030304" pitchFamily="18" charset="0"/>
              <a:ea typeface="Calibri"/>
              <a:cs typeface="Calibri"/>
              <a:sym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72861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2"/>
          <p:cNvSpPr/>
          <p:nvPr/>
        </p:nvSpPr>
        <p:spPr>
          <a:xfrm>
            <a:off x="400823" y="1494435"/>
            <a:ext cx="11031165"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3. If A = {1, 2, 4}, B = {2, 4, 5}, C = {2, 5}, then (A – B) x (B – C) is</a:t>
            </a:r>
            <a:endParaRPr sz="2400" dirty="0">
              <a:solidFill>
                <a:schemeClr val="dk1"/>
              </a:solidFill>
              <a:latin typeface="Palatino Linotype" panose="02040502050505030304" pitchFamily="18" charset="0"/>
              <a:ea typeface="Calibri"/>
              <a:cs typeface="Calibri"/>
              <a:sym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 {(1, 2), (1, 5), (2, 5)}</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 {(1, 4)}</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(1, 4)</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None of these</a:t>
            </a:r>
            <a:br>
              <a:rPr lang="en-US" sz="2400" dirty="0">
                <a:solidFill>
                  <a:schemeClr val="dk1"/>
                </a:solidFill>
                <a:latin typeface="Palatino Linotype" panose="02040502050505030304" pitchFamily="18" charset="0"/>
                <a:ea typeface="Calibri"/>
                <a:cs typeface="Calibri"/>
                <a:sym typeface="Calibri"/>
              </a:rPr>
            </a:br>
            <a:endParaRPr sz="2400" dirty="0">
              <a:solidFill>
                <a:schemeClr val="dk1"/>
              </a:solidFill>
              <a:latin typeface="Palatino Linotype" panose="02040502050505030304" pitchFamily="18" charset="0"/>
              <a:ea typeface="Calibri"/>
              <a:cs typeface="Calibri"/>
              <a:sym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3253843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13"/>
          <p:cNvSpPr/>
          <p:nvPr/>
        </p:nvSpPr>
        <p:spPr>
          <a:xfrm>
            <a:off x="387086" y="1450390"/>
            <a:ext cx="11154381"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4. 20 teachers of a school either teach mathematics or physics. 12 of them teach mathematics while 4 teach both the subjects. Then the number of teachers teaching physics is</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 5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 10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11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12</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846979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1" name="Google Shape;191;p14"/>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192" name="Google Shape;192;p14"/>
          <p:cNvSpPr txBox="1"/>
          <p:nvPr/>
        </p:nvSpPr>
        <p:spPr>
          <a:xfrm>
            <a:off x="457200" y="1489587"/>
            <a:ext cx="11154382" cy="3785611"/>
          </a:xfrm>
          <a:prstGeom prst="rect">
            <a:avLst/>
          </a:prstGeom>
          <a:noFill/>
          <a:ln>
            <a:noFill/>
          </a:ln>
        </p:spPr>
        <p:txBody>
          <a:bodyPr spcFirstLastPara="1" wrap="square" lIns="91425" tIns="45700" rIns="91425" bIns="45700" anchor="t" anchorCtr="0">
            <a:spAutoFit/>
          </a:bodyPr>
          <a:lstStyle/>
          <a:p>
            <a:pPr lvl="0" algn="just"/>
            <a:r>
              <a:rPr lang="en-US" sz="2400" dirty="0">
                <a:solidFill>
                  <a:srgbClr val="333333"/>
                </a:solidFill>
                <a:latin typeface="Calibri"/>
                <a:ea typeface="Calibri"/>
                <a:cs typeface="Calibri"/>
                <a:sym typeface="Calibri"/>
              </a:rPr>
              <a:t>5. </a:t>
            </a:r>
            <a:r>
              <a:rPr lang="en-US" sz="2400" dirty="0">
                <a:solidFill>
                  <a:schemeClr val="dk1"/>
                </a:solidFill>
                <a:latin typeface="Palatino Linotype" panose="02040502050505030304" pitchFamily="18" charset="0"/>
                <a:ea typeface="Calibri"/>
                <a:cs typeface="Calibri"/>
                <a:sym typeface="Calibri"/>
              </a:rPr>
              <a:t>Which of the following options best illustrates the given Venn diagram?</a:t>
            </a:r>
          </a:p>
          <a:p>
            <a:pPr marL="0" marR="0" lvl="0" indent="0" algn="just" rtl="0">
              <a:spcBef>
                <a:spcPts val="0"/>
              </a:spcBef>
              <a:spcAft>
                <a:spcPts val="0"/>
              </a:spcAft>
              <a:buNone/>
            </a:pPr>
            <a:endParaRPr lang="en-US" sz="2400" dirty="0">
              <a:solidFill>
                <a:schemeClr val="dk1"/>
              </a:solidFill>
              <a:latin typeface="Palatino Linotype" panose="02040502050505030304" pitchFamily="18" charset="0"/>
              <a:ea typeface="Calibri"/>
              <a:cs typeface="Calibri"/>
              <a:sym typeface="Calibri"/>
            </a:endParaRPr>
          </a:p>
          <a:p>
            <a:pPr marL="0" marR="0" lvl="0" indent="0" algn="just" rtl="0">
              <a:spcBef>
                <a:spcPts val="0"/>
              </a:spcBef>
              <a:spcAft>
                <a:spcPts val="0"/>
              </a:spcAft>
              <a:buNone/>
            </a:pPr>
            <a:endParaRPr lang="en-US" sz="2400" dirty="0">
              <a:solidFill>
                <a:schemeClr val="dk1"/>
              </a:solidFill>
              <a:latin typeface="Palatino Linotype" panose="02040502050505030304" pitchFamily="18" charset="0"/>
              <a:ea typeface="Calibri"/>
              <a:cs typeface="Calibri"/>
              <a:sym typeface="Calibri"/>
            </a:endParaRPr>
          </a:p>
          <a:p>
            <a:pPr marL="0" marR="0" lvl="0" indent="0" algn="just" rtl="0">
              <a:spcBef>
                <a:spcPts val="0"/>
              </a:spcBef>
              <a:spcAft>
                <a:spcPts val="0"/>
              </a:spcAft>
              <a:buNone/>
            </a:pPr>
            <a:endParaRPr lang="en-US" sz="2400" dirty="0">
              <a:solidFill>
                <a:schemeClr val="dk1"/>
              </a:solidFill>
              <a:latin typeface="Palatino Linotype" panose="02040502050505030304" pitchFamily="18" charset="0"/>
              <a:ea typeface="Calibri"/>
              <a:cs typeface="Calibri"/>
              <a:sym typeface="Calibri"/>
            </a:endParaRPr>
          </a:p>
          <a:p>
            <a:pPr marL="0" marR="0" lvl="0" indent="0" algn="just" rtl="0">
              <a:spcBef>
                <a:spcPts val="0"/>
              </a:spcBef>
              <a:spcAft>
                <a:spcPts val="0"/>
              </a:spcAft>
              <a:buNone/>
            </a:pPr>
            <a:endParaRPr lang="en-US" sz="2400" dirty="0">
              <a:solidFill>
                <a:schemeClr val="dk1"/>
              </a:solidFill>
              <a:latin typeface="Palatino Linotype" panose="02040502050505030304" pitchFamily="18" charset="0"/>
              <a:ea typeface="Calibri"/>
              <a:cs typeface="Calibri"/>
              <a:sym typeface="Calibri"/>
            </a:endParaRP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Elephants, tigers, animals</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Administrators, Doctors, Authors</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Platinum, Copper, Gold</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Gold, Platinum, Ornaments</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None</a:t>
            </a:r>
            <a:endParaRPr sz="2400" dirty="0">
              <a:solidFill>
                <a:schemeClr val="dk1"/>
              </a:solidFill>
              <a:latin typeface="Palatino Linotype" panose="02040502050505030304" pitchFamily="18" charset="0"/>
              <a:ea typeface="Calibri"/>
              <a:cs typeface="Calibri"/>
              <a:sym typeface="Calibri"/>
            </a:endParaRPr>
          </a:p>
        </p:txBody>
      </p:sp>
      <p:pic>
        <p:nvPicPr>
          <p:cNvPr id="194" name="Google Shape;194;p14"/>
          <p:cNvPicPr preferRelativeResize="0"/>
          <p:nvPr/>
        </p:nvPicPr>
        <p:blipFill rotWithShape="1">
          <a:blip r:embed="rId3">
            <a:alphaModFix/>
          </a:blip>
          <a:srcRect/>
          <a:stretch/>
        </p:blipFill>
        <p:spPr>
          <a:xfrm>
            <a:off x="4116551" y="2258759"/>
            <a:ext cx="1856546" cy="1206755"/>
          </a:xfrm>
          <a:prstGeom prst="rect">
            <a:avLst/>
          </a:prstGeom>
          <a:noFill/>
          <a:ln>
            <a:noFill/>
          </a:ln>
        </p:spPr>
      </p:pic>
      <p:sp>
        <p:nvSpPr>
          <p:cNvPr id="7"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1227721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15"/>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202" name="Google Shape;202;p15"/>
          <p:cNvSpPr txBox="1"/>
          <p:nvPr/>
        </p:nvSpPr>
        <p:spPr>
          <a:xfrm>
            <a:off x="457200" y="1489587"/>
            <a:ext cx="11154382" cy="4154943"/>
          </a:xfrm>
          <a:prstGeom prst="rect">
            <a:avLst/>
          </a:prstGeom>
          <a:noFill/>
          <a:ln>
            <a:noFill/>
          </a:ln>
        </p:spPr>
        <p:txBody>
          <a:bodyPr spcFirstLastPara="1" wrap="square" lIns="91425" tIns="45700" rIns="91425" bIns="45700" anchor="t" anchorCtr="0">
            <a:spAutoFit/>
          </a:bodyPr>
          <a:lstStyle/>
          <a:p>
            <a:pPr lvl="0" algn="just"/>
            <a:r>
              <a:rPr lang="en-US" sz="2400" dirty="0">
                <a:solidFill>
                  <a:schemeClr val="dk1"/>
                </a:solidFill>
                <a:latin typeface="Palatino Linotype" panose="02040502050505030304" pitchFamily="18" charset="0"/>
                <a:ea typeface="Calibri"/>
                <a:cs typeface="Calibri"/>
                <a:sym typeface="Calibri"/>
              </a:rPr>
              <a:t>6. Which of the following options best illustrates the given Venn diagram?</a:t>
            </a:r>
          </a:p>
          <a:p>
            <a:pPr lvl="0" algn="just">
              <a:buClr>
                <a:srgbClr val="333333"/>
              </a:buClr>
              <a:buSzPts val="2400"/>
            </a:pPr>
            <a:endParaRPr lang="en-US" sz="2400" dirty="0">
              <a:solidFill>
                <a:schemeClr val="dk1"/>
              </a:solidFill>
              <a:latin typeface="Palatino Linotype" panose="02040502050505030304" pitchFamily="18" charset="0"/>
              <a:ea typeface="Calibri"/>
              <a:cs typeface="Calibri"/>
              <a:sym typeface="Calibri"/>
            </a:endParaRPr>
          </a:p>
          <a:p>
            <a:pPr lvl="0" algn="just">
              <a:buClr>
                <a:srgbClr val="333333"/>
              </a:buClr>
              <a:buSzPts val="2400"/>
            </a:pPr>
            <a:endParaRPr lang="en-US" sz="2400" dirty="0">
              <a:solidFill>
                <a:schemeClr val="dk1"/>
              </a:solidFill>
              <a:latin typeface="Palatino Linotype" panose="02040502050505030304" pitchFamily="18" charset="0"/>
              <a:ea typeface="Calibri"/>
              <a:cs typeface="Calibri"/>
              <a:sym typeface="Calibri"/>
            </a:endParaRPr>
          </a:p>
          <a:p>
            <a:pPr lvl="0" algn="just">
              <a:buClr>
                <a:srgbClr val="333333"/>
              </a:buClr>
              <a:buSzPts val="2400"/>
            </a:pPr>
            <a:endParaRPr lang="en-US" sz="2400" dirty="0">
              <a:solidFill>
                <a:schemeClr val="dk1"/>
              </a:solidFill>
              <a:latin typeface="Palatino Linotype" panose="02040502050505030304" pitchFamily="18" charset="0"/>
              <a:ea typeface="Calibri"/>
              <a:cs typeface="Calibri"/>
              <a:sym typeface="Calibri"/>
            </a:endParaRPr>
          </a:p>
          <a:p>
            <a:pPr lvl="0" algn="just">
              <a:buClr>
                <a:srgbClr val="333333"/>
              </a:buClr>
              <a:buSzPts val="2400"/>
            </a:pPr>
            <a:endParaRPr lang="en-US" sz="2400" dirty="0">
              <a:solidFill>
                <a:schemeClr val="dk1"/>
              </a:solidFill>
              <a:latin typeface="Palatino Linotype" panose="02040502050505030304" pitchFamily="18" charset="0"/>
              <a:ea typeface="Calibri"/>
              <a:cs typeface="Calibri"/>
              <a:sym typeface="Calibri"/>
            </a:endParaRPr>
          </a:p>
          <a:p>
            <a:pPr lvl="0" algn="just">
              <a:buClr>
                <a:srgbClr val="333333"/>
              </a:buClr>
              <a:buSzPts val="2400"/>
            </a:pPr>
            <a:endParaRPr lang="en-US" sz="2400" dirty="0">
              <a:solidFill>
                <a:schemeClr val="dk1"/>
              </a:solidFill>
              <a:latin typeface="Palatino Linotype" panose="02040502050505030304" pitchFamily="18" charset="0"/>
              <a:ea typeface="Calibri"/>
              <a:cs typeface="Calibri"/>
              <a:sym typeface="Calibri"/>
            </a:endParaRP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Elephants, tigers, animals</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Administrators, Doctors, Authors</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Platinum, Copper, Gold</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Gold, Platinum, Ornaments</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Both B and D</a:t>
            </a:r>
            <a:endParaRPr sz="2400" i="0" dirty="0">
              <a:solidFill>
                <a:srgbClr val="333333"/>
              </a:solidFill>
              <a:latin typeface="Calibri"/>
              <a:ea typeface="Calibri"/>
              <a:cs typeface="Calibri"/>
              <a:sym typeface="Calibri"/>
            </a:endParaRPr>
          </a:p>
        </p:txBody>
      </p:sp>
      <p:pic>
        <p:nvPicPr>
          <p:cNvPr id="204" name="Google Shape;204;p15"/>
          <p:cNvPicPr preferRelativeResize="0"/>
          <p:nvPr/>
        </p:nvPicPr>
        <p:blipFill rotWithShape="1">
          <a:blip r:embed="rId3">
            <a:alphaModFix/>
          </a:blip>
          <a:srcRect/>
          <a:stretch/>
        </p:blipFill>
        <p:spPr>
          <a:xfrm>
            <a:off x="3851538" y="2210547"/>
            <a:ext cx="1620114" cy="1484160"/>
          </a:xfrm>
          <a:prstGeom prst="rect">
            <a:avLst/>
          </a:prstGeom>
          <a:noFill/>
          <a:ln>
            <a:noFill/>
          </a:ln>
        </p:spPr>
      </p:pic>
      <p:sp>
        <p:nvSpPr>
          <p:cNvPr id="7"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1209271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16"/>
          <p:cNvSpPr/>
          <p:nvPr/>
        </p:nvSpPr>
        <p:spPr>
          <a:xfrm>
            <a:off x="429544" y="1539141"/>
            <a:ext cx="11085094" cy="2308324"/>
          </a:xfrm>
          <a:prstGeom prst="rect">
            <a:avLst/>
          </a:prstGeom>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7. In a group of 60 people, 27 like cold drinks and 42 like hot drinks and each person likes at least one of the two drinks. How many like both coffee and tea?</a:t>
            </a:r>
            <a:endParaRPr sz="2400" dirty="0">
              <a:solidFill>
                <a:schemeClr val="dk1"/>
              </a:solidFill>
              <a:latin typeface="Palatino Linotype" panose="02040502050505030304" pitchFamily="18" charset="0"/>
              <a:ea typeface="Calibri"/>
              <a:cs typeface="Calibri"/>
              <a:sym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 14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 12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10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9</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1520213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8" name="Google Shape;218;p17"/>
          <p:cNvSpPr/>
          <p:nvPr/>
        </p:nvSpPr>
        <p:spPr>
          <a:xfrm>
            <a:off x="382327" y="1490008"/>
            <a:ext cx="11085094"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8. In a class 50% of the students enrolled for Hindi and 60% enrolled in Science. If 20% of the students enrolled for both Hindi and Science, what % of the students of the class did not enroll for either of the two subjects?</a:t>
            </a:r>
            <a:endParaRPr sz="2400" dirty="0">
              <a:solidFill>
                <a:schemeClr val="dk1"/>
              </a:solidFill>
              <a:latin typeface="Palatino Linotype" panose="02040502050505030304" pitchFamily="18" charset="0"/>
              <a:ea typeface="Calibri"/>
              <a:cs typeface="Calibri"/>
              <a:sym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 5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 15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10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25</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3044335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5" name="Google Shape;225;p18"/>
          <p:cNvSpPr/>
          <p:nvPr/>
        </p:nvSpPr>
        <p:spPr>
          <a:xfrm>
            <a:off x="385764" y="1496738"/>
            <a:ext cx="11085094"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9. In a class of 60 students, 40 students like </a:t>
            </a:r>
            <a:r>
              <a:rPr lang="en-US" sz="2400" dirty="0" err="1">
                <a:solidFill>
                  <a:schemeClr val="dk1"/>
                </a:solidFill>
                <a:latin typeface="Palatino Linotype" panose="02040502050505030304" pitchFamily="18" charset="0"/>
                <a:ea typeface="Calibri"/>
                <a:cs typeface="Calibri"/>
                <a:sym typeface="Calibri"/>
              </a:rPr>
              <a:t>maths</a:t>
            </a:r>
            <a:r>
              <a:rPr lang="en-US" sz="2400" dirty="0">
                <a:solidFill>
                  <a:schemeClr val="dk1"/>
                </a:solidFill>
                <a:latin typeface="Palatino Linotype" panose="02040502050505030304" pitchFamily="18" charset="0"/>
                <a:ea typeface="Calibri"/>
                <a:cs typeface="Calibri"/>
                <a:sym typeface="Calibri"/>
              </a:rPr>
              <a:t>, 36 students like science, 24 like both the subjects. Find the number of students who like Only </a:t>
            </a:r>
            <a:r>
              <a:rPr lang="en-US" sz="2400" dirty="0" err="1">
                <a:solidFill>
                  <a:schemeClr val="dk1"/>
                </a:solidFill>
                <a:latin typeface="Palatino Linotype" panose="02040502050505030304" pitchFamily="18" charset="0"/>
                <a:ea typeface="Calibri"/>
                <a:cs typeface="Calibri"/>
                <a:sym typeface="Calibri"/>
              </a:rPr>
              <a:t>maths</a:t>
            </a:r>
            <a:r>
              <a:rPr lang="en-US" sz="2400" dirty="0">
                <a:solidFill>
                  <a:schemeClr val="dk1"/>
                </a:solidFill>
                <a:latin typeface="Palatino Linotype" panose="02040502050505030304" pitchFamily="18" charset="0"/>
                <a:ea typeface="Calibri"/>
                <a:cs typeface="Calibri"/>
                <a:sym typeface="Calibri"/>
              </a:rPr>
              <a:t>;</a:t>
            </a:r>
            <a:endParaRPr sz="2400" dirty="0">
              <a:solidFill>
                <a:schemeClr val="dk1"/>
              </a:solidFill>
              <a:latin typeface="Palatino Linotype" panose="02040502050505030304" pitchFamily="18" charset="0"/>
              <a:ea typeface="Calibri"/>
              <a:cs typeface="Calibri"/>
              <a:sym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 16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 12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32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36</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3373012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646294" y="1551214"/>
            <a:ext cx="10874828" cy="2677656"/>
          </a:xfrm>
          <a:prstGeom prst="rect">
            <a:avLst/>
          </a:prstGeom>
        </p:spPr>
        <p:txBody>
          <a:bodyPr wrap="square">
            <a:spAutoFit/>
          </a:bodyPr>
          <a:lstStyle/>
          <a:p>
            <a:pPr lvl="0">
              <a:buClr>
                <a:srgbClr val="333333"/>
              </a:buClr>
              <a:buSzPts val="2400"/>
            </a:pPr>
            <a:r>
              <a:rPr lang="en-US" sz="2400" dirty="0">
                <a:solidFill>
                  <a:schemeClr val="dk1"/>
                </a:solidFill>
                <a:latin typeface="Palatino Linotype" panose="02040502050505030304" pitchFamily="18" charset="0"/>
                <a:ea typeface="Calibri"/>
                <a:cs typeface="Calibri"/>
                <a:sym typeface="Helvetica Neue"/>
              </a:rPr>
              <a:t>10. In the </a:t>
            </a:r>
            <a:r>
              <a:rPr lang="en-US" sz="2400" dirty="0" err="1">
                <a:solidFill>
                  <a:schemeClr val="dk1"/>
                </a:solidFill>
                <a:latin typeface="Palatino Linotype" panose="02040502050505030304" pitchFamily="18" charset="0"/>
                <a:ea typeface="Calibri"/>
                <a:cs typeface="Calibri"/>
                <a:sym typeface="Helvetica Neue"/>
              </a:rPr>
              <a:t>Mindworkzz</a:t>
            </a:r>
            <a:r>
              <a:rPr lang="en-US" sz="2400" dirty="0">
                <a:solidFill>
                  <a:schemeClr val="dk1"/>
                </a:solidFill>
                <a:latin typeface="Palatino Linotype" panose="02040502050505030304" pitchFamily="18" charset="0"/>
                <a:ea typeface="Calibri"/>
                <a:cs typeface="Calibri"/>
                <a:sym typeface="Helvetica Neue"/>
              </a:rPr>
              <a:t> club all the members participate either in the </a:t>
            </a:r>
            <a:r>
              <a:rPr lang="en-US" sz="2400" dirty="0" err="1">
                <a:solidFill>
                  <a:schemeClr val="dk1"/>
                </a:solidFill>
                <a:latin typeface="Palatino Linotype" panose="02040502050505030304" pitchFamily="18" charset="0"/>
                <a:ea typeface="Calibri"/>
                <a:cs typeface="Calibri"/>
                <a:sym typeface="Helvetica Neue"/>
              </a:rPr>
              <a:t>Tambola</a:t>
            </a:r>
            <a:r>
              <a:rPr lang="en-US" sz="2400" dirty="0">
                <a:solidFill>
                  <a:schemeClr val="dk1"/>
                </a:solidFill>
                <a:latin typeface="Palatino Linotype" panose="02040502050505030304" pitchFamily="18" charset="0"/>
                <a:ea typeface="Calibri"/>
                <a:cs typeface="Calibri"/>
                <a:sym typeface="Helvetica Neue"/>
              </a:rPr>
              <a:t> or the Fete. 320 participate in the Fete, 350 participate in the </a:t>
            </a:r>
            <a:r>
              <a:rPr lang="en-US" sz="2400" dirty="0" err="1">
                <a:solidFill>
                  <a:schemeClr val="dk1"/>
                </a:solidFill>
                <a:latin typeface="Palatino Linotype" panose="02040502050505030304" pitchFamily="18" charset="0"/>
                <a:ea typeface="Calibri"/>
                <a:cs typeface="Calibri"/>
                <a:sym typeface="Helvetica Neue"/>
              </a:rPr>
              <a:t>Tambola</a:t>
            </a:r>
            <a:r>
              <a:rPr lang="en-US" sz="2400" dirty="0">
                <a:solidFill>
                  <a:schemeClr val="dk1"/>
                </a:solidFill>
                <a:latin typeface="Palatino Linotype" panose="02040502050505030304" pitchFamily="18" charset="0"/>
                <a:ea typeface="Calibri"/>
                <a:cs typeface="Calibri"/>
                <a:sym typeface="Helvetica Neue"/>
              </a:rPr>
              <a:t> and 220 participate in both. How many members does the club have?</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410</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450</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440</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380</a:t>
            </a:r>
            <a:endParaRPr lang="en-US" sz="2400" dirty="0">
              <a:solidFill>
                <a:schemeClr val="dk1"/>
              </a:solidFill>
              <a:latin typeface="Palatino Linotype" panose="02040502050505030304" pitchFamily="18" charset="0"/>
              <a:ea typeface="Calibri"/>
              <a:cs typeface="Calibri"/>
            </a:endParaRPr>
          </a:p>
        </p:txBody>
      </p:sp>
    </p:spTree>
    <p:extLst>
      <p:ext uri="{BB962C8B-B14F-4D97-AF65-F5344CB8AC3E}">
        <p14:creationId xmlns:p14="http://schemas.microsoft.com/office/powerpoint/2010/main" val="1046200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6" name="Google Shape;326;p32"/>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5"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604156" y="1511860"/>
            <a:ext cx="10564585" cy="2677656"/>
          </a:xfrm>
          <a:prstGeom prst="rect">
            <a:avLst/>
          </a:prstGeom>
        </p:spPr>
        <p:txBody>
          <a:bodyPr wrap="square">
            <a:spAutoFit/>
          </a:bodyPr>
          <a:lstStyle/>
          <a:p>
            <a:pPr lvl="0" algn="just">
              <a:buClr>
                <a:srgbClr val="333333"/>
              </a:buClr>
              <a:buSzPts val="2400"/>
            </a:pPr>
            <a:r>
              <a:rPr lang="en-US" sz="2400" dirty="0">
                <a:solidFill>
                  <a:schemeClr val="dk1"/>
                </a:solidFill>
                <a:latin typeface="Palatino Linotype" panose="02040502050505030304" pitchFamily="18" charset="0"/>
                <a:ea typeface="Calibri"/>
                <a:cs typeface="Calibri"/>
                <a:sym typeface="Calibri"/>
              </a:rPr>
              <a:t>11. 30 monkeys went to a picnic. 25 monkeys chose to irritate cows while 20 chose to irritate buffaloes. How many chose to irritate both buffaloes and cows?</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10</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15</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5</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20</a:t>
            </a:r>
          </a:p>
        </p:txBody>
      </p:sp>
    </p:spTree>
    <p:extLst>
      <p:ext uri="{BB962C8B-B14F-4D97-AF65-F5344CB8AC3E}">
        <p14:creationId xmlns:p14="http://schemas.microsoft.com/office/powerpoint/2010/main" val="2291618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489857" y="1554502"/>
            <a:ext cx="10499271" cy="3323987"/>
          </a:xfrm>
          <a:prstGeom prst="rect">
            <a:avLst/>
          </a:prstGeom>
        </p:spPr>
        <p:txBody>
          <a:bodyPr wrap="square">
            <a:spAutoFit/>
          </a:bodyPr>
          <a:lstStyle/>
          <a:p>
            <a:pPr lvl="0">
              <a:buClr>
                <a:srgbClr val="333333"/>
              </a:buClr>
              <a:buSzPts val="2400"/>
            </a:pPr>
            <a:r>
              <a:rPr lang="en-US" sz="2400" dirty="0">
                <a:solidFill>
                  <a:schemeClr val="dk1"/>
                </a:solidFill>
                <a:latin typeface="Palatino Linotype" panose="02040502050505030304" pitchFamily="18" charset="0"/>
                <a:ea typeface="Calibri"/>
                <a:cs typeface="Calibri"/>
                <a:sym typeface="Helvetica Neue"/>
              </a:rPr>
              <a:t>12. There are 20000 people living in </a:t>
            </a:r>
            <a:r>
              <a:rPr lang="en-US" sz="2400" dirty="0" err="1">
                <a:solidFill>
                  <a:schemeClr val="dk1"/>
                </a:solidFill>
                <a:latin typeface="Palatino Linotype" panose="02040502050505030304" pitchFamily="18" charset="0"/>
                <a:ea typeface="Calibri"/>
                <a:cs typeface="Calibri"/>
                <a:sym typeface="Helvetica Neue"/>
              </a:rPr>
              <a:t>Defence</a:t>
            </a:r>
            <a:r>
              <a:rPr lang="en-US" sz="2400" dirty="0">
                <a:solidFill>
                  <a:schemeClr val="dk1"/>
                </a:solidFill>
                <a:latin typeface="Palatino Linotype" panose="02040502050505030304" pitchFamily="18" charset="0"/>
                <a:ea typeface="Calibri"/>
                <a:cs typeface="Calibri"/>
                <a:sym typeface="Helvetica Neue"/>
              </a:rPr>
              <a:t> Colony, Gurgaon. Out of them 9000 subscribe to Star TV Network and 12000 to Zee TV Network. If 4000 subscribe to both, how many do not subscribe to any of the two?</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5000</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2000</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3000</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1000</a:t>
            </a:r>
            <a:endParaRPr lang="en-US" sz="2400" dirty="0">
              <a:solidFill>
                <a:schemeClr val="dk1"/>
              </a:solidFill>
              <a:latin typeface="Palatino Linotype" panose="02040502050505030304" pitchFamily="18" charset="0"/>
              <a:ea typeface="Calibri"/>
              <a:cs typeface="Calibri"/>
            </a:endParaRPr>
          </a:p>
          <a:p>
            <a:pPr lvl="0">
              <a:lnSpc>
                <a:spcPct val="150000"/>
              </a:lnSpc>
              <a:buClr>
                <a:schemeClr val="dk1"/>
              </a:buClr>
              <a:buSzPts val="2400"/>
            </a:pPr>
            <a:br>
              <a:rPr lang="en-US" dirty="0">
                <a:solidFill>
                  <a:schemeClr val="dk1"/>
                </a:solidFill>
              </a:rPr>
            </a:br>
            <a:endParaRPr lang="en-US" dirty="0">
              <a:solidFill>
                <a:schemeClr val="dk1"/>
              </a:solidFill>
            </a:endParaRPr>
          </a:p>
        </p:txBody>
      </p:sp>
    </p:spTree>
    <p:extLst>
      <p:ext uri="{BB962C8B-B14F-4D97-AF65-F5344CB8AC3E}">
        <p14:creationId xmlns:p14="http://schemas.microsoft.com/office/powerpoint/2010/main" val="218359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9" name="Google Shape;239;p20"/>
          <p:cNvSpPr/>
          <p:nvPr/>
        </p:nvSpPr>
        <p:spPr>
          <a:xfrm>
            <a:off x="457200" y="1556673"/>
            <a:ext cx="11154382" cy="2631469"/>
          </a:xfrm>
          <a:prstGeom prst="rect">
            <a:avLst/>
          </a:prstGeom>
          <a:noFill/>
          <a:ln>
            <a:noFill/>
          </a:ln>
        </p:spPr>
        <p:txBody>
          <a:bodyPr spcFirstLastPara="1" wrap="square" lIns="91425" tIns="0" rIns="91425" bIns="45700" anchor="ctr"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13. In a class 40% of the students enrolled for Math and 70% enrolled for Economics. If 15% of the students enrolled for both Math and Economics, what % of the students of the class did not enroll for either of the two subjects?</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A.5%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B.15%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0%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25%</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2811114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9" name="Google Shape;239;p20"/>
          <p:cNvSpPr/>
          <p:nvPr/>
        </p:nvSpPr>
        <p:spPr>
          <a:xfrm>
            <a:off x="457200" y="1556673"/>
            <a:ext cx="11154382" cy="2631469"/>
          </a:xfrm>
          <a:prstGeom prst="rect">
            <a:avLst/>
          </a:prstGeom>
          <a:noFill/>
          <a:ln>
            <a:noFill/>
          </a:ln>
        </p:spPr>
        <p:txBody>
          <a:bodyPr spcFirstLastPara="1" wrap="square" lIns="91425" tIns="0" rIns="91425" bIns="45700" anchor="ctr"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14. In a class 40% of the students enrolled for Math and 70% enrolled for Economics. If 15% of the students enrolled for both Math and Economics, what % of the students of the class did enroll for only Math and only Economics?</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A.85%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B.80 %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C. 70%                      </a:t>
            </a:r>
            <a:endParaRPr sz="2400" dirty="0">
              <a:solidFill>
                <a:schemeClr val="dk1"/>
              </a:solidFill>
              <a:latin typeface="Palatino Linotype" panose="02040502050505030304" pitchFamily="18" charset="0"/>
              <a:ea typeface="Calibri"/>
              <a:cs typeface="Calibri"/>
            </a:endParaRPr>
          </a:p>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D. 75%</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912273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8" name="Google Shape;288;p27"/>
          <p:cNvSpPr/>
          <p:nvPr/>
        </p:nvSpPr>
        <p:spPr>
          <a:xfrm>
            <a:off x="523567" y="1487322"/>
            <a:ext cx="11021648" cy="3323987"/>
          </a:xfrm>
          <a:prstGeom prst="rect">
            <a:avLst/>
          </a:prstGeom>
        </p:spPr>
        <p:txBody>
          <a:bodyPr spcFirstLastPara="1" wrap="square" lIns="0" tIns="0" rIns="0" bIns="0" anchor="ctr" anchorCtr="0">
            <a:spAutoFit/>
          </a:bodyPr>
          <a:lstStyle/>
          <a:p>
            <a:pPr marL="0" marR="0" lvl="0" indent="0" algn="l" rtl="0">
              <a:spcBef>
                <a:spcPts val="0"/>
              </a:spcBef>
              <a:spcAft>
                <a:spcPts val="0"/>
              </a:spcAft>
              <a:buClr>
                <a:srgbClr val="333333"/>
              </a:buClr>
              <a:buSzPts val="2400"/>
              <a:buFont typeface="Helvetica Neue"/>
              <a:buNone/>
            </a:pPr>
            <a:r>
              <a:rPr lang="en-US" sz="2400" dirty="0">
                <a:solidFill>
                  <a:schemeClr val="dk1"/>
                </a:solidFill>
                <a:latin typeface="Palatino Linotype" panose="02040502050505030304" pitchFamily="18" charset="0"/>
                <a:ea typeface="Calibri"/>
                <a:cs typeface="Calibri"/>
                <a:sym typeface="Helvetica Neue"/>
              </a:rPr>
              <a:t>15. In the Indian athletic squad sent to the Olympics, 21 athletes were in the triathlon team; 26 were in the pentathlon team; and 29 were in the marathon team. 14 athletes can take part in triathlon and pentathlon; 12 can take part in marathon and triathlon; 15 can take part in pentathlon and marathon; and 8 can take part in all the three games. How many players are there in all?</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35</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54</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42</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43</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312602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3" name="Google Shape;303;p29"/>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5"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556487" y="1580925"/>
            <a:ext cx="11054442" cy="3416320"/>
          </a:xfrm>
          <a:prstGeom prst="rect">
            <a:avLst/>
          </a:prstGeom>
        </p:spPr>
        <p:txBody>
          <a:bodyPr wrap="square">
            <a:spAutoFit/>
          </a:bodyPr>
          <a:lstStyle/>
          <a:p>
            <a:pPr lvl="0" algn="just">
              <a:buClr>
                <a:srgbClr val="333333"/>
              </a:buClr>
              <a:buSzPts val="2400"/>
            </a:pPr>
            <a:r>
              <a:rPr lang="en-US" sz="2400" dirty="0">
                <a:solidFill>
                  <a:schemeClr val="dk1"/>
                </a:solidFill>
                <a:latin typeface="Palatino Linotype" panose="02040502050505030304" pitchFamily="18" charset="0"/>
                <a:ea typeface="Calibri"/>
                <a:cs typeface="Calibri"/>
                <a:sym typeface="Helvetica Neue"/>
              </a:rPr>
              <a:t>16. In the Indian athletic squad sent to the Olympics, 21 athletes were in the triathlon team; 26 were in the pentathlon team; and 29 were in the marathon team. 14 athletes can take part in triathlon and pentathlon; 12 can take part in marathon and triathlon; 15 can take part in pentathlon and marathon; and 8 can take part in all the three games. How many were in the marathon team only?</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11</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10</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8</a:t>
            </a:r>
            <a:endParaRPr lang="en-US" sz="2400" dirty="0">
              <a:solidFill>
                <a:schemeClr val="dk1"/>
              </a:solidFill>
              <a:latin typeface="Palatino Linotype" panose="02040502050505030304" pitchFamily="18" charset="0"/>
              <a:ea typeface="Calibri"/>
              <a:cs typeface="Calibri"/>
            </a:endParaRPr>
          </a:p>
          <a:p>
            <a:pPr marL="457200" lvl="0" indent="-457200">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9</a:t>
            </a:r>
            <a:endParaRPr lang="en-US" sz="2400" dirty="0">
              <a:solidFill>
                <a:schemeClr val="dk1"/>
              </a:solidFill>
              <a:latin typeface="Palatino Linotype" panose="02040502050505030304" pitchFamily="18" charset="0"/>
              <a:ea typeface="Calibri"/>
              <a:cs typeface="Calibri"/>
            </a:endParaRPr>
          </a:p>
        </p:txBody>
      </p:sp>
    </p:spTree>
    <p:extLst>
      <p:ext uri="{BB962C8B-B14F-4D97-AF65-F5344CB8AC3E}">
        <p14:creationId xmlns:p14="http://schemas.microsoft.com/office/powerpoint/2010/main" val="2198766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0" name="Google Shape;310;p30"/>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5"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3" name="Rectangle 2"/>
          <p:cNvSpPr/>
          <p:nvPr/>
        </p:nvSpPr>
        <p:spPr>
          <a:xfrm>
            <a:off x="620486" y="1580925"/>
            <a:ext cx="10646228" cy="3416320"/>
          </a:xfrm>
          <a:prstGeom prst="rect">
            <a:avLst/>
          </a:prstGeom>
        </p:spPr>
        <p:txBody>
          <a:bodyPr wrap="square">
            <a:spAutoFit/>
          </a:bodyPr>
          <a:lstStyle/>
          <a:p>
            <a:r>
              <a:rPr lang="en-US" sz="2400" dirty="0">
                <a:solidFill>
                  <a:schemeClr val="dk1"/>
                </a:solidFill>
                <a:latin typeface="Palatino Linotype" panose="02040502050505030304" pitchFamily="18" charset="0"/>
                <a:ea typeface="Calibri"/>
                <a:cs typeface="Calibri"/>
              </a:rPr>
              <a:t>17. 5% of the passengers who boarded Guwahati- New Delhi </a:t>
            </a:r>
            <a:r>
              <a:rPr lang="en-US" sz="2400" dirty="0" err="1">
                <a:solidFill>
                  <a:schemeClr val="dk1"/>
                </a:solidFill>
                <a:latin typeface="Palatino Linotype" panose="02040502050505030304" pitchFamily="18" charset="0"/>
                <a:ea typeface="Calibri"/>
                <a:cs typeface="Calibri"/>
              </a:rPr>
              <a:t>Rajdhani</a:t>
            </a:r>
            <a:r>
              <a:rPr lang="en-US" sz="2400" dirty="0">
                <a:solidFill>
                  <a:schemeClr val="dk1"/>
                </a:solidFill>
                <a:latin typeface="Palatino Linotype" panose="02040502050505030304" pitchFamily="18" charset="0"/>
                <a:ea typeface="Calibri"/>
                <a:cs typeface="Calibri"/>
              </a:rPr>
              <a:t> Express on 20th February, 2002 do not like coffee, tea and ice cream and 10% like all the three. 20% like coffee and tea, 25% like ice cream and coffee and 25% like ice cream and tea. 55% like coffee, 50% like tea and 50 % like ice cream. The percentage of passengers who like at least 2 of the 3 products is</a:t>
            </a:r>
          </a:p>
          <a:p>
            <a:pPr marL="457200" indent="-457200">
              <a:buFont typeface="+mj-lt"/>
              <a:buAutoNum type="alphaUcPeriod"/>
            </a:pPr>
            <a:r>
              <a:rPr lang="en-US" sz="2400" dirty="0">
                <a:solidFill>
                  <a:schemeClr val="dk1"/>
                </a:solidFill>
                <a:latin typeface="Palatino Linotype" panose="02040502050505030304" pitchFamily="18" charset="0"/>
                <a:ea typeface="Calibri"/>
                <a:cs typeface="Calibri"/>
              </a:rPr>
              <a:t>100</a:t>
            </a:r>
          </a:p>
          <a:p>
            <a:pPr marL="457200" indent="-457200">
              <a:buFont typeface="+mj-lt"/>
              <a:buAutoNum type="alphaUcPeriod"/>
            </a:pPr>
            <a:r>
              <a:rPr lang="en-US" sz="2400" dirty="0">
                <a:solidFill>
                  <a:schemeClr val="dk1"/>
                </a:solidFill>
                <a:latin typeface="Palatino Linotype" panose="02040502050505030304" pitchFamily="18" charset="0"/>
                <a:ea typeface="Calibri"/>
                <a:cs typeface="Calibri"/>
              </a:rPr>
              <a:t>15</a:t>
            </a:r>
          </a:p>
          <a:p>
            <a:pPr marL="457200" indent="-457200">
              <a:buFont typeface="+mj-lt"/>
              <a:buAutoNum type="alphaUcPeriod"/>
            </a:pPr>
            <a:r>
              <a:rPr lang="en-US" sz="2400" dirty="0">
                <a:solidFill>
                  <a:schemeClr val="dk1"/>
                </a:solidFill>
                <a:latin typeface="Palatino Linotype" panose="02040502050505030304" pitchFamily="18" charset="0"/>
                <a:ea typeface="Calibri"/>
                <a:cs typeface="Calibri"/>
              </a:rPr>
              <a:t>50</a:t>
            </a:r>
          </a:p>
          <a:p>
            <a:pPr marL="457200" indent="-457200">
              <a:buFont typeface="+mj-lt"/>
              <a:buAutoNum type="alphaUcPeriod"/>
            </a:pPr>
            <a:r>
              <a:rPr lang="en-US" sz="2400" dirty="0">
                <a:solidFill>
                  <a:schemeClr val="dk1"/>
                </a:solidFill>
                <a:latin typeface="Palatino Linotype" panose="02040502050505030304" pitchFamily="18" charset="0"/>
                <a:ea typeface="Calibri"/>
                <a:cs typeface="Calibri"/>
              </a:rPr>
              <a:t>18</a:t>
            </a:r>
          </a:p>
        </p:txBody>
      </p:sp>
    </p:spTree>
    <p:extLst>
      <p:ext uri="{BB962C8B-B14F-4D97-AF65-F5344CB8AC3E}">
        <p14:creationId xmlns:p14="http://schemas.microsoft.com/office/powerpoint/2010/main" val="2961946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8" name="Google Shape;318;p31"/>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5"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538843" y="1580925"/>
            <a:ext cx="10450286" cy="3416320"/>
          </a:xfrm>
          <a:prstGeom prst="rect">
            <a:avLst/>
          </a:prstGeom>
        </p:spPr>
        <p:txBody>
          <a:bodyPr wrap="square">
            <a:spAutoFit/>
          </a:bodyPr>
          <a:lstStyle/>
          <a:p>
            <a:pPr lvl="0" algn="just">
              <a:buClr>
                <a:srgbClr val="333333"/>
              </a:buClr>
              <a:buSzPts val="2400"/>
            </a:pPr>
            <a:r>
              <a:rPr lang="en-US" sz="2400" dirty="0">
                <a:solidFill>
                  <a:schemeClr val="dk1"/>
                </a:solidFill>
                <a:latin typeface="Palatino Linotype" panose="02040502050505030304" pitchFamily="18" charset="0"/>
                <a:ea typeface="Calibri"/>
                <a:cs typeface="Calibri"/>
                <a:sym typeface="Helvetica Neue"/>
              </a:rPr>
              <a:t>18. In a survey among students at all the IIMs, it was found that 48% preferred coffee, 54% liked tea and 64% smoked. Of the total, 28% liked coffee and tea, 32% smoked and drank tea and 30% smoked and drank coffee. Only 6% did none of these. If the total number of students is 2000 then find Number of students who like coffee and smoking but not tea is</a:t>
            </a:r>
            <a:endParaRPr lang="en-US" sz="2400" dirty="0">
              <a:solidFill>
                <a:schemeClr val="dk1"/>
              </a:solidFill>
              <a:latin typeface="Palatino Linotype" panose="02040502050505030304" pitchFamily="18" charset="0"/>
              <a:ea typeface="Calibri"/>
              <a:cs typeface="Calibri"/>
            </a:endParaRP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600</a:t>
            </a:r>
            <a:endParaRPr lang="en-US" sz="2400" dirty="0">
              <a:solidFill>
                <a:schemeClr val="dk1"/>
              </a:solidFill>
              <a:latin typeface="Palatino Linotype" panose="02040502050505030304" pitchFamily="18" charset="0"/>
              <a:ea typeface="Calibri"/>
              <a:cs typeface="Calibri"/>
            </a:endParaRP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240</a:t>
            </a:r>
            <a:endParaRPr lang="en-US" sz="2400" dirty="0">
              <a:solidFill>
                <a:schemeClr val="dk1"/>
              </a:solidFill>
              <a:latin typeface="Palatino Linotype" panose="02040502050505030304" pitchFamily="18" charset="0"/>
              <a:ea typeface="Calibri"/>
              <a:cs typeface="Calibri"/>
            </a:endParaRP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130</a:t>
            </a:r>
            <a:endParaRPr lang="en-US" sz="2400" dirty="0">
              <a:solidFill>
                <a:schemeClr val="dk1"/>
              </a:solidFill>
              <a:latin typeface="Palatino Linotype" panose="02040502050505030304" pitchFamily="18" charset="0"/>
              <a:ea typeface="Calibri"/>
              <a:cs typeface="Calibri"/>
            </a:endParaRP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Helvetica Neue"/>
              </a:rPr>
              <a:t>150</a:t>
            </a:r>
            <a:endParaRPr lang="en-US" sz="2400" dirty="0">
              <a:solidFill>
                <a:schemeClr val="dk1"/>
              </a:solidFill>
              <a:latin typeface="Palatino Linotype" panose="02040502050505030304" pitchFamily="18" charset="0"/>
              <a:ea typeface="Calibri"/>
              <a:cs typeface="Calibri"/>
            </a:endParaRPr>
          </a:p>
        </p:txBody>
      </p:sp>
    </p:spTree>
    <p:extLst>
      <p:ext uri="{BB962C8B-B14F-4D97-AF65-F5344CB8AC3E}">
        <p14:creationId xmlns:p14="http://schemas.microsoft.com/office/powerpoint/2010/main" val="3776290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4" name="Google Shape;334;p33"/>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5"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499336" y="1432786"/>
            <a:ext cx="11168743" cy="3785652"/>
          </a:xfrm>
          <a:prstGeom prst="rect">
            <a:avLst/>
          </a:prstGeom>
        </p:spPr>
        <p:txBody>
          <a:bodyPr wrap="square">
            <a:spAutoFit/>
          </a:bodyPr>
          <a:lstStyle/>
          <a:p>
            <a:pPr lvl="0" algn="just">
              <a:buClr>
                <a:srgbClr val="333333"/>
              </a:buClr>
              <a:buSzPts val="2200"/>
            </a:pPr>
            <a:r>
              <a:rPr lang="en-US" sz="2400" dirty="0">
                <a:solidFill>
                  <a:schemeClr val="dk1"/>
                </a:solidFill>
                <a:latin typeface="Palatino Linotype" panose="02040502050505030304" pitchFamily="18" charset="0"/>
                <a:ea typeface="Calibri"/>
                <a:cs typeface="Calibri"/>
                <a:sym typeface="Calibri"/>
              </a:rPr>
              <a:t>19. In the McGraw-Hill </a:t>
            </a:r>
            <a:r>
              <a:rPr lang="en-US" sz="2400" dirty="0" err="1">
                <a:solidFill>
                  <a:schemeClr val="dk1"/>
                </a:solidFill>
                <a:latin typeface="Palatino Linotype" panose="02040502050505030304" pitchFamily="18" charset="0"/>
                <a:ea typeface="Calibri"/>
                <a:cs typeface="Calibri"/>
                <a:sym typeface="Calibri"/>
              </a:rPr>
              <a:t>Mindworkzz</a:t>
            </a:r>
            <a:r>
              <a:rPr lang="en-US" sz="2400" dirty="0">
                <a:solidFill>
                  <a:schemeClr val="dk1"/>
                </a:solidFill>
                <a:latin typeface="Palatino Linotype" panose="02040502050505030304" pitchFamily="18" charset="0"/>
                <a:ea typeface="Calibri"/>
                <a:cs typeface="Calibri"/>
                <a:sym typeface="Calibri"/>
              </a:rPr>
              <a:t> Quiz held last year, participants were free to choose their respective areas from which they were asked questions. Out of 880 participants, 224 chose Mythology, 240 chose Science and 336 chose Sports, 64 chose both Sports and Science, 80 chose Mythology and Sports, 40 chose Mythology and Science and 24 chose all the three areas; The percentage of participants who did not choose any area is</a:t>
            </a:r>
          </a:p>
          <a:p>
            <a:pPr marL="457200" lvl="0" indent="-457200" algn="just">
              <a:buClr>
                <a:srgbClr val="333333"/>
              </a:buClr>
              <a:buSzPts val="22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23.59%</a:t>
            </a:r>
          </a:p>
          <a:p>
            <a:pPr marL="457200" lvl="0" indent="-457200" algn="just">
              <a:buClr>
                <a:srgbClr val="333333"/>
              </a:buClr>
              <a:buSzPts val="22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30.25%</a:t>
            </a:r>
          </a:p>
          <a:p>
            <a:pPr marL="457200" lvl="0" indent="-457200" algn="just">
              <a:buClr>
                <a:srgbClr val="333333"/>
              </a:buClr>
              <a:buSzPts val="22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37.46%</a:t>
            </a:r>
          </a:p>
          <a:p>
            <a:pPr marL="457200" lvl="0" indent="-457200" algn="just">
              <a:buClr>
                <a:srgbClr val="333333"/>
              </a:buClr>
              <a:buSzPts val="22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27.27%</a:t>
            </a:r>
          </a:p>
        </p:txBody>
      </p:sp>
    </p:spTree>
    <p:extLst>
      <p:ext uri="{BB962C8B-B14F-4D97-AF65-F5344CB8AC3E}">
        <p14:creationId xmlns:p14="http://schemas.microsoft.com/office/powerpoint/2010/main" val="300173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2" name="Google Shape;342;p34"/>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5"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489856" y="1529218"/>
            <a:ext cx="10891157" cy="3046988"/>
          </a:xfrm>
          <a:prstGeom prst="rect">
            <a:avLst/>
          </a:prstGeom>
        </p:spPr>
        <p:txBody>
          <a:bodyPr wrap="square">
            <a:spAutoFit/>
          </a:bodyPr>
          <a:lstStyle/>
          <a:p>
            <a:pPr lvl="0" algn="just">
              <a:buClr>
                <a:srgbClr val="333333"/>
              </a:buClr>
              <a:buSzPts val="2400"/>
            </a:pPr>
            <a:r>
              <a:rPr lang="en-US" sz="2400" dirty="0">
                <a:solidFill>
                  <a:schemeClr val="dk1"/>
                </a:solidFill>
                <a:latin typeface="Palatino Linotype" panose="02040502050505030304" pitchFamily="18" charset="0"/>
                <a:ea typeface="Calibri"/>
                <a:cs typeface="Calibri"/>
                <a:sym typeface="Calibri"/>
              </a:rPr>
              <a:t>20. Seventy percent of the employees in a multinational corporation have VCD players, 75 percent have microwave ovens, 80 percent have ACs and 85 percent have washing machines. At least what percentage of employees has all four gadgets?</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15</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5</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10</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cant say</a:t>
            </a:r>
          </a:p>
        </p:txBody>
      </p:sp>
    </p:spTree>
    <p:extLst>
      <p:ext uri="{BB962C8B-B14F-4D97-AF65-F5344CB8AC3E}">
        <p14:creationId xmlns:p14="http://schemas.microsoft.com/office/powerpoint/2010/main" val="3379203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0" name="Google Shape;350;p35"/>
          <p:cNvSpPr/>
          <p:nvPr/>
        </p:nvSpPr>
        <p:spPr>
          <a:xfrm>
            <a:off x="7909199" y="4776052"/>
            <a:ext cx="70532" cy="442386"/>
          </a:xfrm>
          <a:prstGeom prst="rect">
            <a:avLst/>
          </a:prstGeom>
          <a:solidFill>
            <a:srgbClr val="FFFFFF"/>
          </a:solidFill>
          <a:ln>
            <a:noFill/>
          </a:ln>
        </p:spPr>
        <p:txBody>
          <a:bodyPr spcFirstLastPara="1" wrap="square" lIns="0" tIns="0" rIns="0" bIns="133300" anchor="ctr" anchorCtr="0">
            <a:spAutoFit/>
          </a:bodyPr>
          <a:lstStyle/>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8</a:t>
            </a:r>
            <a:endParaRPr sz="11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333333"/>
              </a:buClr>
              <a:buSzPts val="1000"/>
              <a:buFont typeface="Helvetica Neue"/>
              <a:buNone/>
            </a:pPr>
            <a:r>
              <a:rPr lang="en-US" sz="1000" b="0" i="0" u="none" strike="noStrike" cap="none">
                <a:solidFill>
                  <a:srgbClr val="333333"/>
                </a:solidFill>
                <a:latin typeface="Helvetica Neue"/>
                <a:ea typeface="Helvetica Neue"/>
                <a:cs typeface="Helvetica Neue"/>
                <a:sym typeface="Helvetica Neue"/>
              </a:rPr>
              <a:t>9</a:t>
            </a:r>
            <a:endParaRPr sz="1800" b="0" i="0" u="none" strike="noStrike" cap="none">
              <a:solidFill>
                <a:schemeClr val="dk1"/>
              </a:solidFill>
              <a:latin typeface="Arial"/>
              <a:ea typeface="Arial"/>
              <a:cs typeface="Arial"/>
              <a:sym typeface="Arial"/>
            </a:endParaRPr>
          </a:p>
        </p:txBody>
      </p:sp>
      <p:sp>
        <p:nvSpPr>
          <p:cNvPr id="5"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613636" y="1580925"/>
            <a:ext cx="10940143" cy="3416320"/>
          </a:xfrm>
          <a:prstGeom prst="rect">
            <a:avLst/>
          </a:prstGeom>
        </p:spPr>
        <p:txBody>
          <a:bodyPr wrap="square">
            <a:spAutoFit/>
          </a:bodyPr>
          <a:lstStyle/>
          <a:p>
            <a:pPr lvl="0" algn="just">
              <a:buClr>
                <a:srgbClr val="333333"/>
              </a:buClr>
              <a:buSzPts val="2400"/>
            </a:pPr>
            <a:r>
              <a:rPr lang="en-US" sz="2400" dirty="0">
                <a:solidFill>
                  <a:schemeClr val="dk1"/>
                </a:solidFill>
                <a:latin typeface="Palatino Linotype" panose="02040502050505030304" pitchFamily="18" charset="0"/>
                <a:ea typeface="Calibri"/>
                <a:cs typeface="Calibri"/>
                <a:sym typeface="Calibri"/>
              </a:rPr>
              <a:t>21. A group of 78 people watch Zee TV, Star Plus or Sony. Of these, 36 watch Zee TV, 48 watch Star Plus and 32 watch Sony. If 14 people watch both Zee TV and Star Plus, 20 people watch both Star Plus and Sony, and 12 people watch both Sony and Zee TV find the ratio of the number of people who watch only Zee TV to the number of people who watch only Son</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9:4</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3:2</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5:3</a:t>
            </a:r>
          </a:p>
          <a:p>
            <a:pPr marL="457200" lvl="0" indent="-457200" algn="jus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7:4</a:t>
            </a:r>
          </a:p>
        </p:txBody>
      </p:sp>
    </p:spTree>
    <p:extLst>
      <p:ext uri="{BB962C8B-B14F-4D97-AF65-F5344CB8AC3E}">
        <p14:creationId xmlns:p14="http://schemas.microsoft.com/office/powerpoint/2010/main" val="2232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0" name="Google Shape;260;p23"/>
          <p:cNvSpPr txBox="1"/>
          <p:nvPr/>
        </p:nvSpPr>
        <p:spPr>
          <a:xfrm>
            <a:off x="506517" y="1514578"/>
            <a:ext cx="11154382" cy="37856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22. In a class of 345 students, the students who took English, Math and Science are equal in number. There are 30 students who took both English and Math, 26 who took both Math and Science, 28 who took Science and English and 14 who took all the 3 subjects. There are 43 students who didn’t take any of the subjects. Answer the following question according to the data given above.</a:t>
            </a:r>
            <a:br>
              <a:rPr lang="en-US" sz="2400" dirty="0">
                <a:solidFill>
                  <a:schemeClr val="dk1"/>
                </a:solidFill>
                <a:latin typeface="Palatino Linotype" panose="02040502050505030304" pitchFamily="18" charset="0"/>
                <a:ea typeface="Calibri"/>
                <a:cs typeface="Calibri"/>
                <a:sym typeface="Calibri"/>
              </a:rPr>
            </a:br>
            <a:r>
              <a:rPr lang="en-US" sz="2400" dirty="0">
                <a:solidFill>
                  <a:schemeClr val="dk1"/>
                </a:solidFill>
                <a:latin typeface="Palatino Linotype" panose="02040502050505030304" pitchFamily="18" charset="0"/>
                <a:ea typeface="Calibri"/>
                <a:cs typeface="Calibri"/>
                <a:sym typeface="Calibri"/>
              </a:rPr>
              <a:t>How many students have taken English as a subject?</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286</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124</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246</a:t>
            </a:r>
            <a:endParaRPr sz="2400" dirty="0">
              <a:solidFill>
                <a:schemeClr val="dk1"/>
              </a:solidFill>
              <a:latin typeface="Palatino Linotype" panose="02040502050505030304" pitchFamily="18" charset="0"/>
              <a:ea typeface="Calibri"/>
              <a:cs typeface="Calibri"/>
            </a:endParaRPr>
          </a:p>
          <a:p>
            <a:pPr marL="457200" marR="0" lvl="0" indent="-457200" algn="l" rtl="0">
              <a:spcBef>
                <a:spcPts val="0"/>
              </a:spcBef>
              <a:spcAft>
                <a:spcPts val="0"/>
              </a:spcAft>
              <a:buClr>
                <a:srgbClr val="333333"/>
              </a:buClr>
              <a:buSzPts val="2400"/>
              <a:buFont typeface="Calibri"/>
              <a:buAutoNum type="alphaUcPeriod"/>
            </a:pPr>
            <a:r>
              <a:rPr lang="en-US" sz="2400" dirty="0">
                <a:solidFill>
                  <a:schemeClr val="dk1"/>
                </a:solidFill>
                <a:latin typeface="Palatino Linotype" panose="02040502050505030304" pitchFamily="18" charset="0"/>
                <a:ea typeface="Calibri"/>
                <a:cs typeface="Calibri"/>
                <a:sym typeface="Calibri"/>
              </a:rPr>
              <a:t>108</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4158679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3" name="Google Shape;253;p22"/>
          <p:cNvSpPr/>
          <p:nvPr/>
        </p:nvSpPr>
        <p:spPr>
          <a:xfrm>
            <a:off x="462273" y="1509842"/>
            <a:ext cx="11242870" cy="4154943"/>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23. In an examination 43% passed in Math, 52% passed in Physics and 52% passed in Chemistry. Only 8% students passed in all the three. 14% passed in Math and Physics and 21% passed in Math and Chemistry and 20% passed in Physics and Chemistry. Number of students who took the exam is 200. Let Set P, Set C and Set M denotes the students who passed in Physics, Chemistry and Math respectively.  Find the ratio of students passing in Math only to the students passing in Chemistry only?</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A. 16:19</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B. 6:1</a:t>
            </a:r>
            <a:endParaRPr sz="2400" dirty="0">
              <a:solidFill>
                <a:schemeClr val="dk1"/>
              </a:solidFill>
              <a:latin typeface="Palatino Linotype" panose="02040502050505030304" pitchFamily="18" charset="0"/>
              <a:ea typeface="Calibri"/>
              <a:cs typeface="Calibri"/>
              <a:sym typeface="Helvetica Neue"/>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C. 16:9</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D. 1:19</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1958677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2" name="Google Shape;232;p19"/>
          <p:cNvSpPr/>
          <p:nvPr/>
        </p:nvSpPr>
        <p:spPr>
          <a:xfrm>
            <a:off x="424543" y="1507061"/>
            <a:ext cx="11031791" cy="3785611"/>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24. In an examination 43% passed in Math, 52% passed in Physics and 52% passed in Chemistry. Only 8% students passed in all the three. 14% passed in Math and Physics and 21% passed in Math and Chemistry and 20% passed in Physics and Chemistry. Number of students who took the exam is 200. Let Set P, Set C and Set M denotes the students who passed in Physics, Chemistry and Math respectively. Then How many students passed in Math only?</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A. 32</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B. 42</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C. 45</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D. 52</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15401326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5" name="Google Shape;295;p28"/>
          <p:cNvSpPr/>
          <p:nvPr/>
        </p:nvSpPr>
        <p:spPr>
          <a:xfrm>
            <a:off x="506517" y="1503969"/>
            <a:ext cx="11154382" cy="4154943"/>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25. In an examination 43% passed in Math, 52% passed in Physics and 52% passed in Chemistry. Only 8% students passed in all the three. 14% passed in Math and Physics and 21% passed in Math and Chemistry and 20% passed in Physics and Chemistry. Number of students who took the exam is 200. Let Set P, Set C and Set M denotes the students who passed in Physics, Chemistry and Math respectively. What is the ratio of the number of students passing in Physics only to the students passing in either Physics or Chemistry or both?</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A. 26:84</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B. 26:8</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C. 2:84</a:t>
            </a:r>
            <a:endParaRPr sz="2400" dirty="0">
              <a:solidFill>
                <a:schemeClr val="dk1"/>
              </a:solidFill>
              <a:latin typeface="Palatino Linotype" panose="02040502050505030304" pitchFamily="18" charset="0"/>
              <a:ea typeface="Calibri"/>
              <a:cs typeface="Calibri"/>
            </a:endParaRPr>
          </a:p>
          <a:p>
            <a:pPr marL="0" marR="0" lvl="0" indent="0" algn="just" rtl="0">
              <a:spcBef>
                <a:spcPts val="0"/>
              </a:spcBef>
              <a:spcAft>
                <a:spcPts val="0"/>
              </a:spcAft>
              <a:buClr>
                <a:srgbClr val="333333"/>
              </a:buClr>
              <a:buSzPts val="2200"/>
              <a:buFont typeface="Helvetica Neue"/>
              <a:buNone/>
            </a:pPr>
            <a:r>
              <a:rPr lang="en-US" sz="2400" dirty="0">
                <a:solidFill>
                  <a:schemeClr val="dk1"/>
                </a:solidFill>
                <a:latin typeface="Palatino Linotype" panose="02040502050505030304" pitchFamily="18" charset="0"/>
                <a:ea typeface="Calibri"/>
                <a:cs typeface="Calibri"/>
                <a:sym typeface="Helvetica Neue"/>
              </a:rPr>
              <a:t>D. 52:84</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22539331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21"/>
          <p:cNvSpPr txBox="1"/>
          <p:nvPr/>
        </p:nvSpPr>
        <p:spPr>
          <a:xfrm>
            <a:off x="506517" y="1551741"/>
            <a:ext cx="11154382" cy="3046948"/>
          </a:xfrm>
          <a:prstGeom prst="rect">
            <a:avLst/>
          </a:prstGeom>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Palatino Linotype" panose="02040502050505030304" pitchFamily="18" charset="0"/>
                <a:ea typeface="Calibri"/>
                <a:cs typeface="Calibri"/>
                <a:sym typeface="Calibri"/>
              </a:rPr>
              <a:t>26. A class in college has 150 students numbered from 1 to 150 , in which all the even numbered students are doing CA, whose number are divisible by 5 are doing Actuarial and those whose numbers are divisible by 7 are preparing for MBA. How many of the students are doing nothing?</a:t>
            </a:r>
            <a:endParaRPr sz="2400" dirty="0">
              <a:solidFill>
                <a:schemeClr val="dk1"/>
              </a:solidFill>
              <a:latin typeface="Palatino Linotype" panose="02040502050505030304" pitchFamily="18" charset="0"/>
              <a:ea typeface="Calibri"/>
              <a:cs typeface="Calibri"/>
            </a:endParaRPr>
          </a:p>
          <a:p>
            <a:pPr marL="304800" marR="0" lvl="0" indent="-457200" algn="l" rtl="0">
              <a:spcBef>
                <a:spcPts val="0"/>
              </a:spcBef>
              <a:spcAft>
                <a:spcPts val="0"/>
              </a:spcAft>
              <a:buClr>
                <a:srgbClr val="333333"/>
              </a:buClr>
              <a:buSzPts val="2400"/>
              <a:buFont typeface="+mj-lt"/>
              <a:buAutoNum type="alphaUcPeriod"/>
            </a:pPr>
            <a:r>
              <a:rPr lang="en-US" sz="2400" dirty="0">
                <a:solidFill>
                  <a:schemeClr val="dk1"/>
                </a:solidFill>
                <a:latin typeface="Palatino Linotype" panose="02040502050505030304" pitchFamily="18" charset="0"/>
                <a:ea typeface="Calibri"/>
                <a:cs typeface="Calibri"/>
                <a:sym typeface="Calibri"/>
              </a:rPr>
              <a:t>37</a:t>
            </a:r>
            <a:endParaRPr sz="2400" dirty="0">
              <a:solidFill>
                <a:schemeClr val="dk1"/>
              </a:solidFill>
              <a:latin typeface="Palatino Linotype" panose="02040502050505030304" pitchFamily="18" charset="0"/>
              <a:ea typeface="Calibri"/>
              <a:cs typeface="Calibri"/>
            </a:endParaRPr>
          </a:p>
          <a:p>
            <a:pPr marL="304800" marR="0" lvl="0" indent="-457200" algn="l" rtl="0">
              <a:spcBef>
                <a:spcPts val="0"/>
              </a:spcBef>
              <a:spcAft>
                <a:spcPts val="0"/>
              </a:spcAft>
              <a:buClr>
                <a:srgbClr val="333333"/>
              </a:buClr>
              <a:buSzPts val="2400"/>
              <a:buFont typeface="+mj-lt"/>
              <a:buAutoNum type="alphaUcPeriod"/>
            </a:pPr>
            <a:r>
              <a:rPr lang="en-US" sz="2400" dirty="0">
                <a:solidFill>
                  <a:schemeClr val="dk1"/>
                </a:solidFill>
                <a:latin typeface="Palatino Linotype" panose="02040502050505030304" pitchFamily="18" charset="0"/>
                <a:ea typeface="Calibri"/>
                <a:cs typeface="Calibri"/>
                <a:sym typeface="Calibri"/>
              </a:rPr>
              <a:t>45</a:t>
            </a:r>
            <a:endParaRPr sz="2400" dirty="0">
              <a:solidFill>
                <a:schemeClr val="dk1"/>
              </a:solidFill>
              <a:latin typeface="Palatino Linotype" panose="02040502050505030304" pitchFamily="18" charset="0"/>
              <a:ea typeface="Calibri"/>
              <a:cs typeface="Calibri"/>
            </a:endParaRPr>
          </a:p>
          <a:p>
            <a:pPr marL="304800" marR="0" lvl="0" indent="-457200" algn="l" rtl="0">
              <a:spcBef>
                <a:spcPts val="0"/>
              </a:spcBef>
              <a:spcAft>
                <a:spcPts val="0"/>
              </a:spcAft>
              <a:buClr>
                <a:srgbClr val="333333"/>
              </a:buClr>
              <a:buSzPts val="2400"/>
              <a:buFont typeface="+mj-lt"/>
              <a:buAutoNum type="alphaUcPeriod"/>
            </a:pPr>
            <a:r>
              <a:rPr lang="en-US" sz="2400" dirty="0">
                <a:solidFill>
                  <a:schemeClr val="dk1"/>
                </a:solidFill>
                <a:latin typeface="Palatino Linotype" panose="02040502050505030304" pitchFamily="18" charset="0"/>
                <a:ea typeface="Calibri"/>
                <a:cs typeface="Calibri"/>
                <a:sym typeface="Calibri"/>
              </a:rPr>
              <a:t>51</a:t>
            </a:r>
            <a:endParaRPr sz="2400" dirty="0">
              <a:solidFill>
                <a:schemeClr val="dk1"/>
              </a:solidFill>
              <a:latin typeface="Palatino Linotype" panose="02040502050505030304" pitchFamily="18" charset="0"/>
              <a:ea typeface="Calibri"/>
              <a:cs typeface="Calibri"/>
            </a:endParaRPr>
          </a:p>
          <a:p>
            <a:pPr marL="304800" marR="0" lvl="0" indent="-457200" algn="l" rtl="0">
              <a:spcBef>
                <a:spcPts val="0"/>
              </a:spcBef>
              <a:spcAft>
                <a:spcPts val="0"/>
              </a:spcAft>
              <a:buClr>
                <a:srgbClr val="333333"/>
              </a:buClr>
              <a:buSzPts val="2400"/>
              <a:buFont typeface="+mj-lt"/>
              <a:buAutoNum type="alphaUcPeriod"/>
            </a:pPr>
            <a:r>
              <a:rPr lang="en-US" sz="2400" dirty="0">
                <a:solidFill>
                  <a:schemeClr val="dk1"/>
                </a:solidFill>
                <a:latin typeface="Palatino Linotype" panose="02040502050505030304" pitchFamily="18" charset="0"/>
                <a:ea typeface="Calibri"/>
                <a:cs typeface="Calibri"/>
                <a:sym typeface="Calibri"/>
              </a:rPr>
              <a:t>62</a:t>
            </a:r>
            <a:endParaRPr sz="24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18698142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523829" y="1329372"/>
            <a:ext cx="11119757" cy="4339650"/>
          </a:xfrm>
          <a:prstGeom prst="rect">
            <a:avLst/>
          </a:prstGeom>
        </p:spPr>
        <p:txBody>
          <a:bodyPr wrap="square">
            <a:spAutoFit/>
          </a:bodyPr>
          <a:lstStyle/>
          <a:p>
            <a:pPr lvl="0">
              <a:buClr>
                <a:srgbClr val="333333"/>
              </a:buClr>
              <a:buSzPts val="2400"/>
            </a:pPr>
            <a:r>
              <a:rPr lang="en-US" sz="2300" b="1" dirty="0">
                <a:solidFill>
                  <a:schemeClr val="dk1"/>
                </a:solidFill>
                <a:latin typeface="Palatino Linotype" panose="02040502050505030304" pitchFamily="18" charset="0"/>
                <a:ea typeface="Calibri"/>
                <a:cs typeface="Calibri"/>
                <a:sym typeface="Helvetica Neue"/>
              </a:rPr>
              <a:t>Directions (27-29)Refer to the data below and answer the questions that follow</a:t>
            </a:r>
            <a:r>
              <a:rPr lang="en-US" sz="2300" dirty="0">
                <a:solidFill>
                  <a:schemeClr val="dk1"/>
                </a:solidFill>
                <a:latin typeface="Palatino Linotype" panose="02040502050505030304" pitchFamily="18" charset="0"/>
                <a:ea typeface="Calibri"/>
                <a:cs typeface="Calibri"/>
                <a:sym typeface="Helvetica Neue"/>
              </a:rPr>
              <a:t>.</a:t>
            </a:r>
          </a:p>
          <a:p>
            <a:pPr lvl="0">
              <a:buClr>
                <a:srgbClr val="333333"/>
              </a:buClr>
              <a:buSzPts val="2400"/>
            </a:pPr>
            <a:r>
              <a:rPr lang="en-US" sz="2300" dirty="0">
                <a:solidFill>
                  <a:schemeClr val="dk1"/>
                </a:solidFill>
                <a:latin typeface="Palatino Linotype" panose="02040502050505030304" pitchFamily="18" charset="0"/>
                <a:ea typeface="Calibri"/>
                <a:cs typeface="Calibri"/>
                <a:sym typeface="Helvetica Neue"/>
              </a:rPr>
              <a:t>Last year, there were 3 sections in the Catalyst, a mock CAT paper. Out of them 33 students cleared the cut-off in Section 1, 34 students cleared the cut-off in Section 2 and 32 cleared the cut-off in Section 3. 10 students cleared the cut-off in Section 1 and Section 2, 9 cleared the cut-off in Section 2 and Section 3, 8 cleared the cut-off in Section 1 and Section 3. The number of people who cleared each section alone was equal and was 21 for each section.</a:t>
            </a:r>
          </a:p>
          <a:p>
            <a:pPr lvl="0">
              <a:buClr>
                <a:srgbClr val="333333"/>
              </a:buClr>
              <a:buSzPts val="2400"/>
            </a:pPr>
            <a:r>
              <a:rPr lang="en-US" sz="2300" b="1" dirty="0">
                <a:solidFill>
                  <a:schemeClr val="dk1"/>
                </a:solidFill>
                <a:latin typeface="Palatino Linotype" panose="02040502050505030304" pitchFamily="18" charset="0"/>
                <a:ea typeface="Calibri"/>
                <a:cs typeface="Calibri"/>
              </a:rPr>
              <a:t>Q. 27 How many cleared all the three sections?</a:t>
            </a:r>
          </a:p>
          <a:p>
            <a:pPr lvl="0">
              <a:buClr>
                <a:srgbClr val="333333"/>
              </a:buClr>
              <a:buSzPts val="2400"/>
            </a:pPr>
            <a:r>
              <a:rPr lang="en-US" sz="2300" dirty="0">
                <a:solidFill>
                  <a:schemeClr val="dk1"/>
                </a:solidFill>
                <a:latin typeface="Palatino Linotype" panose="02040502050505030304" pitchFamily="18" charset="0"/>
                <a:ea typeface="Calibri"/>
                <a:cs typeface="Calibri"/>
              </a:rPr>
              <a:t>A. 3 </a:t>
            </a:r>
          </a:p>
          <a:p>
            <a:pPr lvl="0">
              <a:buClr>
                <a:srgbClr val="333333"/>
              </a:buClr>
              <a:buSzPts val="2400"/>
            </a:pPr>
            <a:r>
              <a:rPr lang="en-US" sz="2300" dirty="0">
                <a:solidFill>
                  <a:schemeClr val="dk1"/>
                </a:solidFill>
                <a:latin typeface="Palatino Linotype" panose="02040502050505030304" pitchFamily="18" charset="0"/>
                <a:ea typeface="Calibri"/>
                <a:cs typeface="Calibri"/>
              </a:rPr>
              <a:t>B. 6</a:t>
            </a:r>
          </a:p>
          <a:p>
            <a:pPr lvl="0">
              <a:buClr>
                <a:srgbClr val="333333"/>
              </a:buClr>
              <a:buSzPts val="2400"/>
            </a:pPr>
            <a:r>
              <a:rPr lang="en-US" sz="2300" dirty="0">
                <a:solidFill>
                  <a:schemeClr val="dk1"/>
                </a:solidFill>
                <a:latin typeface="Palatino Linotype" panose="02040502050505030304" pitchFamily="18" charset="0"/>
                <a:ea typeface="Calibri"/>
                <a:cs typeface="Calibri"/>
              </a:rPr>
              <a:t>C. 5 </a:t>
            </a:r>
          </a:p>
          <a:p>
            <a:pPr lvl="0">
              <a:buClr>
                <a:srgbClr val="333333"/>
              </a:buClr>
              <a:buSzPts val="2400"/>
            </a:pPr>
            <a:r>
              <a:rPr lang="en-US" sz="2300" dirty="0">
                <a:solidFill>
                  <a:schemeClr val="dk1"/>
                </a:solidFill>
                <a:latin typeface="Palatino Linotype" panose="02040502050505030304" pitchFamily="18" charset="0"/>
                <a:ea typeface="Calibri"/>
                <a:cs typeface="Calibri"/>
              </a:rPr>
              <a:t>D. 7</a:t>
            </a:r>
          </a:p>
        </p:txBody>
      </p:sp>
    </p:spTree>
    <p:extLst>
      <p:ext uri="{BB962C8B-B14F-4D97-AF65-F5344CB8AC3E}">
        <p14:creationId xmlns:p14="http://schemas.microsoft.com/office/powerpoint/2010/main" val="28046773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523829" y="1329372"/>
            <a:ext cx="11119757" cy="4339650"/>
          </a:xfrm>
          <a:prstGeom prst="rect">
            <a:avLst/>
          </a:prstGeom>
        </p:spPr>
        <p:txBody>
          <a:bodyPr wrap="square">
            <a:spAutoFit/>
          </a:bodyPr>
          <a:lstStyle/>
          <a:p>
            <a:pPr lvl="0">
              <a:buClr>
                <a:srgbClr val="333333"/>
              </a:buClr>
              <a:buSzPts val="2400"/>
            </a:pPr>
            <a:r>
              <a:rPr lang="en-US" sz="2300" b="1" dirty="0">
                <a:solidFill>
                  <a:schemeClr val="dk1"/>
                </a:solidFill>
                <a:latin typeface="Palatino Linotype" panose="02040502050505030304" pitchFamily="18" charset="0"/>
                <a:ea typeface="Calibri"/>
                <a:cs typeface="Calibri"/>
                <a:sym typeface="Helvetica Neue"/>
              </a:rPr>
              <a:t>Directions (27-29)Refer to the data below and answer the questions that follow</a:t>
            </a:r>
            <a:r>
              <a:rPr lang="en-US" sz="2300" dirty="0">
                <a:solidFill>
                  <a:schemeClr val="dk1"/>
                </a:solidFill>
                <a:latin typeface="Palatino Linotype" panose="02040502050505030304" pitchFamily="18" charset="0"/>
                <a:ea typeface="Calibri"/>
                <a:cs typeface="Calibri"/>
                <a:sym typeface="Helvetica Neue"/>
              </a:rPr>
              <a:t>.</a:t>
            </a:r>
          </a:p>
          <a:p>
            <a:pPr lvl="0">
              <a:buClr>
                <a:srgbClr val="333333"/>
              </a:buClr>
              <a:buSzPts val="2400"/>
            </a:pPr>
            <a:r>
              <a:rPr lang="en-US" sz="2300" dirty="0">
                <a:solidFill>
                  <a:schemeClr val="dk1"/>
                </a:solidFill>
                <a:latin typeface="Palatino Linotype" panose="02040502050505030304" pitchFamily="18" charset="0"/>
                <a:ea typeface="Calibri"/>
                <a:cs typeface="Calibri"/>
                <a:sym typeface="Helvetica Neue"/>
              </a:rPr>
              <a:t>Last year, there were 3 sections in the Catalyst, a mock CAT paper. Out of them 33 students cleared the cut-off in Section 1, 34 students cleared the cut-off in Section 2 and 32 cleared the cut-off in Section 3. 10 students cleared the cut-off in Section 1 and Section 2, 9 cleared the cut-off in Section 2 and Section 3, 8 cleared the cut-off in Section 1 and Section 3. The number of people who cleared each section alone was equal and was 21 for each section.</a:t>
            </a:r>
          </a:p>
          <a:p>
            <a:pPr lvl="0">
              <a:buClr>
                <a:srgbClr val="333333"/>
              </a:buClr>
              <a:buSzPts val="2400"/>
            </a:pPr>
            <a:r>
              <a:rPr lang="en-US" sz="2300" b="1" dirty="0">
                <a:solidFill>
                  <a:schemeClr val="dk1"/>
                </a:solidFill>
                <a:latin typeface="Palatino Linotype" panose="02040502050505030304" pitchFamily="18" charset="0"/>
                <a:ea typeface="Calibri"/>
                <a:cs typeface="Calibri"/>
              </a:rPr>
              <a:t>Q. 28 How many cleared only one of the three sections?</a:t>
            </a:r>
          </a:p>
          <a:p>
            <a:pPr lvl="0">
              <a:buClr>
                <a:srgbClr val="333333"/>
              </a:buClr>
              <a:buSzPts val="2400"/>
            </a:pPr>
            <a:r>
              <a:rPr lang="en-US" sz="2300" dirty="0">
                <a:solidFill>
                  <a:schemeClr val="dk1"/>
                </a:solidFill>
                <a:latin typeface="Palatino Linotype" panose="02040502050505030304" pitchFamily="18" charset="0"/>
                <a:ea typeface="Calibri"/>
                <a:cs typeface="Calibri"/>
              </a:rPr>
              <a:t>A. 21</a:t>
            </a:r>
          </a:p>
          <a:p>
            <a:pPr lvl="0">
              <a:buClr>
                <a:srgbClr val="333333"/>
              </a:buClr>
              <a:buSzPts val="2400"/>
            </a:pPr>
            <a:r>
              <a:rPr lang="en-US" sz="2300" dirty="0">
                <a:solidFill>
                  <a:schemeClr val="dk1"/>
                </a:solidFill>
                <a:latin typeface="Palatino Linotype" panose="02040502050505030304" pitchFamily="18" charset="0"/>
                <a:ea typeface="Calibri"/>
                <a:cs typeface="Calibri"/>
              </a:rPr>
              <a:t>B. 63</a:t>
            </a:r>
          </a:p>
          <a:p>
            <a:pPr lvl="0">
              <a:buClr>
                <a:srgbClr val="333333"/>
              </a:buClr>
              <a:buSzPts val="2400"/>
            </a:pPr>
            <a:r>
              <a:rPr lang="en-US" sz="2300" dirty="0">
                <a:solidFill>
                  <a:schemeClr val="dk1"/>
                </a:solidFill>
                <a:latin typeface="Palatino Linotype" panose="02040502050505030304" pitchFamily="18" charset="0"/>
                <a:ea typeface="Calibri"/>
                <a:cs typeface="Calibri"/>
              </a:rPr>
              <a:t>C. 42 </a:t>
            </a:r>
          </a:p>
          <a:p>
            <a:pPr lvl="0">
              <a:buClr>
                <a:srgbClr val="333333"/>
              </a:buClr>
              <a:buSzPts val="2400"/>
            </a:pPr>
            <a:r>
              <a:rPr lang="en-US" sz="2300" dirty="0">
                <a:solidFill>
                  <a:schemeClr val="dk1"/>
                </a:solidFill>
                <a:latin typeface="Palatino Linotype" panose="02040502050505030304" pitchFamily="18" charset="0"/>
                <a:ea typeface="Calibri"/>
                <a:cs typeface="Calibri"/>
              </a:rPr>
              <a:t>D. 52</a:t>
            </a:r>
          </a:p>
        </p:txBody>
      </p:sp>
    </p:spTree>
    <p:extLst>
      <p:ext uri="{BB962C8B-B14F-4D97-AF65-F5344CB8AC3E}">
        <p14:creationId xmlns:p14="http://schemas.microsoft.com/office/powerpoint/2010/main" val="8122105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2" name="Rectangle 1"/>
          <p:cNvSpPr/>
          <p:nvPr/>
        </p:nvSpPr>
        <p:spPr>
          <a:xfrm>
            <a:off x="523829" y="1329372"/>
            <a:ext cx="11119757" cy="4693593"/>
          </a:xfrm>
          <a:prstGeom prst="rect">
            <a:avLst/>
          </a:prstGeom>
        </p:spPr>
        <p:txBody>
          <a:bodyPr wrap="square">
            <a:spAutoFit/>
          </a:bodyPr>
          <a:lstStyle/>
          <a:p>
            <a:pPr lvl="0">
              <a:buClr>
                <a:srgbClr val="333333"/>
              </a:buClr>
              <a:buSzPts val="2400"/>
            </a:pPr>
            <a:r>
              <a:rPr lang="en-US" sz="2300" b="1" dirty="0">
                <a:solidFill>
                  <a:schemeClr val="dk1"/>
                </a:solidFill>
                <a:latin typeface="Palatino Linotype" panose="02040502050505030304" pitchFamily="18" charset="0"/>
                <a:ea typeface="Calibri"/>
                <a:cs typeface="Calibri"/>
                <a:sym typeface="Helvetica Neue"/>
              </a:rPr>
              <a:t>Directions (27-29)Refer to the data below and answer the questions that follow</a:t>
            </a:r>
            <a:r>
              <a:rPr lang="en-US" sz="2300" dirty="0">
                <a:solidFill>
                  <a:schemeClr val="dk1"/>
                </a:solidFill>
                <a:latin typeface="Palatino Linotype" panose="02040502050505030304" pitchFamily="18" charset="0"/>
                <a:ea typeface="Calibri"/>
                <a:cs typeface="Calibri"/>
                <a:sym typeface="Helvetica Neue"/>
              </a:rPr>
              <a:t>.</a:t>
            </a:r>
          </a:p>
          <a:p>
            <a:pPr lvl="0">
              <a:buClr>
                <a:srgbClr val="333333"/>
              </a:buClr>
              <a:buSzPts val="2400"/>
            </a:pPr>
            <a:r>
              <a:rPr lang="en-US" sz="2300" dirty="0">
                <a:solidFill>
                  <a:schemeClr val="dk1"/>
                </a:solidFill>
                <a:latin typeface="Palatino Linotype" panose="02040502050505030304" pitchFamily="18" charset="0"/>
                <a:ea typeface="Calibri"/>
                <a:cs typeface="Calibri"/>
                <a:sym typeface="Helvetica Neue"/>
              </a:rPr>
              <a:t>Last year, there were 3 sections in the Catalyst, a mock CAT paper. Out of them 33 students cleared the cut-off in Section 1, 34 students cleared the cut-off in Section 2 and 32 cleared the cut-off in Section 3. 10 students cleared the cut-off in Section 1 and Section 2, 9 cleared the cut-off in Section 2 and Section 3, 8 cleared the cut-off in Section 1 and Section 3. The number of people who cleared each section alone was equal and was 21 for each section.</a:t>
            </a:r>
          </a:p>
          <a:p>
            <a:pPr lvl="0">
              <a:buClr>
                <a:srgbClr val="333333"/>
              </a:buClr>
              <a:buSzPts val="2400"/>
            </a:pPr>
            <a:r>
              <a:rPr lang="en-US" sz="2300" b="1" dirty="0">
                <a:solidFill>
                  <a:schemeClr val="dk1"/>
                </a:solidFill>
                <a:latin typeface="Palatino Linotype" panose="02040502050505030304" pitchFamily="18" charset="0"/>
                <a:ea typeface="Calibri"/>
                <a:cs typeface="Calibri"/>
              </a:rPr>
              <a:t>Q. 29 The ratio of the number of students clearing the cut-off in one or more of the sections to the number of students clearing the cutoff in Section 1 alone is?</a:t>
            </a:r>
          </a:p>
          <a:p>
            <a:pPr marL="457200" lvl="0" indent="-457200">
              <a:buClr>
                <a:srgbClr val="333333"/>
              </a:buClr>
              <a:buSzPts val="2400"/>
              <a:buFont typeface="+mj-lt"/>
              <a:buAutoNum type="alphaUcPeriod"/>
            </a:pPr>
            <a:r>
              <a:rPr lang="en-US" sz="2300" dirty="0">
                <a:solidFill>
                  <a:schemeClr val="dk1"/>
                </a:solidFill>
                <a:latin typeface="Palatino Linotype" panose="02040502050505030304" pitchFamily="18" charset="0"/>
                <a:ea typeface="Calibri"/>
                <a:cs typeface="Calibri"/>
              </a:rPr>
              <a:t>78/21 </a:t>
            </a:r>
          </a:p>
          <a:p>
            <a:pPr marL="457200" lvl="0" indent="-457200">
              <a:buClr>
                <a:srgbClr val="333333"/>
              </a:buClr>
              <a:buSzPts val="2400"/>
              <a:buFont typeface="+mj-lt"/>
              <a:buAutoNum type="alphaUcPeriod"/>
            </a:pPr>
            <a:r>
              <a:rPr lang="en-US" sz="2300" dirty="0">
                <a:solidFill>
                  <a:schemeClr val="dk1"/>
                </a:solidFill>
                <a:latin typeface="Palatino Linotype" panose="02040502050505030304" pitchFamily="18" charset="0"/>
                <a:ea typeface="Calibri"/>
                <a:cs typeface="Calibri"/>
              </a:rPr>
              <a:t>3</a:t>
            </a:r>
          </a:p>
          <a:p>
            <a:pPr marL="457200" lvl="0" indent="-457200">
              <a:buClr>
                <a:srgbClr val="333333"/>
              </a:buClr>
              <a:buSzPts val="2400"/>
              <a:buFont typeface="+mj-lt"/>
              <a:buAutoNum type="alphaUcPeriod"/>
            </a:pPr>
            <a:r>
              <a:rPr lang="en-US" sz="2300" dirty="0">
                <a:solidFill>
                  <a:schemeClr val="dk1"/>
                </a:solidFill>
                <a:latin typeface="Palatino Linotype" panose="02040502050505030304" pitchFamily="18" charset="0"/>
                <a:ea typeface="Calibri"/>
                <a:cs typeface="Calibri"/>
              </a:rPr>
              <a:t>73/21 </a:t>
            </a:r>
          </a:p>
          <a:p>
            <a:pPr marL="457200" lvl="0" indent="-457200">
              <a:buClr>
                <a:srgbClr val="333333"/>
              </a:buClr>
              <a:buSzPts val="2400"/>
              <a:buFont typeface="+mj-lt"/>
              <a:buAutoNum type="alphaUcPeriod"/>
            </a:pPr>
            <a:r>
              <a:rPr lang="en-US" sz="2300" dirty="0">
                <a:solidFill>
                  <a:schemeClr val="dk1"/>
                </a:solidFill>
                <a:latin typeface="Palatino Linotype" panose="02040502050505030304" pitchFamily="18" charset="0"/>
                <a:ea typeface="Calibri"/>
                <a:cs typeface="Calibri"/>
              </a:rPr>
              <a:t>None of these</a:t>
            </a:r>
          </a:p>
        </p:txBody>
      </p:sp>
    </p:spTree>
    <p:extLst>
      <p:ext uri="{BB962C8B-B14F-4D97-AF65-F5344CB8AC3E}">
        <p14:creationId xmlns:p14="http://schemas.microsoft.com/office/powerpoint/2010/main" val="2808221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2" name="Google Shape;382;p39"/>
          <p:cNvSpPr/>
          <p:nvPr/>
        </p:nvSpPr>
        <p:spPr>
          <a:xfrm>
            <a:off x="362807" y="1401444"/>
            <a:ext cx="11441801" cy="50680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Palatino Linotype" panose="02040502050505030304" pitchFamily="18" charset="0"/>
                <a:ea typeface="Calibri"/>
                <a:cs typeface="Calibri"/>
                <a:sym typeface="Calibri"/>
              </a:rPr>
              <a:t>30. Two of the courses from which the 98 freshmen at a high school may choose are French and Creative Writing.  How many freshmen enrolled in neither course?</a:t>
            </a:r>
            <a:endParaRPr sz="2000" dirty="0">
              <a:solidFill>
                <a:schemeClr val="dk1"/>
              </a:solidFill>
              <a:latin typeface="Palatino Linotype" panose="02040502050505030304" pitchFamily="18" charset="0"/>
              <a:ea typeface="Calibri"/>
              <a:cs typeface="Calibri"/>
            </a:endParaRPr>
          </a:p>
          <a:p>
            <a:pPr marL="0" marR="0" lvl="0" indent="0" algn="l" rtl="0">
              <a:spcBef>
                <a:spcPts val="800"/>
              </a:spcBef>
              <a:spcAft>
                <a:spcPts val="0"/>
              </a:spcAft>
              <a:buNone/>
            </a:pPr>
            <a:r>
              <a:rPr lang="en-US" sz="2000" dirty="0">
                <a:solidFill>
                  <a:schemeClr val="dk1"/>
                </a:solidFill>
                <a:latin typeface="Palatino Linotype" panose="02040502050505030304" pitchFamily="18" charset="0"/>
                <a:ea typeface="Calibri"/>
                <a:cs typeface="Calibri"/>
                <a:sym typeface="Calibri"/>
              </a:rPr>
              <a:t>Statement 1: 10 freshmen enrolled in both courses.</a:t>
            </a:r>
            <a:endParaRPr sz="2000" dirty="0">
              <a:solidFill>
                <a:schemeClr val="dk1"/>
              </a:solidFill>
              <a:latin typeface="Palatino Linotype" panose="02040502050505030304" pitchFamily="18" charset="0"/>
              <a:ea typeface="Calibri"/>
              <a:cs typeface="Calibri"/>
            </a:endParaRPr>
          </a:p>
          <a:p>
            <a:pPr marL="0" marR="0" lvl="0" indent="0" algn="l" rtl="0">
              <a:spcBef>
                <a:spcPts val="800"/>
              </a:spcBef>
              <a:spcAft>
                <a:spcPts val="0"/>
              </a:spcAft>
              <a:buNone/>
            </a:pPr>
            <a:r>
              <a:rPr lang="en-US" sz="2000" dirty="0">
                <a:solidFill>
                  <a:schemeClr val="dk1"/>
                </a:solidFill>
                <a:latin typeface="Palatino Linotype" panose="02040502050505030304" pitchFamily="18" charset="0"/>
                <a:ea typeface="Calibri"/>
                <a:cs typeface="Calibri"/>
                <a:sym typeface="Calibri"/>
              </a:rPr>
              <a:t>Statement 2: 21 freshmen enrolled in each course.</a:t>
            </a:r>
            <a:endParaRPr sz="2000" dirty="0">
              <a:solidFill>
                <a:schemeClr val="dk1"/>
              </a:solidFill>
              <a:latin typeface="Palatino Linotype" panose="02040502050505030304" pitchFamily="18" charset="0"/>
              <a:ea typeface="Calibri"/>
              <a:cs typeface="Calibri"/>
            </a:endParaRPr>
          </a:p>
          <a:p>
            <a:pPr marL="0" marR="0" lvl="0" indent="0" algn="l" rtl="0">
              <a:lnSpc>
                <a:spcPct val="150000"/>
              </a:lnSpc>
              <a:spcBef>
                <a:spcPts val="800"/>
              </a:spcBef>
              <a:spcAft>
                <a:spcPts val="0"/>
              </a:spcAft>
              <a:buNone/>
            </a:pPr>
            <a:r>
              <a:rPr lang="en-US" sz="2000" dirty="0">
                <a:solidFill>
                  <a:schemeClr val="dk1"/>
                </a:solidFill>
                <a:latin typeface="Palatino Linotype" panose="02040502050505030304" pitchFamily="18" charset="0"/>
                <a:ea typeface="Calibri"/>
                <a:cs typeface="Calibri"/>
                <a:sym typeface="Calibri"/>
              </a:rPr>
              <a:t>Choose at least one correct answer</a:t>
            </a:r>
            <a:endParaRPr sz="2000" dirty="0">
              <a:solidFill>
                <a:schemeClr val="dk1"/>
              </a:solidFill>
              <a:latin typeface="Palatino Linotype" panose="02040502050505030304" pitchFamily="18" charset="0"/>
              <a:ea typeface="Calibri"/>
              <a:cs typeface="Calibri"/>
            </a:endParaRPr>
          </a:p>
          <a:p>
            <a:pPr marL="0" marR="0" lvl="0" indent="0" algn="l" rtl="0">
              <a:spcBef>
                <a:spcPts val="800"/>
              </a:spcBef>
              <a:spcAft>
                <a:spcPts val="0"/>
              </a:spcAft>
              <a:buNone/>
            </a:pPr>
            <a:r>
              <a:rPr lang="en-US" sz="2000" dirty="0">
                <a:solidFill>
                  <a:schemeClr val="dk1"/>
                </a:solidFill>
                <a:latin typeface="Palatino Linotype" panose="02040502050505030304" pitchFamily="18" charset="0"/>
                <a:ea typeface="Calibri"/>
                <a:cs typeface="Calibri"/>
                <a:sym typeface="Calibri"/>
              </a:rPr>
              <a:t>A) Statement 2 ALONE is sufficient to answer the question, but Statement 1 ALONE is not sufficient.</a:t>
            </a:r>
            <a:endParaRPr sz="2000" dirty="0">
              <a:solidFill>
                <a:schemeClr val="dk1"/>
              </a:solidFill>
              <a:latin typeface="Palatino Linotype" panose="02040502050505030304" pitchFamily="18" charset="0"/>
              <a:ea typeface="Calibri"/>
              <a:cs typeface="Calibri"/>
            </a:endParaRPr>
          </a:p>
          <a:p>
            <a:pPr marL="0" marR="0" lvl="0" indent="0" algn="l" rtl="0">
              <a:spcBef>
                <a:spcPts val="800"/>
              </a:spcBef>
              <a:spcAft>
                <a:spcPts val="0"/>
              </a:spcAft>
              <a:buNone/>
            </a:pPr>
            <a:r>
              <a:rPr lang="en-US" sz="2000" dirty="0">
                <a:solidFill>
                  <a:schemeClr val="dk1"/>
                </a:solidFill>
                <a:latin typeface="Palatino Linotype" panose="02040502050505030304" pitchFamily="18" charset="0"/>
                <a:ea typeface="Calibri"/>
                <a:cs typeface="Calibri"/>
                <a:sym typeface="Calibri"/>
              </a:rPr>
              <a:t>B) BOTH statements TOGETHER are sufficient to answer the question, but NEITHER statement ALONE is sufficient to answer the question.</a:t>
            </a:r>
            <a:endParaRPr sz="2000" dirty="0">
              <a:solidFill>
                <a:schemeClr val="dk1"/>
              </a:solidFill>
              <a:latin typeface="Palatino Linotype" panose="02040502050505030304" pitchFamily="18" charset="0"/>
              <a:ea typeface="Calibri"/>
              <a:cs typeface="Calibri"/>
            </a:endParaRPr>
          </a:p>
          <a:p>
            <a:pPr marL="0" marR="0" lvl="0" indent="0" algn="l" rtl="0">
              <a:spcBef>
                <a:spcPts val="800"/>
              </a:spcBef>
              <a:spcAft>
                <a:spcPts val="0"/>
              </a:spcAft>
              <a:buNone/>
            </a:pPr>
            <a:r>
              <a:rPr lang="en-US" sz="2000" dirty="0">
                <a:solidFill>
                  <a:schemeClr val="dk1"/>
                </a:solidFill>
                <a:latin typeface="Palatino Linotype" panose="02040502050505030304" pitchFamily="18" charset="0"/>
                <a:ea typeface="Calibri"/>
                <a:cs typeface="Calibri"/>
                <a:sym typeface="Calibri"/>
              </a:rPr>
              <a:t>C) EITHER statement ALONE is sufficient to answer the question.</a:t>
            </a:r>
            <a:endParaRPr sz="2000" dirty="0">
              <a:solidFill>
                <a:schemeClr val="dk1"/>
              </a:solidFill>
              <a:latin typeface="Palatino Linotype" panose="02040502050505030304" pitchFamily="18" charset="0"/>
              <a:ea typeface="Calibri"/>
              <a:cs typeface="Calibri"/>
            </a:endParaRPr>
          </a:p>
          <a:p>
            <a:pPr marL="0" marR="0" lvl="0" indent="0" algn="l" rtl="0">
              <a:spcBef>
                <a:spcPts val="800"/>
              </a:spcBef>
              <a:spcAft>
                <a:spcPts val="0"/>
              </a:spcAft>
              <a:buNone/>
            </a:pPr>
            <a:r>
              <a:rPr lang="en-US" sz="2000" dirty="0">
                <a:solidFill>
                  <a:schemeClr val="dk1"/>
                </a:solidFill>
                <a:latin typeface="Palatino Linotype" panose="02040502050505030304" pitchFamily="18" charset="0"/>
                <a:ea typeface="Calibri"/>
                <a:cs typeface="Calibri"/>
                <a:sym typeface="Calibri"/>
              </a:rPr>
              <a:t>D) BOTH statements TOGETHER are insufficient to answer the question.</a:t>
            </a:r>
            <a:endParaRPr sz="2000" dirty="0">
              <a:solidFill>
                <a:schemeClr val="dk1"/>
              </a:solidFill>
              <a:latin typeface="Palatino Linotype" panose="02040502050505030304" pitchFamily="18" charset="0"/>
              <a:ea typeface="Calibri"/>
              <a:cs typeface="Calibri"/>
            </a:endParaRPr>
          </a:p>
          <a:p>
            <a:pPr marL="0" marR="0" lvl="0" indent="0" algn="l" rtl="0">
              <a:spcBef>
                <a:spcPts val="800"/>
              </a:spcBef>
              <a:spcAft>
                <a:spcPts val="0"/>
              </a:spcAft>
              <a:buNone/>
            </a:pPr>
            <a:r>
              <a:rPr lang="en-US" sz="2000" dirty="0">
                <a:solidFill>
                  <a:schemeClr val="dk1"/>
                </a:solidFill>
                <a:latin typeface="Palatino Linotype" panose="02040502050505030304" pitchFamily="18" charset="0"/>
                <a:ea typeface="Calibri"/>
                <a:cs typeface="Calibri"/>
                <a:sym typeface="Calibri"/>
              </a:rPr>
              <a:t>E) Statement 1 ALONE is sufficient to answer the question, but Statement 2 ALONE is not sufficient.</a:t>
            </a:r>
            <a:endParaRPr sz="2000" dirty="0">
              <a:solidFill>
                <a:schemeClr val="dk1"/>
              </a:solidFill>
              <a:latin typeface="Palatino Linotype" panose="02040502050505030304" pitchFamily="18" charset="0"/>
              <a:ea typeface="Calibri"/>
              <a:cs typeface="Calibri"/>
            </a:endParaRPr>
          </a:p>
        </p:txBody>
      </p:sp>
      <p:sp>
        <p:nvSpPr>
          <p:cNvPr id="4" name="Google Shape;101;p2"/>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3871672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1;p2">
            <a:extLst>
              <a:ext uri="{FF2B5EF4-FFF2-40B4-BE49-F238E27FC236}">
                <a16:creationId xmlns:a16="http://schemas.microsoft.com/office/drawing/2014/main" id="{8DA5E501-4ED2-C4C5-AC23-E974DE8260B4}"/>
              </a:ext>
            </a:extLst>
          </p:cNvPr>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8" name="TextBox 7">
            <a:extLst>
              <a:ext uri="{FF2B5EF4-FFF2-40B4-BE49-F238E27FC236}">
                <a16:creationId xmlns:a16="http://schemas.microsoft.com/office/drawing/2014/main" id="{D08E63D3-5584-8218-DFAB-BC473ADDAD58}"/>
              </a:ext>
            </a:extLst>
          </p:cNvPr>
          <p:cNvSpPr txBox="1"/>
          <p:nvPr/>
        </p:nvSpPr>
        <p:spPr>
          <a:xfrm>
            <a:off x="553452" y="1515979"/>
            <a:ext cx="11333747" cy="415498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31. Study the data carefully and answer the questions given below.</a:t>
            </a:r>
          </a:p>
          <a:p>
            <a:r>
              <a:rPr lang="en-US" sz="2400" dirty="0">
                <a:latin typeface="Times New Roman" panose="02020603050405020304" pitchFamily="18" charset="0"/>
                <a:cs typeface="Times New Roman" panose="02020603050405020304" pitchFamily="18" charset="0"/>
              </a:rPr>
              <a:t>A survey of 235 families to find the type of heating used gas, electricity or oil revealed the following:</a:t>
            </a:r>
          </a:p>
          <a:p>
            <a:r>
              <a:rPr lang="en-US" sz="2400" dirty="0">
                <a:latin typeface="Times New Roman" panose="02020603050405020304" pitchFamily="18" charset="0"/>
                <a:cs typeface="Times New Roman" panose="02020603050405020304" pitchFamily="18" charset="0"/>
              </a:rPr>
              <a:t>20 houses use oil of which 8 use gas also and ten use electricity as well as oil and two use both gas and electricity besides oil. In all 175 houses use either gas or electricity only and 132 use electricity.</a:t>
            </a:r>
          </a:p>
          <a:p>
            <a:r>
              <a:rPr lang="en-US" sz="2400" dirty="0">
                <a:latin typeface="Times New Roman" panose="02020603050405020304" pitchFamily="18" charset="0"/>
                <a:cs typeface="Times New Roman" panose="02020603050405020304" pitchFamily="18" charset="0"/>
              </a:rPr>
              <a:t>Number of houses using two types of fuel, but not all the three is</a:t>
            </a:r>
          </a:p>
          <a:p>
            <a:r>
              <a:rPr lang="en-US" sz="2400" dirty="0">
                <a:latin typeface="Times New Roman" panose="02020603050405020304" pitchFamily="18" charset="0"/>
                <a:cs typeface="Times New Roman" panose="02020603050405020304" pitchFamily="18" charset="0"/>
              </a:rPr>
              <a:t>1. 50</a:t>
            </a:r>
          </a:p>
          <a:p>
            <a:r>
              <a:rPr lang="en-US" sz="2400" dirty="0">
                <a:latin typeface="Times New Roman" panose="02020603050405020304" pitchFamily="18" charset="0"/>
                <a:cs typeface="Times New Roman" panose="02020603050405020304" pitchFamily="18" charset="0"/>
              </a:rPr>
              <a:t>2. 54</a:t>
            </a:r>
          </a:p>
          <a:p>
            <a:r>
              <a:rPr lang="en-US" sz="2400" dirty="0">
                <a:latin typeface="Times New Roman" panose="02020603050405020304" pitchFamily="18" charset="0"/>
                <a:cs typeface="Times New Roman" panose="02020603050405020304" pitchFamily="18" charset="0"/>
              </a:rPr>
              <a:t>3. 44</a:t>
            </a:r>
          </a:p>
          <a:p>
            <a:r>
              <a:rPr lang="en-US" sz="2400" dirty="0">
                <a:latin typeface="Times New Roman" panose="02020603050405020304" pitchFamily="18" charset="0"/>
                <a:cs typeface="Times New Roman" panose="02020603050405020304" pitchFamily="18" charset="0"/>
              </a:rPr>
              <a:t>4. 40</a:t>
            </a:r>
          </a:p>
        </p:txBody>
      </p:sp>
    </p:spTree>
    <p:extLst>
      <p:ext uri="{BB962C8B-B14F-4D97-AF65-F5344CB8AC3E}">
        <p14:creationId xmlns:p14="http://schemas.microsoft.com/office/powerpoint/2010/main" val="680665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1;p2">
            <a:extLst>
              <a:ext uri="{FF2B5EF4-FFF2-40B4-BE49-F238E27FC236}">
                <a16:creationId xmlns:a16="http://schemas.microsoft.com/office/drawing/2014/main" id="{B886A71D-CD58-3683-97A0-002E700912C7}"/>
              </a:ext>
            </a:extLst>
          </p:cNvPr>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3" name="TextBox 2">
            <a:extLst>
              <a:ext uri="{FF2B5EF4-FFF2-40B4-BE49-F238E27FC236}">
                <a16:creationId xmlns:a16="http://schemas.microsoft.com/office/drawing/2014/main" id="{F69F701C-8994-6F23-14D7-2E23A35DF9DD}"/>
              </a:ext>
            </a:extLst>
          </p:cNvPr>
          <p:cNvSpPr txBox="1"/>
          <p:nvPr/>
        </p:nvSpPr>
        <p:spPr>
          <a:xfrm>
            <a:off x="505326" y="1564106"/>
            <a:ext cx="11502190" cy="415498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32. Study the data carefully and answer the questions given below.</a:t>
            </a:r>
          </a:p>
          <a:p>
            <a:r>
              <a:rPr lang="en-US" sz="2400" dirty="0">
                <a:latin typeface="Times New Roman" panose="02020603050405020304" pitchFamily="18" charset="0"/>
                <a:cs typeface="Times New Roman" panose="02020603050405020304" pitchFamily="18" charset="0"/>
              </a:rPr>
              <a:t>A survey of 235 families to find the type of heating used gas, electricity or oil revealed the following:</a:t>
            </a:r>
          </a:p>
          <a:p>
            <a:r>
              <a:rPr lang="en-US" sz="2400" dirty="0">
                <a:latin typeface="Times New Roman" panose="02020603050405020304" pitchFamily="18" charset="0"/>
                <a:cs typeface="Times New Roman" panose="02020603050405020304" pitchFamily="18" charset="0"/>
              </a:rPr>
              <a:t>20 houses use oil of which 8 use gas also and ten use electricity as well as oil and two use both gas and electricity besides oil. In all 175 houses use either gas or electricity only and 132 use electricity.</a:t>
            </a:r>
          </a:p>
          <a:p>
            <a:r>
              <a:rPr lang="en-US" sz="2400" dirty="0">
                <a:latin typeface="Times New Roman" panose="02020603050405020304" pitchFamily="18" charset="0"/>
                <a:cs typeface="Times New Roman" panose="02020603050405020304" pitchFamily="18" charset="0"/>
              </a:rPr>
              <a:t>Number of houses using gas or oil is</a:t>
            </a:r>
          </a:p>
          <a:p>
            <a:r>
              <a:rPr lang="en-US" sz="2400" dirty="0">
                <a:latin typeface="Times New Roman" panose="02020603050405020304" pitchFamily="18" charset="0"/>
                <a:cs typeface="Times New Roman" panose="02020603050405020304" pitchFamily="18" charset="0"/>
              </a:rPr>
              <a:t>1. 133</a:t>
            </a:r>
          </a:p>
          <a:p>
            <a:r>
              <a:rPr lang="en-US" sz="2400" dirty="0">
                <a:latin typeface="Times New Roman" panose="02020603050405020304" pitchFamily="18" charset="0"/>
                <a:cs typeface="Times New Roman" panose="02020603050405020304" pitchFamily="18" charset="0"/>
              </a:rPr>
              <a:t>2. 163</a:t>
            </a:r>
          </a:p>
          <a:p>
            <a:r>
              <a:rPr lang="en-US" sz="2400" dirty="0">
                <a:latin typeface="Times New Roman" panose="02020603050405020304" pitchFamily="18" charset="0"/>
                <a:cs typeface="Times New Roman" panose="02020603050405020304" pitchFamily="18" charset="0"/>
              </a:rPr>
              <a:t>3. 143</a:t>
            </a:r>
          </a:p>
          <a:p>
            <a:r>
              <a:rPr lang="en-US" sz="2400" dirty="0">
                <a:latin typeface="Times New Roman" panose="02020603050405020304" pitchFamily="18" charset="0"/>
                <a:cs typeface="Times New Roman" panose="02020603050405020304" pitchFamily="18" charset="0"/>
              </a:rPr>
              <a:t>4. 153</a:t>
            </a:r>
          </a:p>
        </p:txBody>
      </p:sp>
    </p:spTree>
    <p:extLst>
      <p:ext uri="{BB962C8B-B14F-4D97-AF65-F5344CB8AC3E}">
        <p14:creationId xmlns:p14="http://schemas.microsoft.com/office/powerpoint/2010/main" val="24960907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1;p2">
            <a:extLst>
              <a:ext uri="{FF2B5EF4-FFF2-40B4-BE49-F238E27FC236}">
                <a16:creationId xmlns:a16="http://schemas.microsoft.com/office/drawing/2014/main" id="{9C48AB9F-BE3C-F47B-CB1E-2BC1EA05C743}"/>
              </a:ext>
            </a:extLst>
          </p:cNvPr>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
        <p:nvSpPr>
          <p:cNvPr id="4" name="TextBox 3">
            <a:extLst>
              <a:ext uri="{FF2B5EF4-FFF2-40B4-BE49-F238E27FC236}">
                <a16:creationId xmlns:a16="http://schemas.microsoft.com/office/drawing/2014/main" id="{1BDB9964-D32A-7AD3-98E2-DAA74458DD45}"/>
              </a:ext>
            </a:extLst>
          </p:cNvPr>
          <p:cNvSpPr txBox="1"/>
          <p:nvPr/>
        </p:nvSpPr>
        <p:spPr>
          <a:xfrm>
            <a:off x="643688" y="1537845"/>
            <a:ext cx="11243511" cy="415498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33. Study the data carefully and answer the questions given below.</a:t>
            </a:r>
          </a:p>
          <a:p>
            <a:r>
              <a:rPr lang="en-US" sz="2400" dirty="0">
                <a:latin typeface="Times New Roman" panose="02020603050405020304" pitchFamily="18" charset="0"/>
                <a:cs typeface="Times New Roman" panose="02020603050405020304" pitchFamily="18" charset="0"/>
              </a:rPr>
              <a:t>A survey of 235 families to find the type of heating used gas, electricity or oil revealed the following:</a:t>
            </a:r>
          </a:p>
          <a:p>
            <a:r>
              <a:rPr lang="en-US" sz="2400" dirty="0">
                <a:latin typeface="Times New Roman" panose="02020603050405020304" pitchFamily="18" charset="0"/>
                <a:cs typeface="Times New Roman" panose="02020603050405020304" pitchFamily="18" charset="0"/>
              </a:rPr>
              <a:t>20 houses use oil of which 8 use gas also and ten use electricity as well as oil and two use both gas and electricity besides oil. In all 175 houses use either gas or electricity only and 132 use electricity.</a:t>
            </a:r>
          </a:p>
          <a:p>
            <a:r>
              <a:rPr lang="en-US" sz="2400" dirty="0">
                <a:latin typeface="Times New Roman" panose="02020603050405020304" pitchFamily="18" charset="0"/>
                <a:cs typeface="Times New Roman" panose="02020603050405020304" pitchFamily="18" charset="0"/>
              </a:rPr>
              <a:t>Amongst the houses using only one type of heading, percentage using electricity only is</a:t>
            </a:r>
          </a:p>
          <a:p>
            <a:r>
              <a:rPr lang="en-US" sz="2400" dirty="0">
                <a:latin typeface="Times New Roman" panose="02020603050405020304" pitchFamily="18" charset="0"/>
                <a:cs typeface="Times New Roman" panose="02020603050405020304" pitchFamily="18" charset="0"/>
              </a:rPr>
              <a:t>1. 46</a:t>
            </a:r>
          </a:p>
          <a:p>
            <a:r>
              <a:rPr lang="en-US" sz="2400" dirty="0">
                <a:latin typeface="Times New Roman" panose="02020603050405020304" pitchFamily="18" charset="0"/>
                <a:cs typeface="Times New Roman" panose="02020603050405020304" pitchFamily="18" charset="0"/>
              </a:rPr>
              <a:t>2. 42</a:t>
            </a:r>
          </a:p>
          <a:p>
            <a:r>
              <a:rPr lang="en-US" sz="2400" dirty="0">
                <a:latin typeface="Times New Roman" panose="02020603050405020304" pitchFamily="18" charset="0"/>
                <a:cs typeface="Times New Roman" panose="02020603050405020304" pitchFamily="18" charset="0"/>
              </a:rPr>
              <a:t>3. 38</a:t>
            </a:r>
          </a:p>
          <a:p>
            <a:r>
              <a:rPr lang="en-US" sz="2400" dirty="0">
                <a:latin typeface="Times New Roman" panose="02020603050405020304" pitchFamily="18" charset="0"/>
                <a:cs typeface="Times New Roman" panose="02020603050405020304" pitchFamily="18" charset="0"/>
              </a:rPr>
              <a:t>4. 34</a:t>
            </a:r>
          </a:p>
        </p:txBody>
      </p:sp>
    </p:spTree>
    <p:extLst>
      <p:ext uri="{BB962C8B-B14F-4D97-AF65-F5344CB8AC3E}">
        <p14:creationId xmlns:p14="http://schemas.microsoft.com/office/powerpoint/2010/main" val="9405965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08AD41-7BB1-E523-5244-AA02641B0C44}"/>
              </a:ext>
            </a:extLst>
          </p:cNvPr>
          <p:cNvSpPr txBox="1"/>
          <p:nvPr/>
        </p:nvSpPr>
        <p:spPr>
          <a:xfrm>
            <a:off x="533400" y="1431647"/>
            <a:ext cx="11353800" cy="415498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34. Study the data carefully and answer the questions given below.</a:t>
            </a:r>
          </a:p>
          <a:p>
            <a:r>
              <a:rPr lang="en-US" sz="2400" dirty="0">
                <a:latin typeface="Times New Roman" panose="02020603050405020304" pitchFamily="18" charset="0"/>
                <a:cs typeface="Times New Roman" panose="02020603050405020304" pitchFamily="18" charset="0"/>
              </a:rPr>
              <a:t>A survey of 235 families to find the type of heating used gas, electricity or oil revealed the following:</a:t>
            </a:r>
          </a:p>
          <a:p>
            <a:r>
              <a:rPr lang="en-US" sz="2400" dirty="0">
                <a:latin typeface="Times New Roman" panose="02020603050405020304" pitchFamily="18" charset="0"/>
                <a:cs typeface="Times New Roman" panose="02020603050405020304" pitchFamily="18" charset="0"/>
              </a:rPr>
              <a:t>20 houses use oil of which 8 use gas also and ten use electricity as well as oil and two use both gas and electricity besides oil. In all 175 houses use either gas or electricity only and 132 use electricity.</a:t>
            </a:r>
          </a:p>
          <a:p>
            <a:r>
              <a:rPr lang="en-US" sz="2400" dirty="0">
                <a:latin typeface="Times New Roman" panose="02020603050405020304" pitchFamily="18" charset="0"/>
                <a:cs typeface="Times New Roman" panose="02020603050405020304" pitchFamily="18" charset="0"/>
              </a:rPr>
              <a:t>Number of houses using only electricity is ?</a:t>
            </a:r>
          </a:p>
          <a:p>
            <a:r>
              <a:rPr lang="en-US" sz="2400" dirty="0">
                <a:latin typeface="Times New Roman" panose="02020603050405020304" pitchFamily="18" charset="0"/>
                <a:cs typeface="Times New Roman" panose="02020603050405020304" pitchFamily="18" charset="0"/>
              </a:rPr>
              <a:t>1. 82</a:t>
            </a:r>
          </a:p>
          <a:p>
            <a:r>
              <a:rPr lang="en-US" sz="2400" dirty="0">
                <a:latin typeface="Times New Roman" panose="02020603050405020304" pitchFamily="18" charset="0"/>
                <a:cs typeface="Times New Roman" panose="02020603050405020304" pitchFamily="18" charset="0"/>
              </a:rPr>
              <a:t>2. 132</a:t>
            </a:r>
          </a:p>
          <a:p>
            <a:r>
              <a:rPr lang="en-US" sz="2400" dirty="0">
                <a:latin typeface="Times New Roman" panose="02020603050405020304" pitchFamily="18" charset="0"/>
                <a:cs typeface="Times New Roman" panose="02020603050405020304" pitchFamily="18" charset="0"/>
              </a:rPr>
              <a:t>3. 10</a:t>
            </a:r>
          </a:p>
          <a:p>
            <a:r>
              <a:rPr lang="en-US" sz="2400" dirty="0">
                <a:latin typeface="Times New Roman" panose="02020603050405020304" pitchFamily="18" charset="0"/>
                <a:cs typeface="Times New Roman" panose="02020603050405020304" pitchFamily="18" charset="0"/>
              </a:rPr>
              <a:t>4. 53</a:t>
            </a:r>
          </a:p>
        </p:txBody>
      </p:sp>
      <p:sp>
        <p:nvSpPr>
          <p:cNvPr id="4" name="Google Shape;101;p2">
            <a:extLst>
              <a:ext uri="{FF2B5EF4-FFF2-40B4-BE49-F238E27FC236}">
                <a16:creationId xmlns:a16="http://schemas.microsoft.com/office/drawing/2014/main" id="{C7CE0D4B-1747-3DC4-3323-642A8F11E8D2}"/>
              </a:ext>
            </a:extLst>
          </p:cNvPr>
          <p:cNvSpPr/>
          <p:nvPr/>
        </p:nvSpPr>
        <p:spPr>
          <a:xfrm>
            <a:off x="1866432" y="935234"/>
            <a:ext cx="8434552" cy="394138"/>
          </a:xfrm>
          <a:prstGeom prst="rect">
            <a:avLst/>
          </a:prstGeom>
          <a:solidFill>
            <a:srgbClr val="C00000"/>
          </a:solidFill>
          <a:ln>
            <a:noFill/>
          </a:ln>
        </p:spPr>
        <p:txBody>
          <a:bodyPr spcFirstLastPara="1" wrap="square" lIns="91425" tIns="45700" rIns="91425" bIns="45700" anchor="ctr" anchorCtr="0">
            <a:noAutofit/>
          </a:bodyPr>
          <a:lstStyle/>
          <a:p>
            <a:pPr lvl="0" algn="ctr"/>
            <a:r>
              <a:rPr lang="en-US" sz="2800" b="1" dirty="0">
                <a:solidFill>
                  <a:schemeClr val="lt1"/>
                </a:solidFill>
                <a:latin typeface="Palatino Linotype"/>
                <a:ea typeface="Palatino Linotype"/>
                <a:cs typeface="Palatino Linotype"/>
                <a:sym typeface="Palatino Linotype"/>
              </a:rPr>
              <a:t>Set Theory</a:t>
            </a:r>
          </a:p>
        </p:txBody>
      </p:sp>
    </p:spTree>
    <p:extLst>
      <p:ext uri="{BB962C8B-B14F-4D97-AF65-F5344CB8AC3E}">
        <p14:creationId xmlns:p14="http://schemas.microsoft.com/office/powerpoint/2010/main" val="4135587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1"/>
          <p:cNvSpPr txBox="1">
            <a:spLocks noGrp="1"/>
          </p:cNvSpPr>
          <p:nvPr>
            <p:ph type="sldNum" idx="12"/>
          </p:nvPr>
        </p:nvSpPr>
        <p:spPr>
          <a:xfrm>
            <a:off x="11391038" y="6356351"/>
            <a:ext cx="749300" cy="365125"/>
          </a:xfrm>
          <a:prstGeom prst="rect">
            <a:avLst/>
          </a:prstGeom>
          <a:noFill/>
          <a:ln>
            <a:noFill/>
          </a:ln>
        </p:spPr>
        <p:txBody>
          <a:bodyPr spcFirstLastPara="1" wrap="square" lIns="27425" tIns="45700" rIns="45700" bIns="45700" anchor="ctr" anchorCtr="0">
            <a:noAutofit/>
          </a:bodyPr>
          <a:lstStyle/>
          <a:p>
            <a:pPr marL="0" lvl="0" indent="0" algn="l" rtl="0">
              <a:spcBef>
                <a:spcPts val="0"/>
              </a:spcBef>
              <a:spcAft>
                <a:spcPts val="0"/>
              </a:spcAft>
              <a:buNone/>
            </a:pPr>
            <a:fld id="{00000000-1234-1234-1234-123412341234}" type="slidenum">
              <a:rPr lang="en-US"/>
              <a:t>44</a:t>
            </a:fld>
            <a:endParaRPr/>
          </a:p>
        </p:txBody>
      </p:sp>
      <p:sp>
        <p:nvSpPr>
          <p:cNvPr id="323" name="Google Shape;323;p31"/>
          <p:cNvSpPr/>
          <p:nvPr/>
        </p:nvSpPr>
        <p:spPr>
          <a:xfrm>
            <a:off x="3724201" y="2967335"/>
            <a:ext cx="4743606"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1" cap="none">
                <a:solidFill>
                  <a:srgbClr val="C2CCF3"/>
                </a:solidFill>
                <a:latin typeface="Palatino Linotype"/>
                <a:ea typeface="Palatino Linotype"/>
                <a:cs typeface="Palatino Linotype"/>
                <a:sym typeface="Palatino Linotype"/>
              </a:rPr>
              <a:t>Any </a:t>
            </a:r>
            <a:r>
              <a:rPr lang="en-US" sz="5400" b="1" cap="none">
                <a:solidFill>
                  <a:srgbClr val="C2CCF3"/>
                </a:solidFill>
                <a:latin typeface="Times New Roman"/>
                <a:ea typeface="Times New Roman"/>
                <a:cs typeface="Times New Roman"/>
                <a:sym typeface="Times New Roman"/>
              </a:rPr>
              <a:t>Doubts</a:t>
            </a:r>
            <a:r>
              <a:rPr lang="en-US" sz="5400" b="1" cap="none">
                <a:solidFill>
                  <a:srgbClr val="C2CCF3"/>
                </a:solidFill>
                <a:latin typeface="Palatino Linotype"/>
                <a:ea typeface="Palatino Linotype"/>
                <a:cs typeface="Palatino Linotype"/>
                <a:sym typeface="Palatino Linotype"/>
              </a:rPr>
              <a:t>???</a:t>
            </a:r>
            <a:endParaRPr/>
          </a:p>
        </p:txBody>
      </p:sp>
    </p:spTree>
  </p:cSld>
  <p:clrMapOvr>
    <a:masterClrMapping/>
  </p:clrMapOvr>
</p:sld>
</file>

<file path=ppt/theme/theme1.xml><?xml version="1.0" encoding="utf-8"?>
<a:theme xmlns:a="http://schemas.openxmlformats.org/drawingml/2006/main" name="Executive">
  <a:themeElements>
    <a:clrScheme name="Executive">
      <a:dk1>
        <a:srgbClr val="000000"/>
      </a:dk1>
      <a:lt1>
        <a:srgbClr val="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3962</TotalTime>
  <Words>6022</Words>
  <Application>Microsoft Macintosh PowerPoint</Application>
  <PresentationFormat>Widescreen</PresentationFormat>
  <Paragraphs>532</Paragraphs>
  <Slides>44</Slides>
  <Notes>43</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44</vt:i4>
      </vt:variant>
    </vt:vector>
  </HeadingPairs>
  <TitlesOfParts>
    <vt:vector size="60" baseType="lpstr">
      <vt:lpstr>Roboto</vt:lpstr>
      <vt:lpstr>Lato</vt:lpstr>
      <vt:lpstr>Georgia</vt:lpstr>
      <vt:lpstr>Courier New</vt:lpstr>
      <vt:lpstr>Palatino Linotype</vt:lpstr>
      <vt:lpstr>Helvetica Neue</vt:lpstr>
      <vt:lpstr>Calibri</vt:lpstr>
      <vt:lpstr>Verdana</vt:lpstr>
      <vt:lpstr>Wingdings</vt:lpstr>
      <vt:lpstr>Open Sans</vt:lpstr>
      <vt:lpstr>Montserrat</vt:lpstr>
      <vt:lpstr>Cambria</vt:lpstr>
      <vt:lpstr>Arial</vt:lpstr>
      <vt:lpstr>Century Gothic</vt:lpstr>
      <vt:lpstr>Times New Roman</vt:lpstr>
      <vt:lpstr>Executive</vt:lpstr>
      <vt:lpstr>SET THEORY LEVEL-L1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PERCENTAGE L - 2A</dc:title>
  <dc:creator>cu</dc:creator>
  <cp:lastModifiedBy>Manjeet Hooda</cp:lastModifiedBy>
  <cp:revision>23</cp:revision>
  <dcterms:created xsi:type="dcterms:W3CDTF">2017-07-13T07:57:18Z</dcterms:created>
  <dcterms:modified xsi:type="dcterms:W3CDTF">2024-12-28T05:14:39Z</dcterms:modified>
</cp:coreProperties>
</file>